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Maven Pro" charset="1" panose="00000500000000000000"/>
      <p:regular r:id="rId20"/>
    </p:embeddedFont>
    <p:embeddedFont>
      <p:font typeface="Antonio Ultra-Bold" charset="1" panose="02000803000000000000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17097" y="6905253"/>
            <a:ext cx="4146846" cy="4146846"/>
          </a:xfrm>
          <a:custGeom>
            <a:avLst/>
            <a:gdLst/>
            <a:ahLst/>
            <a:cxnLst/>
            <a:rect r="r" b="b" t="t" l="l"/>
            <a:pathLst>
              <a:path h="4146846" w="4146846">
                <a:moveTo>
                  <a:pt x="0" y="0"/>
                </a:moveTo>
                <a:lnTo>
                  <a:pt x="4146846" y="0"/>
                </a:lnTo>
                <a:lnTo>
                  <a:pt x="4146846" y="4146846"/>
                </a:lnTo>
                <a:lnTo>
                  <a:pt x="0" y="414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777330" y="-997654"/>
            <a:ext cx="4203660" cy="4203660"/>
          </a:xfrm>
          <a:custGeom>
            <a:avLst/>
            <a:gdLst/>
            <a:ahLst/>
            <a:cxnLst/>
            <a:rect r="r" b="b" t="t" l="l"/>
            <a:pathLst>
              <a:path h="4203660" w="4203660">
                <a:moveTo>
                  <a:pt x="0" y="0"/>
                </a:moveTo>
                <a:lnTo>
                  <a:pt x="4203660" y="0"/>
                </a:lnTo>
                <a:lnTo>
                  <a:pt x="4203660" y="4203659"/>
                </a:lnTo>
                <a:lnTo>
                  <a:pt x="0" y="4203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36031" y="7128146"/>
            <a:ext cx="3468305" cy="3468305"/>
          </a:xfrm>
          <a:custGeom>
            <a:avLst/>
            <a:gdLst/>
            <a:ahLst/>
            <a:cxnLst/>
            <a:rect r="r" b="b" t="t" l="l"/>
            <a:pathLst>
              <a:path h="3468305" w="3468305">
                <a:moveTo>
                  <a:pt x="0" y="0"/>
                </a:moveTo>
                <a:lnTo>
                  <a:pt x="3468305" y="0"/>
                </a:lnTo>
                <a:lnTo>
                  <a:pt x="3468305" y="3468305"/>
                </a:lnTo>
                <a:lnTo>
                  <a:pt x="0" y="3468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6572282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641923" y="-607464"/>
            <a:ext cx="3624063" cy="3624063"/>
          </a:xfrm>
          <a:custGeom>
            <a:avLst/>
            <a:gdLst/>
            <a:ahLst/>
            <a:cxnLst/>
            <a:rect r="r" b="b" t="t" l="l"/>
            <a:pathLst>
              <a:path h="3624063" w="3624063">
                <a:moveTo>
                  <a:pt x="0" y="0"/>
                </a:moveTo>
                <a:lnTo>
                  <a:pt x="3624063" y="0"/>
                </a:lnTo>
                <a:lnTo>
                  <a:pt x="3624063" y="3624063"/>
                </a:lnTo>
                <a:lnTo>
                  <a:pt x="0" y="36240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700000">
            <a:off x="-326899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57501" y="-171861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1" y="0"/>
                </a:lnTo>
                <a:lnTo>
                  <a:pt x="2686201" y="2656897"/>
                </a:lnTo>
                <a:lnTo>
                  <a:pt x="0" y="2656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28479" y="9239037"/>
            <a:ext cx="2119043" cy="2095926"/>
          </a:xfrm>
          <a:custGeom>
            <a:avLst/>
            <a:gdLst/>
            <a:ahLst/>
            <a:cxnLst/>
            <a:rect r="r" b="b" t="t" l="l"/>
            <a:pathLst>
              <a:path h="2095926" w="2119043">
                <a:moveTo>
                  <a:pt x="0" y="0"/>
                </a:moveTo>
                <a:lnTo>
                  <a:pt x="2119042" y="0"/>
                </a:lnTo>
                <a:lnTo>
                  <a:pt x="2119042" y="2095926"/>
                </a:lnTo>
                <a:lnTo>
                  <a:pt x="0" y="209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4084" y="1314448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61055" y="8576182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9119815"/>
            <a:ext cx="1953440" cy="603791"/>
          </a:xfrm>
          <a:custGeom>
            <a:avLst/>
            <a:gdLst/>
            <a:ahLst/>
            <a:cxnLst/>
            <a:rect r="r" b="b" t="t" l="l"/>
            <a:pathLst>
              <a:path h="603791" w="1953440">
                <a:moveTo>
                  <a:pt x="0" y="0"/>
                </a:moveTo>
                <a:lnTo>
                  <a:pt x="1953440" y="0"/>
                </a:lnTo>
                <a:lnTo>
                  <a:pt x="1953440" y="603791"/>
                </a:lnTo>
                <a:lnTo>
                  <a:pt x="0" y="6037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5478964" y="563394"/>
            <a:ext cx="1780336" cy="550286"/>
          </a:xfrm>
          <a:custGeom>
            <a:avLst/>
            <a:gdLst/>
            <a:ahLst/>
            <a:cxnLst/>
            <a:rect r="r" b="b" t="t" l="l"/>
            <a:pathLst>
              <a:path h="550286" w="1780336">
                <a:moveTo>
                  <a:pt x="1780336" y="0"/>
                </a:moveTo>
                <a:lnTo>
                  <a:pt x="0" y="0"/>
                </a:lnTo>
                <a:lnTo>
                  <a:pt x="0" y="550286"/>
                </a:lnTo>
                <a:lnTo>
                  <a:pt x="1780336" y="550286"/>
                </a:lnTo>
                <a:lnTo>
                  <a:pt x="178033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00834" y="2014439"/>
            <a:ext cx="13086332" cy="172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7"/>
              </a:lnSpc>
              <a:spcBef>
                <a:spcPct val="0"/>
              </a:spcBef>
            </a:pPr>
            <a:r>
              <a:rPr lang="en-US" b="true" sz="95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1ST DEMONSTRATION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00986" y="862085"/>
            <a:ext cx="5886028" cy="45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3"/>
              </a:lnSpc>
              <a:spcBef>
                <a:spcPct val="0"/>
              </a:spcBef>
            </a:pPr>
            <a:r>
              <a:rPr lang="en-US" sz="2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NORTH SOUTH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4919" y="5289454"/>
            <a:ext cx="10864763" cy="50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sz="3736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Presented by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94919" y="6125929"/>
            <a:ext cx="10864763" cy="50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sz="3736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ABDULLAH AL RAIYAN - 2212712042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94919" y="6962403"/>
            <a:ext cx="10864763" cy="50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sz="3736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MD. SIFAT HAQUE ZIDAN - 2212768042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28318" y="7798877"/>
            <a:ext cx="10864763" cy="50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sz="3736">
                <a:solidFill>
                  <a:srgbClr val="252930"/>
                </a:solidFill>
                <a:latin typeface="Maven Pro"/>
                <a:ea typeface="Maven Pro"/>
                <a:cs typeface="Maven Pro"/>
                <a:sym typeface="Maven Pro"/>
              </a:rPr>
              <a:t>RAHIL MEHNAZ - 2121843042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90618" y="-4932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65578" y="3810097"/>
            <a:ext cx="13514283" cy="3988053"/>
            <a:chOff x="0" y="0"/>
            <a:chExt cx="2964076" cy="8746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64076" cy="874696"/>
            </a:xfrm>
            <a:custGeom>
              <a:avLst/>
              <a:gdLst/>
              <a:ahLst/>
              <a:cxnLst/>
              <a:rect r="r" b="b" t="t" l="l"/>
              <a:pathLst>
                <a:path h="874696" w="2964076">
                  <a:moveTo>
                    <a:pt x="0" y="0"/>
                  </a:moveTo>
                  <a:lnTo>
                    <a:pt x="2964076" y="0"/>
                  </a:lnTo>
                  <a:lnTo>
                    <a:pt x="2964076" y="874696"/>
                  </a:lnTo>
                  <a:lnTo>
                    <a:pt x="0" y="8746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964076" cy="922321"/>
            </a:xfrm>
            <a:prstGeom prst="rect">
              <a:avLst/>
            </a:prstGeom>
          </p:spPr>
          <p:txBody>
            <a:bodyPr anchor="ctr" rtlCol="false" tIns="70328" lIns="70328" bIns="70328" rIns="7032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8997" y="6843603"/>
            <a:ext cx="3172777" cy="2823772"/>
          </a:xfrm>
          <a:custGeom>
            <a:avLst/>
            <a:gdLst/>
            <a:ahLst/>
            <a:cxnLst/>
            <a:rect r="r" b="b" t="t" l="l"/>
            <a:pathLst>
              <a:path h="2823772" w="3172777">
                <a:moveTo>
                  <a:pt x="0" y="0"/>
                </a:moveTo>
                <a:lnTo>
                  <a:pt x="3172778" y="0"/>
                </a:lnTo>
                <a:lnTo>
                  <a:pt x="3172778" y="2823772"/>
                </a:lnTo>
                <a:lnTo>
                  <a:pt x="0" y="2823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86286" y="637446"/>
            <a:ext cx="3473014" cy="2961533"/>
          </a:xfrm>
          <a:custGeom>
            <a:avLst/>
            <a:gdLst/>
            <a:ahLst/>
            <a:cxnLst/>
            <a:rect r="r" b="b" t="t" l="l"/>
            <a:pathLst>
              <a:path h="2961533" w="3473014">
                <a:moveTo>
                  <a:pt x="0" y="0"/>
                </a:moveTo>
                <a:lnTo>
                  <a:pt x="3473014" y="0"/>
                </a:lnTo>
                <a:lnTo>
                  <a:pt x="3473014" y="2961533"/>
                </a:lnTo>
                <a:lnTo>
                  <a:pt x="0" y="29615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65578" y="4734970"/>
            <a:ext cx="13514283" cy="231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8"/>
              </a:lnSpc>
            </a:pPr>
            <a:r>
              <a:rPr lang="en-US" sz="5367" b="true">
                <a:solidFill>
                  <a:srgbClr val="000000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NLP-Based AI Model for Legal Assistance in Bangladesh: Enhancing Access to Law &amp;</a:t>
            </a:r>
          </a:p>
          <a:p>
            <a:pPr algn="ctr">
              <a:lnSpc>
                <a:spcPts val="6118"/>
              </a:lnSpc>
            </a:pPr>
            <a:r>
              <a:rPr lang="en-US" sz="5367" b="true">
                <a:solidFill>
                  <a:srgbClr val="000000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Citizen Rights</a:t>
            </a:r>
          </a:p>
        </p:txBody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856305" y="320851"/>
            <a:ext cx="10179226" cy="1828651"/>
            <a:chOff x="0" y="0"/>
            <a:chExt cx="13572302" cy="243820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3572302" cy="2438202"/>
              <a:chOff x="0" y="0"/>
              <a:chExt cx="3063273" cy="55030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063273" cy="550303"/>
              </a:xfrm>
              <a:custGeom>
                <a:avLst/>
                <a:gdLst/>
                <a:ahLst/>
                <a:cxnLst/>
                <a:rect r="r" b="b" t="t" l="l"/>
                <a:pathLst>
                  <a:path h="550303" w="3063273">
                    <a:moveTo>
                      <a:pt x="0" y="0"/>
                    </a:moveTo>
                    <a:lnTo>
                      <a:pt x="3063273" y="0"/>
                    </a:lnTo>
                    <a:lnTo>
                      <a:pt x="3063273" y="550303"/>
                    </a:lnTo>
                    <a:lnTo>
                      <a:pt x="0" y="55030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3063273" cy="607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13143" y="98148"/>
              <a:ext cx="12746017" cy="210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THIS PAPER PROVIDES VALUABLE INSIGHTS RELATED TO OUR TOPIC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54738" y="2909670"/>
            <a:ext cx="7446672" cy="6673603"/>
          </a:xfrm>
          <a:custGeom>
            <a:avLst/>
            <a:gdLst/>
            <a:ahLst/>
            <a:cxnLst/>
            <a:rect r="r" b="b" t="t" l="l"/>
            <a:pathLst>
              <a:path h="6673603" w="7446672">
                <a:moveTo>
                  <a:pt x="0" y="0"/>
                </a:moveTo>
                <a:lnTo>
                  <a:pt x="7446672" y="0"/>
                </a:lnTo>
                <a:lnTo>
                  <a:pt x="7446672" y="6673603"/>
                </a:lnTo>
                <a:lnTo>
                  <a:pt x="0" y="66736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070" t="-22007" r="-107018" b="-8537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60810" y="3144579"/>
            <a:ext cx="8276819" cy="199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30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TITLE:</a:t>
            </a:r>
          </a:p>
          <a:p>
            <a:pPr algn="ctr">
              <a:lnSpc>
                <a:spcPts val="3223"/>
              </a:lnSpc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Chatlaw: A Multi-Agent Collaborative Legal Assistant with Knowledge Graph Enhanced Mixture-of-Experts Large Language Model</a:t>
            </a:r>
          </a:p>
          <a:p>
            <a:pPr algn="ctr">
              <a:lnSpc>
                <a:spcPts val="3223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372734" y="6905846"/>
            <a:ext cx="8276819" cy="79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30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Paper Link:</a:t>
            </a:r>
          </a:p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https://arxiv.org/abs/2306.16092?utm_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43399" y="5411271"/>
            <a:ext cx="1996678" cy="79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30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Published on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arXiv.org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30802" y="5411271"/>
            <a:ext cx="2548086" cy="79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30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Publication Date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30 May 2024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856305" y="500718"/>
            <a:ext cx="10179226" cy="1828651"/>
            <a:chOff x="0" y="0"/>
            <a:chExt cx="13572302" cy="243820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3572302" cy="2438202"/>
              <a:chOff x="0" y="0"/>
              <a:chExt cx="3063273" cy="55030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063273" cy="550303"/>
              </a:xfrm>
              <a:custGeom>
                <a:avLst/>
                <a:gdLst/>
                <a:ahLst/>
                <a:cxnLst/>
                <a:rect r="r" b="b" t="t" l="l"/>
                <a:pathLst>
                  <a:path h="550303" w="3063273">
                    <a:moveTo>
                      <a:pt x="0" y="0"/>
                    </a:moveTo>
                    <a:lnTo>
                      <a:pt x="3063273" y="0"/>
                    </a:lnTo>
                    <a:lnTo>
                      <a:pt x="3063273" y="550303"/>
                    </a:lnTo>
                    <a:lnTo>
                      <a:pt x="0" y="55030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3063273" cy="607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13143" y="98148"/>
              <a:ext cx="12746017" cy="210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THIS PAPER PROVIDES VALUABLE INSIGHTS RELATED TO OUR TOPIC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582488" y="3162310"/>
            <a:ext cx="12830099" cy="4042987"/>
          </a:xfrm>
          <a:custGeom>
            <a:avLst/>
            <a:gdLst/>
            <a:ahLst/>
            <a:cxnLst/>
            <a:rect r="r" b="b" t="t" l="l"/>
            <a:pathLst>
              <a:path h="4042987" w="12830099">
                <a:moveTo>
                  <a:pt x="0" y="0"/>
                </a:moveTo>
                <a:lnTo>
                  <a:pt x="12830099" y="0"/>
                </a:lnTo>
                <a:lnTo>
                  <a:pt x="12830099" y="4042987"/>
                </a:lnTo>
                <a:lnTo>
                  <a:pt x="0" y="40429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469" r="-1378" b="-46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054387" y="943553"/>
            <a:ext cx="10179226" cy="1828651"/>
            <a:chOff x="0" y="0"/>
            <a:chExt cx="13572302" cy="243820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3572302" cy="2438202"/>
              <a:chOff x="0" y="0"/>
              <a:chExt cx="3063273" cy="55030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063273" cy="550303"/>
              </a:xfrm>
              <a:custGeom>
                <a:avLst/>
                <a:gdLst/>
                <a:ahLst/>
                <a:cxnLst/>
                <a:rect r="r" b="b" t="t" l="l"/>
                <a:pathLst>
                  <a:path h="550303" w="3063273">
                    <a:moveTo>
                      <a:pt x="0" y="0"/>
                    </a:moveTo>
                    <a:lnTo>
                      <a:pt x="3063273" y="0"/>
                    </a:lnTo>
                    <a:lnTo>
                      <a:pt x="3063273" y="550303"/>
                    </a:lnTo>
                    <a:lnTo>
                      <a:pt x="0" y="55030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3063273" cy="607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13143" y="98148"/>
              <a:ext cx="12746017" cy="210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THIS PAPER PROVIDES VALUABLE INSIGHTS RELATED TO OUR TOPIC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782220" y="3418164"/>
            <a:ext cx="11004655" cy="5048385"/>
          </a:xfrm>
          <a:custGeom>
            <a:avLst/>
            <a:gdLst/>
            <a:ahLst/>
            <a:cxnLst/>
            <a:rect r="r" b="b" t="t" l="l"/>
            <a:pathLst>
              <a:path h="5048385" w="11004655">
                <a:moveTo>
                  <a:pt x="0" y="0"/>
                </a:moveTo>
                <a:lnTo>
                  <a:pt x="11004655" y="0"/>
                </a:lnTo>
                <a:lnTo>
                  <a:pt x="11004655" y="5048385"/>
                </a:lnTo>
                <a:lnTo>
                  <a:pt x="0" y="50483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353590" y="2045324"/>
            <a:ext cx="14145703" cy="6196353"/>
            <a:chOff x="0" y="0"/>
            <a:chExt cx="3725617" cy="16319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25617" cy="1631961"/>
            </a:xfrm>
            <a:custGeom>
              <a:avLst/>
              <a:gdLst/>
              <a:ahLst/>
              <a:cxnLst/>
              <a:rect r="r" b="b" t="t" l="l"/>
              <a:pathLst>
                <a:path h="1631961" w="3725617">
                  <a:moveTo>
                    <a:pt x="0" y="0"/>
                  </a:moveTo>
                  <a:lnTo>
                    <a:pt x="3725617" y="0"/>
                  </a:lnTo>
                  <a:lnTo>
                    <a:pt x="3725617" y="1631961"/>
                  </a:lnTo>
                  <a:lnTo>
                    <a:pt x="0" y="1631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725617" cy="1689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AI legal assistants, including LLMs like GPT-4, often suffer from hallucinations, making them unreliable for legal consultations.</a:t>
              </a:r>
            </a:p>
            <a:p>
              <a:pPr algn="ctr">
                <a:lnSpc>
                  <a:spcPts val="3223"/>
                </a:lnSpc>
              </a:pPr>
            </a:p>
            <a:p>
              <a:pPr algn="ctr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</a:t>
              </a: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This ChatLaw mitigates the hallucinations issue by combining a multi-agent system, knowledge graphs, and an MoE model.</a:t>
              </a:r>
            </a:p>
            <a:p>
              <a:pPr algn="ctr">
                <a:lnSpc>
                  <a:spcPts val="3223"/>
                </a:lnSpc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30314" y="500718"/>
            <a:ext cx="5538711" cy="1030616"/>
            <a:chOff x="0" y="0"/>
            <a:chExt cx="7384948" cy="137415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384948" cy="1374154"/>
              <a:chOff x="0" y="0"/>
              <a:chExt cx="1666785" cy="31014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66785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1666785">
                    <a:moveTo>
                      <a:pt x="0" y="0"/>
                    </a:moveTo>
                    <a:lnTo>
                      <a:pt x="1666785" y="0"/>
                    </a:lnTo>
                    <a:lnTo>
                      <a:pt x="1666785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1666785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76320" y="98167"/>
              <a:ext cx="6868531" cy="1044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LITERARY REVIEW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74992" y="2826562"/>
            <a:ext cx="3138017" cy="76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38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APPROACH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582488" y="2045324"/>
            <a:ext cx="14145703" cy="5576323"/>
            <a:chOff x="0" y="0"/>
            <a:chExt cx="3725617" cy="14686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25617" cy="1468661"/>
            </a:xfrm>
            <a:custGeom>
              <a:avLst/>
              <a:gdLst/>
              <a:ahLst/>
              <a:cxnLst/>
              <a:rect r="r" b="b" t="t" l="l"/>
              <a:pathLst>
                <a:path h="1468661" w="3725617">
                  <a:moveTo>
                    <a:pt x="0" y="0"/>
                  </a:moveTo>
                  <a:lnTo>
                    <a:pt x="3725617" y="0"/>
                  </a:lnTo>
                  <a:lnTo>
                    <a:pt x="3725617" y="1468661"/>
                  </a:lnTo>
                  <a:lnTo>
                    <a:pt x="0" y="14686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3725617" cy="1544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783"/>
                </a:lnSpc>
              </a:pPr>
              <a:r>
                <a:rPr lang="en-US" sz="27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         </a:t>
              </a:r>
              <a:r>
                <a:rPr lang="en-US" sz="2702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This ChatLaw constructs a high-quality legal dataset by:</a:t>
              </a:r>
            </a:p>
            <a:p>
              <a:pPr algn="l">
                <a:lnSpc>
                  <a:spcPts val="3783"/>
                </a:lnSpc>
              </a:pP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Screening and categorizing legal cases.</a:t>
              </a: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Using knowledge graphs to structure legal knowledge.</a:t>
              </a: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Creating task-specific datasets for case classification, statute prediction, and legal document drafting.</a:t>
              </a: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RAG for preventing hallucinations.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60806" y="258489"/>
            <a:ext cx="5538711" cy="1030616"/>
            <a:chOff x="0" y="0"/>
            <a:chExt cx="7384948" cy="137415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384948" cy="1374154"/>
              <a:chOff x="0" y="0"/>
              <a:chExt cx="1666785" cy="31014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66785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1666785">
                    <a:moveTo>
                      <a:pt x="0" y="0"/>
                    </a:moveTo>
                    <a:lnTo>
                      <a:pt x="1666785" y="0"/>
                    </a:lnTo>
                    <a:lnTo>
                      <a:pt x="1666785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1666785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76320" y="98167"/>
              <a:ext cx="6868531" cy="1044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LITERARY REVIEW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967258" y="1724224"/>
            <a:ext cx="14145703" cy="6196353"/>
            <a:chOff x="0" y="0"/>
            <a:chExt cx="3725617" cy="16319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25617" cy="1631961"/>
            </a:xfrm>
            <a:custGeom>
              <a:avLst/>
              <a:gdLst/>
              <a:ahLst/>
              <a:cxnLst/>
              <a:rect r="r" b="b" t="t" l="l"/>
              <a:pathLst>
                <a:path h="1631961" w="3725617">
                  <a:moveTo>
                    <a:pt x="0" y="0"/>
                  </a:moveTo>
                  <a:lnTo>
                    <a:pt x="3725617" y="0"/>
                  </a:lnTo>
                  <a:lnTo>
                    <a:pt x="3725617" y="1631961"/>
                  </a:lnTo>
                  <a:lnTo>
                    <a:pt x="0" y="1631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725617" cy="171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3"/>
                </a:lnSpc>
              </a:pPr>
              <a:r>
                <a:rPr lang="en-US" sz="2802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ChatLaw mimics real law firm workflows using multiple AI agents:</a:t>
              </a:r>
            </a:p>
            <a:p>
              <a:pPr algn="ctr">
                <a:lnSpc>
                  <a:spcPts val="3923"/>
                </a:lnSpc>
              </a:pP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egal Assistant – Gathers user queries and structures them in a knowledge graph.</a:t>
              </a: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Legal Resea</a:t>
              </a: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rcher – Searches the internet and databases for relevant legal statutes and precedents.</a:t>
              </a: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Senior Lawyer AI – Analyzes cases and provides legal advice.</a:t>
              </a: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Legal Editor – Converts advice into formal legal documents.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60806" y="258489"/>
            <a:ext cx="5538711" cy="1030616"/>
            <a:chOff x="0" y="0"/>
            <a:chExt cx="7384948" cy="137415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384948" cy="1374154"/>
              <a:chOff x="0" y="0"/>
              <a:chExt cx="1666785" cy="31014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66785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1666785">
                    <a:moveTo>
                      <a:pt x="0" y="0"/>
                    </a:moveTo>
                    <a:lnTo>
                      <a:pt x="1666785" y="0"/>
                    </a:lnTo>
                    <a:lnTo>
                      <a:pt x="1666785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1666785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76320" y="98167"/>
              <a:ext cx="6868531" cy="1044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LITERARY REVIEW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071148" y="2045324"/>
            <a:ext cx="14145703" cy="6196353"/>
            <a:chOff x="0" y="0"/>
            <a:chExt cx="3725617" cy="16319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25617" cy="1631961"/>
            </a:xfrm>
            <a:custGeom>
              <a:avLst/>
              <a:gdLst/>
              <a:ahLst/>
              <a:cxnLst/>
              <a:rect r="r" b="b" t="t" l="l"/>
              <a:pathLst>
                <a:path h="1631961" w="3725617">
                  <a:moveTo>
                    <a:pt x="0" y="0"/>
                  </a:moveTo>
                  <a:lnTo>
                    <a:pt x="3725617" y="0"/>
                  </a:lnTo>
                  <a:lnTo>
                    <a:pt x="3725617" y="1631961"/>
                  </a:lnTo>
                  <a:lnTo>
                    <a:pt x="0" y="1631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725617" cy="1717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3"/>
                </a:lnSpc>
              </a:pPr>
              <a:r>
                <a:rPr lang="en-US" sz="3202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Real-World Consultation Testing</a:t>
              </a:r>
            </a:p>
            <a:p>
              <a:pPr algn="ctr">
                <a:lnSpc>
                  <a:spcPts val="4483"/>
                </a:lnSpc>
              </a:pP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ChatLaw was tested on real legal scenarios, such as divorce cases, and provided structured legal reports.</a:t>
              </a: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The AI’s legal advice included statute references, case precedents, and suggested legal actions.</a:t>
              </a:r>
            </a:p>
            <a:p>
              <a:pPr algn="l" marL="497074" indent="-248537" lvl="1">
                <a:lnSpc>
                  <a:spcPts val="3223"/>
                </a:lnSpc>
                <a:buFont typeface="Arial"/>
                <a:buChar char="•"/>
              </a:pP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Feedback from legal experts confirmed that ChatLaw delivers more reliable and structured legal responses than GPT-4.</a:t>
              </a:r>
            </a:p>
            <a:p>
              <a:pPr algn="ctr">
                <a:lnSpc>
                  <a:spcPts val="3223"/>
                </a:lnSpc>
              </a:pPr>
            </a:p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60806" y="258489"/>
            <a:ext cx="5538711" cy="1030616"/>
            <a:chOff x="0" y="0"/>
            <a:chExt cx="7384948" cy="137415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384948" cy="1374154"/>
              <a:chOff x="0" y="0"/>
              <a:chExt cx="1666785" cy="31014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66785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1666785">
                    <a:moveTo>
                      <a:pt x="0" y="0"/>
                    </a:moveTo>
                    <a:lnTo>
                      <a:pt x="1666785" y="0"/>
                    </a:lnTo>
                    <a:lnTo>
                      <a:pt x="1666785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1666785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76320" y="98167"/>
              <a:ext cx="6868531" cy="1044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LITERARY REVIEW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3856305" y="243074"/>
            <a:ext cx="10179226" cy="1828651"/>
            <a:chOff x="0" y="0"/>
            <a:chExt cx="13572302" cy="243820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572302" cy="2438202"/>
              <a:chOff x="0" y="0"/>
              <a:chExt cx="3063273" cy="55030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063273" cy="550303"/>
              </a:xfrm>
              <a:custGeom>
                <a:avLst/>
                <a:gdLst/>
                <a:ahLst/>
                <a:cxnLst/>
                <a:rect r="r" b="b" t="t" l="l"/>
                <a:pathLst>
                  <a:path h="550303" w="3063273">
                    <a:moveTo>
                      <a:pt x="0" y="0"/>
                    </a:moveTo>
                    <a:lnTo>
                      <a:pt x="3063273" y="0"/>
                    </a:lnTo>
                    <a:lnTo>
                      <a:pt x="3063273" y="550303"/>
                    </a:lnTo>
                    <a:lnTo>
                      <a:pt x="0" y="55030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063273" cy="607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13143" y="98148"/>
              <a:ext cx="12746017" cy="210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DEMONSTARTION OF A LEGAL CHATBOT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353590" y="2590564"/>
            <a:ext cx="6544193" cy="6030937"/>
          </a:xfrm>
          <a:custGeom>
            <a:avLst/>
            <a:gdLst/>
            <a:ahLst/>
            <a:cxnLst/>
            <a:rect r="r" b="b" t="t" l="l"/>
            <a:pathLst>
              <a:path h="6030937" w="6544193">
                <a:moveTo>
                  <a:pt x="0" y="0"/>
                </a:moveTo>
                <a:lnTo>
                  <a:pt x="6544193" y="0"/>
                </a:lnTo>
                <a:lnTo>
                  <a:pt x="6544193" y="6030936"/>
                </a:lnTo>
                <a:lnTo>
                  <a:pt x="0" y="6030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541" t="0" r="-9669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174674" y="2590564"/>
            <a:ext cx="6388021" cy="6030937"/>
          </a:xfrm>
          <a:custGeom>
            <a:avLst/>
            <a:gdLst/>
            <a:ahLst/>
            <a:cxnLst/>
            <a:rect r="r" b="b" t="t" l="l"/>
            <a:pathLst>
              <a:path h="6030937" w="6388021">
                <a:moveTo>
                  <a:pt x="0" y="0"/>
                </a:moveTo>
                <a:lnTo>
                  <a:pt x="6388021" y="0"/>
                </a:lnTo>
                <a:lnTo>
                  <a:pt x="6388021" y="6030936"/>
                </a:lnTo>
                <a:lnTo>
                  <a:pt x="0" y="603093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82" t="0" r="-682" b="-6694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61717" y="7663393"/>
            <a:ext cx="2826840" cy="2826840"/>
          </a:xfrm>
          <a:custGeom>
            <a:avLst/>
            <a:gdLst/>
            <a:ahLst/>
            <a:cxnLst/>
            <a:rect r="r" b="b" t="t" l="l"/>
            <a:pathLst>
              <a:path h="2826840" w="2826840">
                <a:moveTo>
                  <a:pt x="0" y="0"/>
                </a:moveTo>
                <a:lnTo>
                  <a:pt x="2826840" y="0"/>
                </a:lnTo>
                <a:lnTo>
                  <a:pt x="2826840" y="2826840"/>
                </a:lnTo>
                <a:lnTo>
                  <a:pt x="0" y="2826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046854" cy="3046854"/>
          </a:xfrm>
          <a:custGeom>
            <a:avLst/>
            <a:gdLst/>
            <a:ahLst/>
            <a:cxnLst/>
            <a:rect r="r" b="b" t="t" l="l"/>
            <a:pathLst>
              <a:path h="3046854" w="3046854">
                <a:moveTo>
                  <a:pt x="0" y="0"/>
                </a:moveTo>
                <a:lnTo>
                  <a:pt x="3046854" y="0"/>
                </a:lnTo>
                <a:lnTo>
                  <a:pt x="3046854" y="3046854"/>
                </a:lnTo>
                <a:lnTo>
                  <a:pt x="0" y="3046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523973" y="2953344"/>
            <a:ext cx="9292254" cy="5366418"/>
            <a:chOff x="0" y="0"/>
            <a:chExt cx="2447343" cy="14133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7342" cy="1413377"/>
            </a:xfrm>
            <a:custGeom>
              <a:avLst/>
              <a:gdLst/>
              <a:ahLst/>
              <a:cxnLst/>
              <a:rect r="r" b="b" t="t" l="l"/>
              <a:pathLst>
                <a:path h="1413377" w="2447342">
                  <a:moveTo>
                    <a:pt x="0" y="0"/>
                  </a:moveTo>
                  <a:lnTo>
                    <a:pt x="2447342" y="0"/>
                  </a:lnTo>
                  <a:lnTo>
                    <a:pt x="2447342" y="1413377"/>
                  </a:lnTo>
                  <a:lnTo>
                    <a:pt x="0" y="14133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447343" cy="1470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556803" y="3697741"/>
            <a:ext cx="7352945" cy="3649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0003" indent="-480002" lvl="1">
              <a:lnSpc>
                <a:spcPts val="7203"/>
              </a:lnSpc>
              <a:buFont typeface="Arial"/>
              <a:buChar char="•"/>
            </a:pPr>
            <a:r>
              <a:rPr lang="en-US" sz="44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LLM based on llama3</a:t>
            </a:r>
          </a:p>
          <a:p>
            <a:pPr algn="l" marL="960003" indent="-480002" lvl="1">
              <a:lnSpc>
                <a:spcPts val="7203"/>
              </a:lnSpc>
              <a:buFont typeface="Arial"/>
              <a:buChar char="•"/>
            </a:pPr>
            <a:r>
              <a:rPr lang="en-US" sz="44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runs on Google API</a:t>
            </a:r>
          </a:p>
          <a:p>
            <a:pPr algn="l" marL="960003" indent="-480002" lvl="1">
              <a:lnSpc>
                <a:spcPts val="7203"/>
              </a:lnSpc>
              <a:buFont typeface="Arial"/>
              <a:buChar char="•"/>
            </a:pPr>
            <a:r>
              <a:rPr lang="en-US" sz="44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responses on trained Bangladeshi data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054387" y="320851"/>
            <a:ext cx="10179226" cy="1828651"/>
            <a:chOff x="0" y="0"/>
            <a:chExt cx="13572302" cy="243820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3572302" cy="2438202"/>
              <a:chOff x="0" y="0"/>
              <a:chExt cx="3063273" cy="55030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063273" cy="550303"/>
              </a:xfrm>
              <a:custGeom>
                <a:avLst/>
                <a:gdLst/>
                <a:ahLst/>
                <a:cxnLst/>
                <a:rect r="r" b="b" t="t" l="l"/>
                <a:pathLst>
                  <a:path h="550303" w="3063273">
                    <a:moveTo>
                      <a:pt x="0" y="0"/>
                    </a:moveTo>
                    <a:lnTo>
                      <a:pt x="3063273" y="0"/>
                    </a:lnTo>
                    <a:lnTo>
                      <a:pt x="3063273" y="550303"/>
                    </a:lnTo>
                    <a:lnTo>
                      <a:pt x="0" y="55030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3063273" cy="607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13143" y="98148"/>
              <a:ext cx="12746017" cy="210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DEMONSTARTION OF A LEGAL CHATBOT CONT.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7684" y="5496684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12305" y="-193005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64260" y="6763260"/>
            <a:ext cx="3523740" cy="3523740"/>
          </a:xfrm>
          <a:custGeom>
            <a:avLst/>
            <a:gdLst/>
            <a:ahLst/>
            <a:cxnLst/>
            <a:rect r="r" b="b" t="t" l="l"/>
            <a:pathLst>
              <a:path h="3523740" w="3523740">
                <a:moveTo>
                  <a:pt x="0" y="0"/>
                </a:moveTo>
                <a:lnTo>
                  <a:pt x="3523740" y="0"/>
                </a:lnTo>
                <a:lnTo>
                  <a:pt x="3523740" y="3523740"/>
                </a:lnTo>
                <a:lnTo>
                  <a:pt x="0" y="3523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5796340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0"/>
            <a:ext cx="3671722" cy="3671722"/>
          </a:xfrm>
          <a:custGeom>
            <a:avLst/>
            <a:gdLst/>
            <a:ahLst/>
            <a:cxnLst/>
            <a:rect r="r" b="b" t="t" l="l"/>
            <a:pathLst>
              <a:path h="3671722" w="3671722">
                <a:moveTo>
                  <a:pt x="0" y="0"/>
                </a:moveTo>
                <a:lnTo>
                  <a:pt x="3671722" y="0"/>
                </a:lnTo>
                <a:lnTo>
                  <a:pt x="3671722" y="3671722"/>
                </a:lnTo>
                <a:lnTo>
                  <a:pt x="0" y="3671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700000">
            <a:off x="-249166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43100" y="-1328448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44900" y="895855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4599" y="198502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76646" y="806908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7929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248497" y="5633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71722" y="4141370"/>
            <a:ext cx="10944556" cy="172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7"/>
              </a:lnSpc>
              <a:spcBef>
                <a:spcPct val="0"/>
              </a:spcBef>
            </a:pPr>
            <a:r>
              <a:rPr lang="en-US" b="true" sz="95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DAGfSNhQEJA</dc:identifier>
  <dcterms:modified xsi:type="dcterms:W3CDTF">2011-08-01T06:04:30Z</dcterms:modified>
  <cp:revision>1</cp:revision>
  <dc:title>1st demonstration proposal</dc:title>
</cp:coreProperties>
</file>