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Poppins Bold" charset="1" panose="00000800000000000000"/>
      <p:regular r:id="rId15"/>
    </p:embeddedFont>
    <p:embeddedFont>
      <p:font typeface="Maven Pro" charset="1" panose="00000500000000000000"/>
      <p:regular r:id="rId16"/>
    </p:embeddedFont>
    <p:embeddedFont>
      <p:font typeface="Antonio Ultra-Bold" charset="1" panose="02000803000000000000"/>
      <p:regular r:id="rId17"/>
    </p:embeddedFont>
    <p:embeddedFont>
      <p:font typeface="Poppins" charset="1" panose="00000500000000000000"/>
      <p:regular r:id="rId18"/>
    </p:embeddedFont>
    <p:embeddedFont>
      <p:font typeface="TT Bluescreens Bold Italics" charset="1" panose="02000806040000090004"/>
      <p:regular r:id="rId19"/>
    </p:embeddedFont>
    <p:embeddedFont>
      <p:font typeface="Safira March" charset="1" panose="02000503000000020003"/>
      <p:regular r:id="rId20"/>
    </p:embeddedFont>
    <p:embeddedFont>
      <p:font typeface="Montserrat" charset="1" panose="00000500000000000000"/>
      <p:regular r:id="rId21"/>
    </p:embeddedFont>
    <p:embeddedFont>
      <p:font typeface="Heading Now 61-68 Bold Italics" charset="1" panose="000008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png" Type="http://schemas.openxmlformats.org/officeDocument/2006/relationships/image"/><Relationship Id="rId12" Target="../media/image23.png" Type="http://schemas.openxmlformats.org/officeDocument/2006/relationships/image"/><Relationship Id="rId13" Target="../media/image2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25.png" Type="http://schemas.openxmlformats.org/officeDocument/2006/relationships/image"/><Relationship Id="rId13" Target="../media/image26.png" Type="http://schemas.openxmlformats.org/officeDocument/2006/relationships/image"/><Relationship Id="rId14" Target="../media/image27.png" Type="http://schemas.openxmlformats.org/officeDocument/2006/relationships/image"/><Relationship Id="rId15" Target="../media/image28.png" Type="http://schemas.openxmlformats.org/officeDocument/2006/relationships/image"/><Relationship Id="rId16" Target="../media/image29.svg" Type="http://schemas.openxmlformats.org/officeDocument/2006/relationships/image"/><Relationship Id="rId17" Target="../media/image30.png" Type="http://schemas.openxmlformats.org/officeDocument/2006/relationships/image"/><Relationship Id="rId18" Target="../media/image3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3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33.png" Type="http://schemas.openxmlformats.org/officeDocument/2006/relationships/image"/><Relationship Id="rId13" Target="../media/image34.png" Type="http://schemas.openxmlformats.org/officeDocument/2006/relationships/image"/><Relationship Id="rId14" Target="../media/image35.svg" Type="http://schemas.openxmlformats.org/officeDocument/2006/relationships/image"/><Relationship Id="rId15" Target="../media/image36.png" Type="http://schemas.openxmlformats.org/officeDocument/2006/relationships/image"/><Relationship Id="rId16" Target="../media/image3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38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39.png" Type="http://schemas.openxmlformats.org/officeDocument/2006/relationships/image"/><Relationship Id="rId13" Target="../media/image40.png" Type="http://schemas.openxmlformats.org/officeDocument/2006/relationships/image"/><Relationship Id="rId14" Target="../media/image4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917097" y="6905253"/>
            <a:ext cx="4146846" cy="4146846"/>
          </a:xfrm>
          <a:custGeom>
            <a:avLst/>
            <a:gdLst/>
            <a:ahLst/>
            <a:cxnLst/>
            <a:rect r="r" b="b" t="t" l="l"/>
            <a:pathLst>
              <a:path h="4146846" w="4146846">
                <a:moveTo>
                  <a:pt x="0" y="0"/>
                </a:moveTo>
                <a:lnTo>
                  <a:pt x="4146846" y="0"/>
                </a:lnTo>
                <a:lnTo>
                  <a:pt x="4146846" y="4146846"/>
                </a:lnTo>
                <a:lnTo>
                  <a:pt x="0" y="4146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777330" y="-997654"/>
            <a:ext cx="4203660" cy="4203660"/>
          </a:xfrm>
          <a:custGeom>
            <a:avLst/>
            <a:gdLst/>
            <a:ahLst/>
            <a:cxnLst/>
            <a:rect r="r" b="b" t="t" l="l"/>
            <a:pathLst>
              <a:path h="4203660" w="4203660">
                <a:moveTo>
                  <a:pt x="0" y="0"/>
                </a:moveTo>
                <a:lnTo>
                  <a:pt x="4203660" y="0"/>
                </a:lnTo>
                <a:lnTo>
                  <a:pt x="4203660" y="4203659"/>
                </a:lnTo>
                <a:lnTo>
                  <a:pt x="0" y="42036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336031" y="7128146"/>
            <a:ext cx="3468305" cy="3468305"/>
          </a:xfrm>
          <a:custGeom>
            <a:avLst/>
            <a:gdLst/>
            <a:ahLst/>
            <a:cxnLst/>
            <a:rect r="r" b="b" t="t" l="l"/>
            <a:pathLst>
              <a:path h="3468305" w="3468305">
                <a:moveTo>
                  <a:pt x="0" y="0"/>
                </a:moveTo>
                <a:lnTo>
                  <a:pt x="3468305" y="0"/>
                </a:lnTo>
                <a:lnTo>
                  <a:pt x="3468305" y="3468305"/>
                </a:lnTo>
                <a:lnTo>
                  <a:pt x="0" y="34683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700000">
            <a:off x="16572282" y="2286577"/>
            <a:ext cx="4983320" cy="4983320"/>
          </a:xfrm>
          <a:custGeom>
            <a:avLst/>
            <a:gdLst/>
            <a:ahLst/>
            <a:cxnLst/>
            <a:rect r="r" b="b" t="t" l="l"/>
            <a:pathLst>
              <a:path h="4983320" w="4983320">
                <a:moveTo>
                  <a:pt x="0" y="0"/>
                </a:moveTo>
                <a:lnTo>
                  <a:pt x="4983321" y="0"/>
                </a:lnTo>
                <a:lnTo>
                  <a:pt x="4983321" y="4983320"/>
                </a:lnTo>
                <a:lnTo>
                  <a:pt x="0" y="4983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-641923" y="-607464"/>
            <a:ext cx="3624063" cy="3624063"/>
          </a:xfrm>
          <a:custGeom>
            <a:avLst/>
            <a:gdLst/>
            <a:ahLst/>
            <a:cxnLst/>
            <a:rect r="r" b="b" t="t" l="l"/>
            <a:pathLst>
              <a:path h="3624063" w="3624063">
                <a:moveTo>
                  <a:pt x="0" y="0"/>
                </a:moveTo>
                <a:lnTo>
                  <a:pt x="3624063" y="0"/>
                </a:lnTo>
                <a:lnTo>
                  <a:pt x="3624063" y="3624063"/>
                </a:lnTo>
                <a:lnTo>
                  <a:pt x="0" y="36240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-2700000">
            <a:off x="-3268990" y="2930197"/>
            <a:ext cx="4983320" cy="4983320"/>
          </a:xfrm>
          <a:custGeom>
            <a:avLst/>
            <a:gdLst/>
            <a:ahLst/>
            <a:cxnLst/>
            <a:rect r="r" b="b" t="t" l="l"/>
            <a:pathLst>
              <a:path h="4983320" w="4983320">
                <a:moveTo>
                  <a:pt x="4983320" y="4983320"/>
                </a:moveTo>
                <a:lnTo>
                  <a:pt x="0" y="4983320"/>
                </a:lnTo>
                <a:lnTo>
                  <a:pt x="0" y="0"/>
                </a:lnTo>
                <a:lnTo>
                  <a:pt x="4983320" y="0"/>
                </a:lnTo>
                <a:lnTo>
                  <a:pt x="4983320" y="49833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657501" y="-1718612"/>
            <a:ext cx="2686201" cy="2656897"/>
          </a:xfrm>
          <a:custGeom>
            <a:avLst/>
            <a:gdLst/>
            <a:ahLst/>
            <a:cxnLst/>
            <a:rect r="r" b="b" t="t" l="l"/>
            <a:pathLst>
              <a:path h="2656897" w="2686201">
                <a:moveTo>
                  <a:pt x="0" y="0"/>
                </a:moveTo>
                <a:lnTo>
                  <a:pt x="2686201" y="0"/>
                </a:lnTo>
                <a:lnTo>
                  <a:pt x="2686201" y="2656897"/>
                </a:lnTo>
                <a:lnTo>
                  <a:pt x="0" y="26568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228479" y="9239037"/>
            <a:ext cx="2119043" cy="2095926"/>
          </a:xfrm>
          <a:custGeom>
            <a:avLst/>
            <a:gdLst/>
            <a:ahLst/>
            <a:cxnLst/>
            <a:rect r="r" b="b" t="t" l="l"/>
            <a:pathLst>
              <a:path h="2095926" w="2119043">
                <a:moveTo>
                  <a:pt x="0" y="0"/>
                </a:moveTo>
                <a:lnTo>
                  <a:pt x="2119042" y="0"/>
                </a:lnTo>
                <a:lnTo>
                  <a:pt x="2119042" y="2095926"/>
                </a:lnTo>
                <a:lnTo>
                  <a:pt x="0" y="20959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24084" y="1314448"/>
            <a:ext cx="1911810" cy="232893"/>
          </a:xfrm>
          <a:custGeom>
            <a:avLst/>
            <a:gdLst/>
            <a:ahLst/>
            <a:cxnLst/>
            <a:rect r="r" b="b" t="t" l="l"/>
            <a:pathLst>
              <a:path h="232893" w="1911810">
                <a:moveTo>
                  <a:pt x="0" y="0"/>
                </a:moveTo>
                <a:lnTo>
                  <a:pt x="1911810" y="0"/>
                </a:lnTo>
                <a:lnTo>
                  <a:pt x="1911810" y="232893"/>
                </a:lnTo>
                <a:lnTo>
                  <a:pt x="0" y="23289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061055" y="8576182"/>
            <a:ext cx="1911810" cy="232893"/>
          </a:xfrm>
          <a:custGeom>
            <a:avLst/>
            <a:gdLst/>
            <a:ahLst/>
            <a:cxnLst/>
            <a:rect r="r" b="b" t="t" l="l"/>
            <a:pathLst>
              <a:path h="232893" w="1911810">
                <a:moveTo>
                  <a:pt x="0" y="0"/>
                </a:moveTo>
                <a:lnTo>
                  <a:pt x="1911810" y="0"/>
                </a:lnTo>
                <a:lnTo>
                  <a:pt x="1911810" y="232893"/>
                </a:lnTo>
                <a:lnTo>
                  <a:pt x="0" y="23289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9119815"/>
            <a:ext cx="1953440" cy="603791"/>
          </a:xfrm>
          <a:custGeom>
            <a:avLst/>
            <a:gdLst/>
            <a:ahLst/>
            <a:cxnLst/>
            <a:rect r="r" b="b" t="t" l="l"/>
            <a:pathLst>
              <a:path h="603791" w="1953440">
                <a:moveTo>
                  <a:pt x="0" y="0"/>
                </a:moveTo>
                <a:lnTo>
                  <a:pt x="1953440" y="0"/>
                </a:lnTo>
                <a:lnTo>
                  <a:pt x="1953440" y="603791"/>
                </a:lnTo>
                <a:lnTo>
                  <a:pt x="0" y="60379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5478964" y="563394"/>
            <a:ext cx="1780336" cy="550286"/>
          </a:xfrm>
          <a:custGeom>
            <a:avLst/>
            <a:gdLst/>
            <a:ahLst/>
            <a:cxnLst/>
            <a:rect r="r" b="b" t="t" l="l"/>
            <a:pathLst>
              <a:path h="550286" w="1780336">
                <a:moveTo>
                  <a:pt x="1780336" y="0"/>
                </a:moveTo>
                <a:lnTo>
                  <a:pt x="0" y="0"/>
                </a:lnTo>
                <a:lnTo>
                  <a:pt x="0" y="550286"/>
                </a:lnTo>
                <a:lnTo>
                  <a:pt x="1780336" y="550286"/>
                </a:lnTo>
                <a:lnTo>
                  <a:pt x="1780336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683024" y="284053"/>
            <a:ext cx="2921953" cy="2921953"/>
          </a:xfrm>
          <a:custGeom>
            <a:avLst/>
            <a:gdLst/>
            <a:ahLst/>
            <a:cxnLst/>
            <a:rect r="r" b="b" t="t" l="l"/>
            <a:pathLst>
              <a:path h="2921953" w="2921953">
                <a:moveTo>
                  <a:pt x="0" y="0"/>
                </a:moveTo>
                <a:lnTo>
                  <a:pt x="2921952" y="0"/>
                </a:lnTo>
                <a:lnTo>
                  <a:pt x="2921952" y="2921952"/>
                </a:lnTo>
                <a:lnTo>
                  <a:pt x="0" y="292195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600834" y="2948830"/>
            <a:ext cx="13086332" cy="3281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67"/>
              </a:lnSpc>
              <a:spcBef>
                <a:spcPct val="0"/>
              </a:spcBef>
            </a:pPr>
            <a:r>
              <a:rPr lang="en-US" b="true" sz="919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AGENTIC RAG DEMONSTRATION 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790911" y="6425273"/>
            <a:ext cx="8706178" cy="2406971"/>
            <a:chOff x="0" y="0"/>
            <a:chExt cx="11608237" cy="3209295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38100"/>
              <a:ext cx="11572662" cy="5344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25"/>
                </a:lnSpc>
              </a:pPr>
              <a:r>
                <a:rPr lang="en-US" sz="2825">
                  <a:solidFill>
                    <a:srgbClr val="252930"/>
                  </a:solidFill>
                  <a:latin typeface="Maven Pro"/>
                  <a:ea typeface="Maven Pro"/>
                  <a:cs typeface="Maven Pro"/>
                  <a:sym typeface="Maven Pro"/>
                </a:rPr>
                <a:t>Presented by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929075"/>
              <a:ext cx="11572662" cy="5344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25"/>
                </a:lnSpc>
              </a:pPr>
              <a:r>
                <a:rPr lang="en-US" sz="2825">
                  <a:solidFill>
                    <a:srgbClr val="252930"/>
                  </a:solidFill>
                  <a:latin typeface="Maven Pro"/>
                  <a:ea typeface="Maven Pro"/>
                  <a:cs typeface="Maven Pro"/>
                  <a:sym typeface="Maven Pro"/>
                </a:rPr>
                <a:t>ABDULLAH AL RAIYAN - 2212712042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1820051"/>
              <a:ext cx="11572662" cy="4982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4"/>
                </a:lnSpc>
              </a:pPr>
              <a:r>
                <a:rPr lang="en-US" sz="2644">
                  <a:solidFill>
                    <a:srgbClr val="252930"/>
                  </a:solidFill>
                  <a:latin typeface="Maven Pro"/>
                  <a:ea typeface="Maven Pro"/>
                  <a:cs typeface="Maven Pro"/>
                  <a:sym typeface="Maven Pro"/>
                </a:rPr>
                <a:t>MD. SIFAT HAQUE ZIDAN - 2212768042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35575" y="2674877"/>
              <a:ext cx="11572662" cy="5344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25"/>
                </a:lnSpc>
              </a:pPr>
              <a:r>
                <a:rPr lang="en-US" sz="2825">
                  <a:solidFill>
                    <a:srgbClr val="252930"/>
                  </a:solidFill>
                  <a:latin typeface="Maven Pro"/>
                  <a:ea typeface="Maven Pro"/>
                  <a:cs typeface="Maven Pro"/>
                  <a:sym typeface="Maven Pro"/>
                </a:rPr>
                <a:t>RAHIL MEHNAZ - 2121843042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590618" y="-493221"/>
            <a:ext cx="3456196" cy="3456196"/>
          </a:xfrm>
          <a:custGeom>
            <a:avLst/>
            <a:gdLst/>
            <a:ahLst/>
            <a:cxnLst/>
            <a:rect r="r" b="b" t="t" l="l"/>
            <a:pathLst>
              <a:path h="3456196" w="3456196">
                <a:moveTo>
                  <a:pt x="3456196" y="0"/>
                </a:moveTo>
                <a:lnTo>
                  <a:pt x="0" y="0"/>
                </a:lnTo>
                <a:lnTo>
                  <a:pt x="0" y="3456197"/>
                </a:lnTo>
                <a:lnTo>
                  <a:pt x="3456196" y="3456197"/>
                </a:lnTo>
                <a:lnTo>
                  <a:pt x="345619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86286" y="637446"/>
            <a:ext cx="3473014" cy="2961533"/>
          </a:xfrm>
          <a:custGeom>
            <a:avLst/>
            <a:gdLst/>
            <a:ahLst/>
            <a:cxnLst/>
            <a:rect r="r" b="b" t="t" l="l"/>
            <a:pathLst>
              <a:path h="2961533" w="3473014">
                <a:moveTo>
                  <a:pt x="0" y="0"/>
                </a:moveTo>
                <a:lnTo>
                  <a:pt x="3473014" y="0"/>
                </a:lnTo>
                <a:lnTo>
                  <a:pt x="3473014" y="2961533"/>
                </a:lnTo>
                <a:lnTo>
                  <a:pt x="0" y="29615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969980" y="502954"/>
            <a:ext cx="2459933" cy="3096025"/>
          </a:xfrm>
          <a:custGeom>
            <a:avLst/>
            <a:gdLst/>
            <a:ahLst/>
            <a:cxnLst/>
            <a:rect r="r" b="b" t="t" l="l"/>
            <a:pathLst>
              <a:path h="3096025" w="2459933">
                <a:moveTo>
                  <a:pt x="0" y="0"/>
                </a:moveTo>
                <a:lnTo>
                  <a:pt x="2459933" y="0"/>
                </a:lnTo>
                <a:lnTo>
                  <a:pt x="2459933" y="3096025"/>
                </a:lnTo>
                <a:lnTo>
                  <a:pt x="0" y="30960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386859" y="3810097"/>
            <a:ext cx="13514283" cy="3988053"/>
            <a:chOff x="0" y="0"/>
            <a:chExt cx="18019044" cy="531740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8019044" cy="5317403"/>
              <a:chOff x="0" y="0"/>
              <a:chExt cx="2964076" cy="87469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964076" cy="874696"/>
              </a:xfrm>
              <a:custGeom>
                <a:avLst/>
                <a:gdLst/>
                <a:ahLst/>
                <a:cxnLst/>
                <a:rect r="r" b="b" t="t" l="l"/>
                <a:pathLst>
                  <a:path h="874696" w="2964076">
                    <a:moveTo>
                      <a:pt x="0" y="0"/>
                    </a:moveTo>
                    <a:lnTo>
                      <a:pt x="2964076" y="0"/>
                    </a:lnTo>
                    <a:lnTo>
                      <a:pt x="2964076" y="874696"/>
                    </a:lnTo>
                    <a:lnTo>
                      <a:pt x="0" y="87469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2964076" cy="922321"/>
              </a:xfrm>
              <a:prstGeom prst="rect">
                <a:avLst/>
              </a:prstGeom>
            </p:spPr>
            <p:txBody>
              <a:bodyPr anchor="ctr" rtlCol="false" tIns="70328" lIns="70328" bIns="70328" rIns="70328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0" y="1220464"/>
              <a:ext cx="18019044" cy="31025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118"/>
                </a:lnSpc>
              </a:pPr>
              <a:r>
                <a:rPr lang="en-US" sz="5367" b="true">
                  <a:solidFill>
                    <a:srgbClr val="000000"/>
                  </a:solidFill>
                  <a:latin typeface="Antonio Ultra-Bold"/>
                  <a:ea typeface="Antonio Ultra-Bold"/>
                  <a:cs typeface="Antonio Ultra-Bold"/>
                  <a:sym typeface="Antonio Ultra-Bold"/>
                </a:rPr>
                <a:t>NLP-Based AI Model for Legal Assistance in Bangladesh: Enhancing Access to Law &amp;</a:t>
              </a:r>
            </a:p>
            <a:p>
              <a:pPr algn="ctr">
                <a:lnSpc>
                  <a:spcPts val="6118"/>
                </a:lnSpc>
              </a:pPr>
              <a:r>
                <a:rPr lang="en-US" sz="5367" b="true">
                  <a:solidFill>
                    <a:srgbClr val="000000"/>
                  </a:solidFill>
                  <a:latin typeface="Antonio Ultra-Bold"/>
                  <a:ea typeface="Antonio Ultra-Bold"/>
                  <a:cs typeface="Antonio Ultra-Bold"/>
                  <a:sym typeface="Antonio Ultra-Bold"/>
                </a:rPr>
                <a:t>Citizen Rights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4246171" y="6379281"/>
            <a:ext cx="3288094" cy="3288094"/>
          </a:xfrm>
          <a:custGeom>
            <a:avLst/>
            <a:gdLst/>
            <a:ahLst/>
            <a:cxnLst/>
            <a:rect r="r" b="b" t="t" l="l"/>
            <a:pathLst>
              <a:path h="3288094" w="3288094">
                <a:moveTo>
                  <a:pt x="0" y="0"/>
                </a:moveTo>
                <a:lnTo>
                  <a:pt x="3288094" y="0"/>
                </a:lnTo>
                <a:lnTo>
                  <a:pt x="3288094" y="3288094"/>
                </a:lnTo>
                <a:lnTo>
                  <a:pt x="0" y="32880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88997" y="6843603"/>
            <a:ext cx="3172777" cy="2823772"/>
          </a:xfrm>
          <a:custGeom>
            <a:avLst/>
            <a:gdLst/>
            <a:ahLst/>
            <a:cxnLst/>
            <a:rect r="r" b="b" t="t" l="l"/>
            <a:pathLst>
              <a:path h="2823772" w="3172777">
                <a:moveTo>
                  <a:pt x="0" y="0"/>
                </a:moveTo>
                <a:lnTo>
                  <a:pt x="3172778" y="0"/>
                </a:lnTo>
                <a:lnTo>
                  <a:pt x="3172778" y="2823772"/>
                </a:lnTo>
                <a:lnTo>
                  <a:pt x="0" y="282377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cover dir="d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22293" y="7720315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407596" y="-429062"/>
            <a:ext cx="2961054" cy="2961054"/>
          </a:xfrm>
          <a:custGeom>
            <a:avLst/>
            <a:gdLst/>
            <a:ahLst/>
            <a:cxnLst/>
            <a:rect r="r" b="b" t="t" l="l"/>
            <a:pathLst>
              <a:path h="2961054" w="2961054">
                <a:moveTo>
                  <a:pt x="0" y="0"/>
                </a:moveTo>
                <a:lnTo>
                  <a:pt x="2961054" y="0"/>
                </a:lnTo>
                <a:lnTo>
                  <a:pt x="2961054" y="2961053"/>
                </a:lnTo>
                <a:lnTo>
                  <a:pt x="0" y="29610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14936" y="8033038"/>
            <a:ext cx="2450523" cy="2450523"/>
          </a:xfrm>
          <a:custGeom>
            <a:avLst/>
            <a:gdLst/>
            <a:ahLst/>
            <a:cxnLst/>
            <a:rect r="r" b="b" t="t" l="l"/>
            <a:pathLst>
              <a:path h="2450523" w="2450523">
                <a:moveTo>
                  <a:pt x="0" y="0"/>
                </a:moveTo>
                <a:lnTo>
                  <a:pt x="2450523" y="0"/>
                </a:lnTo>
                <a:lnTo>
                  <a:pt x="2450523" y="2450524"/>
                </a:lnTo>
                <a:lnTo>
                  <a:pt x="0" y="24505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376120" cy="2376120"/>
          </a:xfrm>
          <a:custGeom>
            <a:avLst/>
            <a:gdLst/>
            <a:ahLst/>
            <a:cxnLst/>
            <a:rect r="r" b="b" t="t" l="l"/>
            <a:pathLst>
              <a:path h="2376120" w="2376120">
                <a:moveTo>
                  <a:pt x="0" y="0"/>
                </a:moveTo>
                <a:lnTo>
                  <a:pt x="2376120" y="0"/>
                </a:lnTo>
                <a:lnTo>
                  <a:pt x="2376120" y="2376120"/>
                </a:lnTo>
                <a:lnTo>
                  <a:pt x="0" y="23761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7140404" y="5432815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2342844" y="1846750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446351" y="529691"/>
            <a:ext cx="10082192" cy="1410973"/>
            <a:chOff x="0" y="0"/>
            <a:chExt cx="13442923" cy="1881297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3442923" cy="1881297"/>
              <a:chOff x="0" y="0"/>
              <a:chExt cx="3370336" cy="471668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3370336" cy="471668"/>
              </a:xfrm>
              <a:custGeom>
                <a:avLst/>
                <a:gdLst/>
                <a:ahLst/>
                <a:cxnLst/>
                <a:rect r="r" b="b" t="t" l="l"/>
                <a:pathLst>
                  <a:path h="471668" w="3370336">
                    <a:moveTo>
                      <a:pt x="0" y="0"/>
                    </a:moveTo>
                    <a:lnTo>
                      <a:pt x="3370336" y="0"/>
                    </a:lnTo>
                    <a:lnTo>
                      <a:pt x="3370336" y="471668"/>
                    </a:lnTo>
                    <a:lnTo>
                      <a:pt x="0" y="471668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47625"/>
                <a:ext cx="3370336" cy="5192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3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409204" y="113151"/>
              <a:ext cx="12624515" cy="15597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81"/>
                </a:lnSpc>
                <a:spcBef>
                  <a:spcPct val="0"/>
                </a:spcBef>
              </a:pPr>
              <a:r>
                <a:rPr lang="en-US" b="true" sz="3343">
                  <a:solidFill>
                    <a:srgbClr val="EB9AC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THIS DOCUMENTATION PROVIDES VALUABLE INSIGHTS TO MAKE AGENTIC RAG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0126011" y="2251002"/>
            <a:ext cx="6922012" cy="6440744"/>
          </a:xfrm>
          <a:custGeom>
            <a:avLst/>
            <a:gdLst/>
            <a:ahLst/>
            <a:cxnLst/>
            <a:rect r="r" b="b" t="t" l="l"/>
            <a:pathLst>
              <a:path h="6440744" w="6922012">
                <a:moveTo>
                  <a:pt x="0" y="0"/>
                </a:moveTo>
                <a:lnTo>
                  <a:pt x="6922012" y="0"/>
                </a:lnTo>
                <a:lnTo>
                  <a:pt x="6922012" y="6440744"/>
                </a:lnTo>
                <a:lnTo>
                  <a:pt x="0" y="644074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51514" t="-17872" r="-59974" b="-9978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58789" y="4106458"/>
            <a:ext cx="9356463" cy="4483305"/>
          </a:xfrm>
          <a:custGeom>
            <a:avLst/>
            <a:gdLst/>
            <a:ahLst/>
            <a:cxnLst/>
            <a:rect r="r" b="b" t="t" l="l"/>
            <a:pathLst>
              <a:path h="4483305" w="9356463">
                <a:moveTo>
                  <a:pt x="0" y="0"/>
                </a:moveTo>
                <a:lnTo>
                  <a:pt x="9356464" y="0"/>
                </a:lnTo>
                <a:lnTo>
                  <a:pt x="9356464" y="4483305"/>
                </a:lnTo>
                <a:lnTo>
                  <a:pt x="0" y="44833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8589" t="-19869" r="-35412" b="-49093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1731073">
            <a:off x="843887" y="1874311"/>
            <a:ext cx="3162263" cy="1995101"/>
          </a:xfrm>
          <a:custGeom>
            <a:avLst/>
            <a:gdLst/>
            <a:ahLst/>
            <a:cxnLst/>
            <a:rect r="r" b="b" t="t" l="l"/>
            <a:pathLst>
              <a:path h="1995101" w="3162263">
                <a:moveTo>
                  <a:pt x="0" y="0"/>
                </a:moveTo>
                <a:lnTo>
                  <a:pt x="3162263" y="0"/>
                </a:lnTo>
                <a:lnTo>
                  <a:pt x="3162263" y="1995101"/>
                </a:lnTo>
                <a:lnTo>
                  <a:pt x="0" y="199510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4865986" y="8875513"/>
            <a:ext cx="8556027" cy="1112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8"/>
              </a:lnSpc>
            </a:pPr>
            <a:r>
              <a:rPr lang="en-US" sz="2127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LangChain Documentation Link:</a:t>
            </a:r>
          </a:p>
          <a:p>
            <a:pPr algn="ctr">
              <a:lnSpc>
                <a:spcPts val="2978"/>
              </a:lnSpc>
              <a:spcBef>
                <a:spcPct val="0"/>
              </a:spcBef>
            </a:pPr>
            <a:r>
              <a:rPr lang="en-US" sz="21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https://langchain-ai.github.io/langgraph/tutorials/rag/langgraph_agentic_rag/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531093" y="3110939"/>
            <a:ext cx="6384160" cy="798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3"/>
              </a:lnSpc>
              <a:spcBef>
                <a:spcPct val="0"/>
              </a:spcBef>
            </a:pPr>
            <a:r>
              <a:rPr lang="en-US" b="true" sz="23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a framework designed to simplify the development of applications using (LLMs)</a:t>
            </a:r>
          </a:p>
        </p:txBody>
      </p:sp>
    </p:spTree>
  </p:cSld>
  <p:clrMapOvr>
    <a:masterClrMapping/>
  </p:clrMapOvr>
  <p:transition spd="fast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12587" y="7414263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18901" y="7920577"/>
            <a:ext cx="2450523" cy="2450523"/>
          </a:xfrm>
          <a:custGeom>
            <a:avLst/>
            <a:gdLst/>
            <a:ahLst/>
            <a:cxnLst/>
            <a:rect r="r" b="b" t="t" l="l"/>
            <a:pathLst>
              <a:path h="2450523" w="2450523">
                <a:moveTo>
                  <a:pt x="0" y="0"/>
                </a:moveTo>
                <a:lnTo>
                  <a:pt x="2450523" y="0"/>
                </a:lnTo>
                <a:lnTo>
                  <a:pt x="2450523" y="2450523"/>
                </a:lnTo>
                <a:lnTo>
                  <a:pt x="0" y="2450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651689" cy="2651689"/>
          </a:xfrm>
          <a:custGeom>
            <a:avLst/>
            <a:gdLst/>
            <a:ahLst/>
            <a:cxnLst/>
            <a:rect r="r" b="b" t="t" l="l"/>
            <a:pathLst>
              <a:path h="2651689" w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6750015" y="5360938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2342844" y="1718050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111903" y="1357692"/>
            <a:ext cx="7235691" cy="5630546"/>
          </a:xfrm>
          <a:custGeom>
            <a:avLst/>
            <a:gdLst/>
            <a:ahLst/>
            <a:cxnLst/>
            <a:rect r="r" b="b" t="t" l="l"/>
            <a:pathLst>
              <a:path h="5630546" w="7235691">
                <a:moveTo>
                  <a:pt x="0" y="0"/>
                </a:moveTo>
                <a:lnTo>
                  <a:pt x="7235691" y="0"/>
                </a:lnTo>
                <a:lnTo>
                  <a:pt x="7235691" y="5630547"/>
                </a:lnTo>
                <a:lnTo>
                  <a:pt x="0" y="563054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38447" y="3056405"/>
            <a:ext cx="8996446" cy="1539833"/>
          </a:xfrm>
          <a:custGeom>
            <a:avLst/>
            <a:gdLst/>
            <a:ahLst/>
            <a:cxnLst/>
            <a:rect r="r" b="b" t="t" l="l"/>
            <a:pathLst>
              <a:path h="1539833" w="8996446">
                <a:moveTo>
                  <a:pt x="0" y="0"/>
                </a:moveTo>
                <a:lnTo>
                  <a:pt x="8996446" y="0"/>
                </a:lnTo>
                <a:lnTo>
                  <a:pt x="8996446" y="1539833"/>
                </a:lnTo>
                <a:lnTo>
                  <a:pt x="0" y="153983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3010" r="0" b="-301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75181" y="4778573"/>
            <a:ext cx="9122977" cy="2209665"/>
          </a:xfrm>
          <a:custGeom>
            <a:avLst/>
            <a:gdLst/>
            <a:ahLst/>
            <a:cxnLst/>
            <a:rect r="r" b="b" t="t" l="l"/>
            <a:pathLst>
              <a:path h="2209665" w="9122977">
                <a:moveTo>
                  <a:pt x="0" y="0"/>
                </a:moveTo>
                <a:lnTo>
                  <a:pt x="9122977" y="0"/>
                </a:lnTo>
                <a:lnTo>
                  <a:pt x="9122977" y="2209666"/>
                </a:lnTo>
                <a:lnTo>
                  <a:pt x="0" y="220966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-12311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3323694">
            <a:off x="12903438" y="8004948"/>
            <a:ext cx="3155463" cy="891418"/>
          </a:xfrm>
          <a:custGeom>
            <a:avLst/>
            <a:gdLst/>
            <a:ahLst/>
            <a:cxnLst/>
            <a:rect r="r" b="b" t="t" l="l"/>
            <a:pathLst>
              <a:path h="891418" w="3155463">
                <a:moveTo>
                  <a:pt x="0" y="0"/>
                </a:moveTo>
                <a:lnTo>
                  <a:pt x="3155463" y="0"/>
                </a:lnTo>
                <a:lnTo>
                  <a:pt x="3155463" y="891418"/>
                </a:lnTo>
                <a:lnTo>
                  <a:pt x="0" y="89141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3311345">
            <a:off x="2704788" y="6400520"/>
            <a:ext cx="1017056" cy="3040114"/>
          </a:xfrm>
          <a:custGeom>
            <a:avLst/>
            <a:gdLst/>
            <a:ahLst/>
            <a:cxnLst/>
            <a:rect r="r" b="b" t="t" l="l"/>
            <a:pathLst>
              <a:path h="3040114" w="1017056">
                <a:moveTo>
                  <a:pt x="0" y="0"/>
                </a:moveTo>
                <a:lnTo>
                  <a:pt x="1017056" y="0"/>
                </a:lnTo>
                <a:lnTo>
                  <a:pt x="1017056" y="3040114"/>
                </a:lnTo>
                <a:lnTo>
                  <a:pt x="0" y="304011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948484" y="843618"/>
            <a:ext cx="5889920" cy="1991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b="true" sz="9200" i="true">
                <a:solidFill>
                  <a:srgbClr val="EF79C7"/>
                </a:solidFill>
                <a:latin typeface="TT Bluescreens Bold Italics"/>
                <a:ea typeface="TT Bluescreens Bold Italics"/>
                <a:cs typeface="TT Bluescreens Bold Italics"/>
                <a:sym typeface="TT Bluescreens Bold Italics"/>
              </a:rPr>
              <a:t>LangChain in our Agentic RAG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4113303" y="7414263"/>
            <a:ext cx="10061393" cy="2383904"/>
            <a:chOff x="0" y="0"/>
            <a:chExt cx="13415191" cy="3178539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1946794" y="-76200"/>
              <a:ext cx="9521604" cy="5836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542049" indent="-271024" lvl="1">
                <a:lnSpc>
                  <a:spcPts val="3841"/>
                </a:lnSpc>
                <a:buFont typeface="Arial"/>
                <a:buChar char="•"/>
              </a:pPr>
              <a:r>
                <a:rPr lang="en-US" sz="2510" spc="42">
                  <a:solidFill>
                    <a:srgbClr val="000000"/>
                  </a:solidFill>
                  <a:latin typeface="Safira March"/>
                  <a:ea typeface="Safira March"/>
                  <a:cs typeface="Safira March"/>
                  <a:sym typeface="Safira March"/>
                </a:rPr>
                <a:t>DOCUMENT LOADING: 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86220" y="965433"/>
              <a:ext cx="12675326" cy="10459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3"/>
                </a:lnSpc>
                <a:spcBef>
                  <a:spcPct val="0"/>
                </a:spcBef>
              </a:pPr>
              <a:r>
                <a:rPr lang="en-US" b="true" sz="2302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Direct</a:t>
              </a:r>
              <a:r>
                <a:rPr lang="en-US" b="true" sz="2302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oryLoader</a:t>
              </a:r>
              <a:r>
                <a:rPr lang="en-US" sz="230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: Used to load documents (PDFs) from a specified directory.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2132561"/>
              <a:ext cx="13415191" cy="10459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3"/>
                </a:lnSpc>
                <a:spcBef>
                  <a:spcPct val="0"/>
                </a:spcBef>
              </a:pPr>
              <a:r>
                <a:rPr lang="en-US" b="true" sz="2302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RecursiveCharacterTextSplitter</a:t>
              </a:r>
              <a:r>
                <a:rPr lang="en-US" sz="230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: Breaks down the loaded documents into smaller chunks for easier processing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12587" y="7414263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18901" y="7920577"/>
            <a:ext cx="2450523" cy="2450523"/>
          </a:xfrm>
          <a:custGeom>
            <a:avLst/>
            <a:gdLst/>
            <a:ahLst/>
            <a:cxnLst/>
            <a:rect r="r" b="b" t="t" l="l"/>
            <a:pathLst>
              <a:path h="2450523" w="2450523">
                <a:moveTo>
                  <a:pt x="0" y="0"/>
                </a:moveTo>
                <a:lnTo>
                  <a:pt x="2450523" y="0"/>
                </a:lnTo>
                <a:lnTo>
                  <a:pt x="2450523" y="2450523"/>
                </a:lnTo>
                <a:lnTo>
                  <a:pt x="0" y="2450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651689" cy="2651689"/>
          </a:xfrm>
          <a:custGeom>
            <a:avLst/>
            <a:gdLst/>
            <a:ahLst/>
            <a:cxnLst/>
            <a:rect r="r" b="b" t="t" l="l"/>
            <a:pathLst>
              <a:path h="2651689" w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6750015" y="5360938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1664239" y="1924527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4255065" y="1733775"/>
            <a:ext cx="9777870" cy="2439138"/>
            <a:chOff x="0" y="0"/>
            <a:chExt cx="13037160" cy="3252184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1053547" y="-76200"/>
              <a:ext cx="10930066" cy="5241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477280" indent="-238640" lvl="1">
                <a:lnSpc>
                  <a:spcPts val="3382"/>
                </a:lnSpc>
                <a:buFont typeface="Arial"/>
                <a:buChar char="•"/>
              </a:pPr>
              <a:r>
                <a:rPr lang="en-US" sz="2210" spc="37">
                  <a:solidFill>
                    <a:srgbClr val="000000"/>
                  </a:solidFill>
                  <a:latin typeface="Safira March"/>
                  <a:ea typeface="Safira March"/>
                  <a:cs typeface="Safira March"/>
                  <a:sym typeface="Safira March"/>
                </a:rPr>
                <a:t>VECTOR STORE &amp; EMBEDDINGS: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812833"/>
              <a:ext cx="13037160" cy="11029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63"/>
                </a:lnSpc>
                <a:spcBef>
                  <a:spcPct val="0"/>
                </a:spcBef>
              </a:pPr>
              <a:r>
                <a:rPr lang="en-US" b="true" sz="2402">
                  <a:solidFill>
                    <a:srgbClr val="C6443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FAISS</a:t>
              </a:r>
              <a:r>
                <a:rPr lang="en-US" b="true" sz="2402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: </a:t>
              </a:r>
              <a:r>
                <a:rPr lang="en-US" sz="240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vector database used to store and search for document embeddings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2149280"/>
              <a:ext cx="12250446" cy="11029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63"/>
                </a:lnSpc>
                <a:spcBef>
                  <a:spcPct val="0"/>
                </a:spcBef>
              </a:pPr>
              <a:r>
                <a:rPr lang="en-US" b="true" sz="2402">
                  <a:solidFill>
                    <a:srgbClr val="4DA359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HuggingFaceEmbeddings</a:t>
              </a:r>
              <a:r>
                <a:rPr lang="en-US" b="true" sz="2402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: </a:t>
              </a:r>
              <a:r>
                <a:rPr lang="en-US" sz="240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Uses a Hugging Face model to generate embeddings for each document chunk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3924564" y="4824841"/>
            <a:ext cx="10438872" cy="4635312"/>
          </a:xfrm>
          <a:custGeom>
            <a:avLst/>
            <a:gdLst/>
            <a:ahLst/>
            <a:cxnLst/>
            <a:rect r="r" b="b" t="t" l="l"/>
            <a:pathLst>
              <a:path h="4635312" w="10438872">
                <a:moveTo>
                  <a:pt x="0" y="0"/>
                </a:moveTo>
                <a:lnTo>
                  <a:pt x="10438872" y="0"/>
                </a:lnTo>
                <a:lnTo>
                  <a:pt x="10438872" y="4635311"/>
                </a:lnTo>
                <a:lnTo>
                  <a:pt x="0" y="463531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12587" y="7414263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18901" y="7920577"/>
            <a:ext cx="2450523" cy="2450523"/>
          </a:xfrm>
          <a:custGeom>
            <a:avLst/>
            <a:gdLst/>
            <a:ahLst/>
            <a:cxnLst/>
            <a:rect r="r" b="b" t="t" l="l"/>
            <a:pathLst>
              <a:path h="2450523" w="2450523">
                <a:moveTo>
                  <a:pt x="0" y="0"/>
                </a:moveTo>
                <a:lnTo>
                  <a:pt x="2450523" y="0"/>
                </a:lnTo>
                <a:lnTo>
                  <a:pt x="2450523" y="2450523"/>
                </a:lnTo>
                <a:lnTo>
                  <a:pt x="0" y="2450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651689" cy="2651689"/>
          </a:xfrm>
          <a:custGeom>
            <a:avLst/>
            <a:gdLst/>
            <a:ahLst/>
            <a:cxnLst/>
            <a:rect r="r" b="b" t="t" l="l"/>
            <a:pathLst>
              <a:path h="2651689" w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6750015" y="5360938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1664239" y="1924527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578677" y="899862"/>
            <a:ext cx="7130646" cy="2053481"/>
          </a:xfrm>
          <a:custGeom>
            <a:avLst/>
            <a:gdLst/>
            <a:ahLst/>
            <a:cxnLst/>
            <a:rect r="r" b="b" t="t" l="l"/>
            <a:pathLst>
              <a:path h="2053481" w="7130646">
                <a:moveTo>
                  <a:pt x="0" y="0"/>
                </a:moveTo>
                <a:lnTo>
                  <a:pt x="7130646" y="0"/>
                </a:lnTo>
                <a:lnTo>
                  <a:pt x="7130646" y="2053482"/>
                </a:lnTo>
                <a:lnTo>
                  <a:pt x="0" y="205348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3995" t="0" r="-4245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672935">
            <a:off x="11679932" y="1466936"/>
            <a:ext cx="2058781" cy="2344368"/>
          </a:xfrm>
          <a:custGeom>
            <a:avLst/>
            <a:gdLst/>
            <a:ahLst/>
            <a:cxnLst/>
            <a:rect r="r" b="b" t="t" l="l"/>
            <a:pathLst>
              <a:path h="2344368" w="2058781">
                <a:moveTo>
                  <a:pt x="0" y="0"/>
                </a:moveTo>
                <a:lnTo>
                  <a:pt x="2058781" y="0"/>
                </a:lnTo>
                <a:lnTo>
                  <a:pt x="2058781" y="2344368"/>
                </a:lnTo>
                <a:lnTo>
                  <a:pt x="0" y="234436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2870315">
            <a:off x="3742492" y="2131957"/>
            <a:ext cx="1538160" cy="2445052"/>
          </a:xfrm>
          <a:custGeom>
            <a:avLst/>
            <a:gdLst/>
            <a:ahLst/>
            <a:cxnLst/>
            <a:rect r="r" b="b" t="t" l="l"/>
            <a:pathLst>
              <a:path h="2445052" w="1538160">
                <a:moveTo>
                  <a:pt x="0" y="0"/>
                </a:moveTo>
                <a:lnTo>
                  <a:pt x="1538160" y="0"/>
                </a:lnTo>
                <a:lnTo>
                  <a:pt x="1538160" y="2445052"/>
                </a:lnTo>
                <a:lnTo>
                  <a:pt x="0" y="244505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065690" y="3160806"/>
            <a:ext cx="8221132" cy="798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3"/>
              </a:lnSpc>
              <a:spcBef>
                <a:spcPct val="0"/>
              </a:spcBef>
            </a:pPr>
            <a:r>
              <a:rPr lang="en-US" b="true" sz="2302">
                <a:solidFill>
                  <a:srgbClr val="EF79C7"/>
                </a:solidFill>
                <a:latin typeface="Poppins Bold"/>
                <a:ea typeface="Poppins Bold"/>
                <a:cs typeface="Poppins Bold"/>
                <a:sym typeface="Poppins Bold"/>
              </a:rPr>
              <a:t>a platform that provides access to pre-trained language models &amp; tools for working with them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53590" y="6027524"/>
            <a:ext cx="5977831" cy="1768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45505" indent="-272753" lvl="1">
              <a:lnSpc>
                <a:spcPts val="353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2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HuggingFaceEmbeddings</a:t>
            </a:r>
            <a:r>
              <a:rPr lang="en-US" sz="252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uses a model from Hugging Face to convert text chunks into embeddings.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461812" y="4230429"/>
            <a:ext cx="6751432" cy="1198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3"/>
              </a:lnSpc>
              <a:spcBef>
                <a:spcPct val="0"/>
              </a:spcBef>
            </a:pPr>
            <a:r>
              <a:rPr lang="en-US" b="true" sz="2302">
                <a:solidFill>
                  <a:srgbClr val="B65294"/>
                </a:solidFill>
                <a:latin typeface="Poppins Bold"/>
                <a:ea typeface="Poppins Bold"/>
                <a:cs typeface="Poppins Bold"/>
                <a:sym typeface="Poppins Bold"/>
              </a:rPr>
              <a:t>could be integrated into LangChain chains to perform tasks like question answering, text summarization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44000" y="6046574"/>
            <a:ext cx="7210714" cy="1998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97074" indent="-248537" lvl="1">
              <a:lnSpc>
                <a:spcPts val="322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AutoTokenizer </a:t>
            </a:r>
            <a:r>
              <a:rPr lang="en-US" sz="2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(from Hugging Face's transformers library)</a:t>
            </a:r>
            <a:r>
              <a:rPr lang="en-US" b="true" sz="23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is used within the</a:t>
            </a:r>
            <a:r>
              <a:rPr lang="en-US" b="true" sz="23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RecursiveCharacterTextSplitter </a:t>
            </a:r>
            <a:r>
              <a:rPr lang="en-US" sz="2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 efficient tokenization of text during the splitting process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98730" y="7800406"/>
            <a:ext cx="2689827" cy="2689827"/>
          </a:xfrm>
          <a:custGeom>
            <a:avLst/>
            <a:gdLst/>
            <a:ahLst/>
            <a:cxnLst/>
            <a:rect r="r" b="b" t="t" l="l"/>
            <a:pathLst>
              <a:path h="2689827" w="2689827">
                <a:moveTo>
                  <a:pt x="0" y="0"/>
                </a:moveTo>
                <a:lnTo>
                  <a:pt x="2689827" y="0"/>
                </a:lnTo>
                <a:lnTo>
                  <a:pt x="2689827" y="2689827"/>
                </a:lnTo>
                <a:lnTo>
                  <a:pt x="0" y="26898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2845015" cy="2845015"/>
          </a:xfrm>
          <a:custGeom>
            <a:avLst/>
            <a:gdLst/>
            <a:ahLst/>
            <a:cxnLst/>
            <a:rect r="r" b="b" t="t" l="l"/>
            <a:pathLst>
              <a:path h="2845015" w="2845015">
                <a:moveTo>
                  <a:pt x="0" y="0"/>
                </a:moveTo>
                <a:lnTo>
                  <a:pt x="2845015" y="0"/>
                </a:lnTo>
                <a:lnTo>
                  <a:pt x="2845015" y="2845015"/>
                </a:lnTo>
                <a:lnTo>
                  <a:pt x="0" y="28450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12961" y="8114637"/>
            <a:ext cx="2256463" cy="2256463"/>
          </a:xfrm>
          <a:custGeom>
            <a:avLst/>
            <a:gdLst/>
            <a:ahLst/>
            <a:cxnLst/>
            <a:rect r="r" b="b" t="t" l="l"/>
            <a:pathLst>
              <a:path h="2256463" w="2256463">
                <a:moveTo>
                  <a:pt x="0" y="0"/>
                </a:moveTo>
                <a:lnTo>
                  <a:pt x="2256463" y="0"/>
                </a:lnTo>
                <a:lnTo>
                  <a:pt x="2256463" y="2256463"/>
                </a:lnTo>
                <a:lnTo>
                  <a:pt x="0" y="22564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422791" cy="2422791"/>
          </a:xfrm>
          <a:custGeom>
            <a:avLst/>
            <a:gdLst/>
            <a:ahLst/>
            <a:cxnLst/>
            <a:rect r="r" b="b" t="t" l="l"/>
            <a:pathLst>
              <a:path h="2422791" w="2422791">
                <a:moveTo>
                  <a:pt x="0" y="0"/>
                </a:moveTo>
                <a:lnTo>
                  <a:pt x="2422791" y="0"/>
                </a:lnTo>
                <a:lnTo>
                  <a:pt x="2422791" y="2422790"/>
                </a:lnTo>
                <a:lnTo>
                  <a:pt x="0" y="24227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7133887" y="5519943"/>
            <a:ext cx="2757960" cy="2757960"/>
          </a:xfrm>
          <a:custGeom>
            <a:avLst/>
            <a:gdLst/>
            <a:ahLst/>
            <a:cxnLst/>
            <a:rect r="r" b="b" t="t" l="l"/>
            <a:pathLst>
              <a:path h="2757960" w="2757960">
                <a:moveTo>
                  <a:pt x="0" y="0"/>
                </a:moveTo>
                <a:lnTo>
                  <a:pt x="2757960" y="0"/>
                </a:lnTo>
                <a:lnTo>
                  <a:pt x="2757960" y="2757959"/>
                </a:lnTo>
                <a:lnTo>
                  <a:pt x="0" y="2757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2113973" y="1588203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9" y="0"/>
                </a:lnTo>
                <a:lnTo>
                  <a:pt x="3328479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4" id="14"/>
          <p:cNvSpPr/>
          <p:nvPr/>
        </p:nvSpPr>
        <p:spPr>
          <a:xfrm>
            <a:off x="7891929" y="9460152"/>
            <a:ext cx="2504141" cy="0"/>
          </a:xfrm>
          <a:prstGeom prst="line">
            <a:avLst/>
          </a:prstGeom>
          <a:ln cap="rnd" w="1143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4054387" y="641229"/>
            <a:ext cx="10179226" cy="1828651"/>
            <a:chOff x="0" y="0"/>
            <a:chExt cx="13572302" cy="2438202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3572302" cy="2438202"/>
              <a:chOff x="0" y="0"/>
              <a:chExt cx="3063273" cy="550303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3063273" cy="550303"/>
              </a:xfrm>
              <a:custGeom>
                <a:avLst/>
                <a:gdLst/>
                <a:ahLst/>
                <a:cxnLst/>
                <a:rect r="r" b="b" t="t" l="l"/>
                <a:pathLst>
                  <a:path h="550303" w="3063273">
                    <a:moveTo>
                      <a:pt x="0" y="0"/>
                    </a:moveTo>
                    <a:lnTo>
                      <a:pt x="3063273" y="0"/>
                    </a:lnTo>
                    <a:lnTo>
                      <a:pt x="3063273" y="550303"/>
                    </a:lnTo>
                    <a:lnTo>
                      <a:pt x="0" y="550303"/>
                    </a:lnTo>
                    <a:close/>
                  </a:path>
                </a:pathLst>
              </a:custGeom>
              <a:solidFill>
                <a:srgbClr val="B65294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57150"/>
                <a:ext cx="3063273" cy="6074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3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413143" y="98148"/>
              <a:ext cx="12746017" cy="2108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320"/>
                </a:lnSpc>
                <a:spcBef>
                  <a:spcPct val="0"/>
                </a:spcBef>
              </a:pPr>
              <a:r>
                <a:rPr lang="en-US" b="true" sz="451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 DEMONSTARTION OF OUR LEGAL AGENTIC RAG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2609338" y="2608256"/>
            <a:ext cx="13069324" cy="5995553"/>
          </a:xfrm>
          <a:custGeom>
            <a:avLst/>
            <a:gdLst/>
            <a:ahLst/>
            <a:cxnLst/>
            <a:rect r="r" b="b" t="t" l="l"/>
            <a:pathLst>
              <a:path h="5995553" w="13069324">
                <a:moveTo>
                  <a:pt x="0" y="0"/>
                </a:moveTo>
                <a:lnTo>
                  <a:pt x="13069324" y="0"/>
                </a:lnTo>
                <a:lnTo>
                  <a:pt x="13069324" y="5995552"/>
                </a:lnTo>
                <a:lnTo>
                  <a:pt x="0" y="599555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071148" y="7878596"/>
            <a:ext cx="14328274" cy="659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1"/>
              </a:lnSpc>
            </a:pPr>
            <a:r>
              <a:rPr lang="en-US" sz="232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COLAB LINK : HTTPS://COLAB.RESEARCH.GOOGLE.COM/DRIVE/13O_GH6Q4V8Z72FQX9YS_QFWOPSH1EWE6#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98730" y="7800406"/>
            <a:ext cx="2689827" cy="2689827"/>
          </a:xfrm>
          <a:custGeom>
            <a:avLst/>
            <a:gdLst/>
            <a:ahLst/>
            <a:cxnLst/>
            <a:rect r="r" b="b" t="t" l="l"/>
            <a:pathLst>
              <a:path h="2689827" w="2689827">
                <a:moveTo>
                  <a:pt x="0" y="0"/>
                </a:moveTo>
                <a:lnTo>
                  <a:pt x="2689827" y="0"/>
                </a:lnTo>
                <a:lnTo>
                  <a:pt x="2689827" y="2689827"/>
                </a:lnTo>
                <a:lnTo>
                  <a:pt x="0" y="26898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2845015" cy="2845015"/>
          </a:xfrm>
          <a:custGeom>
            <a:avLst/>
            <a:gdLst/>
            <a:ahLst/>
            <a:cxnLst/>
            <a:rect r="r" b="b" t="t" l="l"/>
            <a:pathLst>
              <a:path h="2845015" w="2845015">
                <a:moveTo>
                  <a:pt x="0" y="0"/>
                </a:moveTo>
                <a:lnTo>
                  <a:pt x="2845015" y="0"/>
                </a:lnTo>
                <a:lnTo>
                  <a:pt x="2845015" y="2845015"/>
                </a:lnTo>
                <a:lnTo>
                  <a:pt x="0" y="28450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12961" y="8114637"/>
            <a:ext cx="2256463" cy="2256463"/>
          </a:xfrm>
          <a:custGeom>
            <a:avLst/>
            <a:gdLst/>
            <a:ahLst/>
            <a:cxnLst/>
            <a:rect r="r" b="b" t="t" l="l"/>
            <a:pathLst>
              <a:path h="2256463" w="2256463">
                <a:moveTo>
                  <a:pt x="0" y="0"/>
                </a:moveTo>
                <a:lnTo>
                  <a:pt x="2256463" y="0"/>
                </a:lnTo>
                <a:lnTo>
                  <a:pt x="2256463" y="2256463"/>
                </a:lnTo>
                <a:lnTo>
                  <a:pt x="0" y="22564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422791" cy="2422791"/>
          </a:xfrm>
          <a:custGeom>
            <a:avLst/>
            <a:gdLst/>
            <a:ahLst/>
            <a:cxnLst/>
            <a:rect r="r" b="b" t="t" l="l"/>
            <a:pathLst>
              <a:path h="2422791" w="2422791">
                <a:moveTo>
                  <a:pt x="0" y="0"/>
                </a:moveTo>
                <a:lnTo>
                  <a:pt x="2422791" y="0"/>
                </a:lnTo>
                <a:lnTo>
                  <a:pt x="2422791" y="2422790"/>
                </a:lnTo>
                <a:lnTo>
                  <a:pt x="0" y="24227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7133887" y="5519943"/>
            <a:ext cx="2757960" cy="2757960"/>
          </a:xfrm>
          <a:custGeom>
            <a:avLst/>
            <a:gdLst/>
            <a:ahLst/>
            <a:cxnLst/>
            <a:rect r="r" b="b" t="t" l="l"/>
            <a:pathLst>
              <a:path h="2757960" w="2757960">
                <a:moveTo>
                  <a:pt x="0" y="0"/>
                </a:moveTo>
                <a:lnTo>
                  <a:pt x="2757960" y="0"/>
                </a:lnTo>
                <a:lnTo>
                  <a:pt x="2757960" y="2757959"/>
                </a:lnTo>
                <a:lnTo>
                  <a:pt x="0" y="2757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2113973" y="1588203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9" y="0"/>
                </a:lnTo>
                <a:lnTo>
                  <a:pt x="3328479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4" id="14"/>
          <p:cNvSpPr/>
          <p:nvPr/>
        </p:nvSpPr>
        <p:spPr>
          <a:xfrm>
            <a:off x="7891929" y="9460152"/>
            <a:ext cx="2504141" cy="0"/>
          </a:xfrm>
          <a:prstGeom prst="line">
            <a:avLst/>
          </a:prstGeom>
          <a:ln cap="rnd" w="1143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4054387" y="641229"/>
            <a:ext cx="10179226" cy="1828651"/>
            <a:chOff x="0" y="0"/>
            <a:chExt cx="13572302" cy="2438202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3572302" cy="2438202"/>
              <a:chOff x="0" y="0"/>
              <a:chExt cx="3063273" cy="550303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3063273" cy="550303"/>
              </a:xfrm>
              <a:custGeom>
                <a:avLst/>
                <a:gdLst/>
                <a:ahLst/>
                <a:cxnLst/>
                <a:rect r="r" b="b" t="t" l="l"/>
                <a:pathLst>
                  <a:path h="550303" w="3063273">
                    <a:moveTo>
                      <a:pt x="0" y="0"/>
                    </a:moveTo>
                    <a:lnTo>
                      <a:pt x="3063273" y="0"/>
                    </a:lnTo>
                    <a:lnTo>
                      <a:pt x="3063273" y="550303"/>
                    </a:lnTo>
                    <a:lnTo>
                      <a:pt x="0" y="550303"/>
                    </a:lnTo>
                    <a:close/>
                  </a:path>
                </a:pathLst>
              </a:custGeom>
              <a:solidFill>
                <a:srgbClr val="B65294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57150"/>
                <a:ext cx="3063273" cy="6074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3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413143" y="98148"/>
              <a:ext cx="12746017" cy="2108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320"/>
                </a:lnSpc>
                <a:spcBef>
                  <a:spcPct val="0"/>
                </a:spcBef>
              </a:pPr>
              <a:r>
                <a:rPr lang="en-US" b="true" sz="4514">
                  <a:solidFill>
                    <a:srgbClr val="EBAAD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 DEMONSTARTION OF A LEGAL AGENTIC RAG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2168200" y="4243692"/>
            <a:ext cx="13951601" cy="2747392"/>
          </a:xfrm>
          <a:custGeom>
            <a:avLst/>
            <a:gdLst/>
            <a:ahLst/>
            <a:cxnLst/>
            <a:rect r="r" b="b" t="t" l="l"/>
            <a:pathLst>
              <a:path h="2747392" w="13951601">
                <a:moveTo>
                  <a:pt x="0" y="0"/>
                </a:moveTo>
                <a:lnTo>
                  <a:pt x="13951600" y="0"/>
                </a:lnTo>
                <a:lnTo>
                  <a:pt x="13951600" y="2747392"/>
                </a:lnTo>
                <a:lnTo>
                  <a:pt x="0" y="274739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3682680" y="4533576"/>
            <a:ext cx="2781152" cy="3721736"/>
          </a:xfrm>
          <a:custGeom>
            <a:avLst/>
            <a:gdLst/>
            <a:ahLst/>
            <a:cxnLst/>
            <a:rect r="r" b="b" t="t" l="l"/>
            <a:pathLst>
              <a:path h="3721736" w="2781152">
                <a:moveTo>
                  <a:pt x="0" y="0"/>
                </a:moveTo>
                <a:lnTo>
                  <a:pt x="2781152" y="0"/>
                </a:lnTo>
                <a:lnTo>
                  <a:pt x="2781152" y="3721736"/>
                </a:lnTo>
                <a:lnTo>
                  <a:pt x="0" y="372173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true" flipV="true" rot="5400000">
            <a:off x="6002393" y="2808353"/>
            <a:ext cx="1616232" cy="2162840"/>
          </a:xfrm>
          <a:custGeom>
            <a:avLst/>
            <a:gdLst/>
            <a:ahLst/>
            <a:cxnLst/>
            <a:rect r="r" b="b" t="t" l="l"/>
            <a:pathLst>
              <a:path h="2162840" w="1616232">
                <a:moveTo>
                  <a:pt x="1616232" y="2162840"/>
                </a:moveTo>
                <a:lnTo>
                  <a:pt x="0" y="2162840"/>
                </a:lnTo>
                <a:lnTo>
                  <a:pt x="0" y="0"/>
                </a:lnTo>
                <a:lnTo>
                  <a:pt x="1616232" y="0"/>
                </a:lnTo>
                <a:lnTo>
                  <a:pt x="1616232" y="216284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8110294" y="3024507"/>
            <a:ext cx="4571554" cy="398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3"/>
              </a:lnSpc>
              <a:spcBef>
                <a:spcPct val="0"/>
              </a:spcBef>
            </a:pPr>
            <a:r>
              <a:rPr lang="en-US" sz="2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directly uses the </a:t>
            </a:r>
            <a:r>
              <a:rPr lang="en-US" b="true" sz="23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retriever_tool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476102" y="8198162"/>
            <a:ext cx="8987730" cy="398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3"/>
              </a:lnSpc>
              <a:spcBef>
                <a:spcPct val="0"/>
              </a:spcBef>
            </a:pPr>
            <a:r>
              <a:rPr lang="en-US" b="true" sz="23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ReactJsonAgent </a:t>
            </a:r>
            <a:r>
              <a:rPr lang="en-US" sz="2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 iteratively interact with the </a:t>
            </a:r>
            <a:r>
              <a:rPr lang="en-US" b="true" sz="23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retriever_tool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97684" y="5496684"/>
            <a:ext cx="4983320" cy="4983320"/>
          </a:xfrm>
          <a:custGeom>
            <a:avLst/>
            <a:gdLst/>
            <a:ahLst/>
            <a:cxnLst/>
            <a:rect r="r" b="b" t="t" l="l"/>
            <a:pathLst>
              <a:path h="4983320" w="4983320">
                <a:moveTo>
                  <a:pt x="0" y="0"/>
                </a:moveTo>
                <a:lnTo>
                  <a:pt x="4983321" y="0"/>
                </a:lnTo>
                <a:lnTo>
                  <a:pt x="4983321" y="4983321"/>
                </a:lnTo>
                <a:lnTo>
                  <a:pt x="0" y="49833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212305" y="-193005"/>
            <a:ext cx="4983320" cy="4983320"/>
          </a:xfrm>
          <a:custGeom>
            <a:avLst/>
            <a:gdLst/>
            <a:ahLst/>
            <a:cxnLst/>
            <a:rect r="r" b="b" t="t" l="l"/>
            <a:pathLst>
              <a:path h="4983320" w="4983320">
                <a:moveTo>
                  <a:pt x="0" y="0"/>
                </a:moveTo>
                <a:lnTo>
                  <a:pt x="4983320" y="0"/>
                </a:lnTo>
                <a:lnTo>
                  <a:pt x="4983320" y="4983321"/>
                </a:lnTo>
                <a:lnTo>
                  <a:pt x="0" y="49833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64260" y="6763260"/>
            <a:ext cx="3523740" cy="3523740"/>
          </a:xfrm>
          <a:custGeom>
            <a:avLst/>
            <a:gdLst/>
            <a:ahLst/>
            <a:cxnLst/>
            <a:rect r="r" b="b" t="t" l="l"/>
            <a:pathLst>
              <a:path h="3523740" w="3523740">
                <a:moveTo>
                  <a:pt x="0" y="0"/>
                </a:moveTo>
                <a:lnTo>
                  <a:pt x="3523740" y="0"/>
                </a:lnTo>
                <a:lnTo>
                  <a:pt x="3523740" y="3523740"/>
                </a:lnTo>
                <a:lnTo>
                  <a:pt x="0" y="35237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700000">
            <a:off x="15796340" y="2286577"/>
            <a:ext cx="4983320" cy="4983320"/>
          </a:xfrm>
          <a:custGeom>
            <a:avLst/>
            <a:gdLst/>
            <a:ahLst/>
            <a:cxnLst/>
            <a:rect r="r" b="b" t="t" l="l"/>
            <a:pathLst>
              <a:path h="4983320" w="4983320">
                <a:moveTo>
                  <a:pt x="0" y="0"/>
                </a:moveTo>
                <a:lnTo>
                  <a:pt x="4983320" y="0"/>
                </a:lnTo>
                <a:lnTo>
                  <a:pt x="4983320" y="4983320"/>
                </a:lnTo>
                <a:lnTo>
                  <a:pt x="0" y="4983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0" y="0"/>
            <a:ext cx="3671722" cy="3671722"/>
          </a:xfrm>
          <a:custGeom>
            <a:avLst/>
            <a:gdLst/>
            <a:ahLst/>
            <a:cxnLst/>
            <a:rect r="r" b="b" t="t" l="l"/>
            <a:pathLst>
              <a:path h="3671722" w="3671722">
                <a:moveTo>
                  <a:pt x="0" y="0"/>
                </a:moveTo>
                <a:lnTo>
                  <a:pt x="3671722" y="0"/>
                </a:lnTo>
                <a:lnTo>
                  <a:pt x="3671722" y="3671722"/>
                </a:lnTo>
                <a:lnTo>
                  <a:pt x="0" y="36717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-2700000">
            <a:off x="-2491660" y="2930197"/>
            <a:ext cx="4983320" cy="4983320"/>
          </a:xfrm>
          <a:custGeom>
            <a:avLst/>
            <a:gdLst/>
            <a:ahLst/>
            <a:cxnLst/>
            <a:rect r="r" b="b" t="t" l="l"/>
            <a:pathLst>
              <a:path h="4983320" w="4983320">
                <a:moveTo>
                  <a:pt x="4983320" y="4983320"/>
                </a:moveTo>
                <a:lnTo>
                  <a:pt x="0" y="4983320"/>
                </a:lnTo>
                <a:lnTo>
                  <a:pt x="0" y="0"/>
                </a:lnTo>
                <a:lnTo>
                  <a:pt x="4983320" y="0"/>
                </a:lnTo>
                <a:lnTo>
                  <a:pt x="4983320" y="49833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343100" y="-1328448"/>
            <a:ext cx="2686201" cy="2656897"/>
          </a:xfrm>
          <a:custGeom>
            <a:avLst/>
            <a:gdLst/>
            <a:ahLst/>
            <a:cxnLst/>
            <a:rect r="r" b="b" t="t" l="l"/>
            <a:pathLst>
              <a:path h="2656897" w="2686201">
                <a:moveTo>
                  <a:pt x="0" y="0"/>
                </a:moveTo>
                <a:lnTo>
                  <a:pt x="2686200" y="0"/>
                </a:lnTo>
                <a:lnTo>
                  <a:pt x="2686200" y="2656896"/>
                </a:lnTo>
                <a:lnTo>
                  <a:pt x="0" y="26568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944900" y="8958552"/>
            <a:ext cx="2686201" cy="2656897"/>
          </a:xfrm>
          <a:custGeom>
            <a:avLst/>
            <a:gdLst/>
            <a:ahLst/>
            <a:cxnLst/>
            <a:rect r="r" b="b" t="t" l="l"/>
            <a:pathLst>
              <a:path h="2656897" w="2686201">
                <a:moveTo>
                  <a:pt x="0" y="0"/>
                </a:moveTo>
                <a:lnTo>
                  <a:pt x="2686200" y="0"/>
                </a:lnTo>
                <a:lnTo>
                  <a:pt x="2686200" y="2656896"/>
                </a:lnTo>
                <a:lnTo>
                  <a:pt x="0" y="26568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34599" y="1985023"/>
            <a:ext cx="1911810" cy="232893"/>
          </a:xfrm>
          <a:custGeom>
            <a:avLst/>
            <a:gdLst/>
            <a:ahLst/>
            <a:cxnLst/>
            <a:rect r="r" b="b" t="t" l="l"/>
            <a:pathLst>
              <a:path h="232893" w="1911810">
                <a:moveTo>
                  <a:pt x="0" y="0"/>
                </a:moveTo>
                <a:lnTo>
                  <a:pt x="1911811" y="0"/>
                </a:lnTo>
                <a:lnTo>
                  <a:pt x="1911811" y="232894"/>
                </a:lnTo>
                <a:lnTo>
                  <a:pt x="0" y="2328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676646" y="8069083"/>
            <a:ext cx="1911810" cy="232893"/>
          </a:xfrm>
          <a:custGeom>
            <a:avLst/>
            <a:gdLst/>
            <a:ahLst/>
            <a:cxnLst/>
            <a:rect r="r" b="b" t="t" l="l"/>
            <a:pathLst>
              <a:path h="232893" w="1911810">
                <a:moveTo>
                  <a:pt x="0" y="0"/>
                </a:moveTo>
                <a:lnTo>
                  <a:pt x="1911811" y="0"/>
                </a:lnTo>
                <a:lnTo>
                  <a:pt x="1911811" y="232894"/>
                </a:lnTo>
                <a:lnTo>
                  <a:pt x="0" y="2328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8792994"/>
            <a:ext cx="3010803" cy="930612"/>
          </a:xfrm>
          <a:custGeom>
            <a:avLst/>
            <a:gdLst/>
            <a:ahLst/>
            <a:cxnLst/>
            <a:rect r="r" b="b" t="t" l="l"/>
            <a:pathLst>
              <a:path h="930612" w="3010803">
                <a:moveTo>
                  <a:pt x="0" y="0"/>
                </a:moveTo>
                <a:lnTo>
                  <a:pt x="3010803" y="0"/>
                </a:lnTo>
                <a:lnTo>
                  <a:pt x="3010803" y="930612"/>
                </a:lnTo>
                <a:lnTo>
                  <a:pt x="0" y="93061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4248497" y="563394"/>
            <a:ext cx="3010803" cy="930612"/>
          </a:xfrm>
          <a:custGeom>
            <a:avLst/>
            <a:gdLst/>
            <a:ahLst/>
            <a:cxnLst/>
            <a:rect r="r" b="b" t="t" l="l"/>
            <a:pathLst>
              <a:path h="930612" w="3010803">
                <a:moveTo>
                  <a:pt x="3010803" y="0"/>
                </a:moveTo>
                <a:lnTo>
                  <a:pt x="0" y="0"/>
                </a:lnTo>
                <a:lnTo>
                  <a:pt x="0" y="930612"/>
                </a:lnTo>
                <a:lnTo>
                  <a:pt x="3010803" y="930612"/>
                </a:lnTo>
                <a:lnTo>
                  <a:pt x="301080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373985" y="3514819"/>
            <a:ext cx="15540031" cy="3812596"/>
            <a:chOff x="0" y="0"/>
            <a:chExt cx="20720041" cy="5083462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342900"/>
              <a:ext cx="20720041" cy="37063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32"/>
                </a:lnSpc>
              </a:pPr>
              <a:r>
                <a:rPr lang="en-US" b="true" sz="16579" i="true" spc="-1160">
                  <a:solidFill>
                    <a:srgbClr val="EB9ACB"/>
                  </a:solidFill>
                  <a:latin typeface="Heading Now 61-68 Bold Italics"/>
                  <a:ea typeface="Heading Now 61-68 Bold Italics"/>
                  <a:cs typeface="Heading Now 61-68 Bold Italics"/>
                  <a:sym typeface="Heading Now 61-68 Bold Italics"/>
                </a:rPr>
                <a:t>THANK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2123323"/>
              <a:ext cx="19888281" cy="29601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403"/>
                </a:lnSpc>
              </a:pPr>
              <a:r>
                <a:rPr lang="en-US" b="true" sz="13278" i="true" spc="-929">
                  <a:solidFill>
                    <a:srgbClr val="D395FF"/>
                  </a:solidFill>
                  <a:latin typeface="Heading Now 61-68 Bold Italics"/>
                  <a:ea typeface="Heading Now 61-68 Bold Italics"/>
                  <a:cs typeface="Heading Now 61-68 Bold Italics"/>
                  <a:sym typeface="Heading Now 61-68 Bold Italics"/>
                </a:rPr>
                <a:t> YOU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DAGhVHJivXg</dc:identifier>
  <dcterms:modified xsi:type="dcterms:W3CDTF">2011-08-01T06:04:30Z</dcterms:modified>
  <cp:revision>1</cp:revision>
  <dc:title>agentic RAG</dc:title>
</cp:coreProperties>
</file>