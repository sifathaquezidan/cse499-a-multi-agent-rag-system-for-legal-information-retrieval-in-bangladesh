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Poppins Bold" charset="1" panose="00000800000000000000"/>
      <p:regular r:id="rId26"/>
    </p:embeddedFont>
    <p:embeddedFont>
      <p:font typeface="Poppins" charset="1" panose="00000500000000000000"/>
      <p:regular r:id="rId27"/>
    </p:embeddedFont>
    <p:embeddedFont>
      <p:font typeface="Maven Pro" charset="1" panose="00000500000000000000"/>
      <p:regular r:id="rId28"/>
    </p:embeddedFont>
    <p:embeddedFont>
      <p:font typeface="Antonio Bold Italics" charset="1" panose="02000803000000000000"/>
      <p:regular r:id="rId29"/>
    </p:embeddedFont>
    <p:embeddedFont>
      <p:font typeface="Maven Pro Bold" charset="1" panose="00000800000000000000"/>
      <p:regular r:id="rId30"/>
    </p:embeddedFont>
    <p:embeddedFont>
      <p:font typeface="Antonio Ultra-Bold" charset="1" panose="02000803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6.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7.png" Type="http://schemas.openxmlformats.org/officeDocument/2006/relationships/image"/><Relationship Id="rId13" Target="../media/image18.png" Type="http://schemas.openxmlformats.org/officeDocument/2006/relationships/image"/><Relationship Id="rId14"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http://bdlaws.minlaw.gov.bd"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6.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https://ieeexplore.ieee.org/abstract/document/10467470" TargetMode="External" Type="http://schemas.openxmlformats.org/officeDocument/2006/relationships/hyperlink"/><Relationship Id="rId13" Target="https://www.nature.com/articles/s41598-024-84581-z?utm_"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4917097" y="6905253"/>
            <a:ext cx="4146846" cy="4146846"/>
          </a:xfrm>
          <a:custGeom>
            <a:avLst/>
            <a:gdLst/>
            <a:ahLst/>
            <a:cxnLst/>
            <a:rect r="r" b="b" t="t" l="l"/>
            <a:pathLst>
              <a:path h="4146846" w="4146846">
                <a:moveTo>
                  <a:pt x="0" y="0"/>
                </a:moveTo>
                <a:lnTo>
                  <a:pt x="4146846" y="0"/>
                </a:lnTo>
                <a:lnTo>
                  <a:pt x="4146846" y="4146846"/>
                </a:lnTo>
                <a:lnTo>
                  <a:pt x="0" y="4146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777330" y="-997654"/>
            <a:ext cx="4203660" cy="4203660"/>
          </a:xfrm>
          <a:custGeom>
            <a:avLst/>
            <a:gdLst/>
            <a:ahLst/>
            <a:cxnLst/>
            <a:rect r="r" b="b" t="t" l="l"/>
            <a:pathLst>
              <a:path h="4203660" w="4203660">
                <a:moveTo>
                  <a:pt x="0" y="0"/>
                </a:moveTo>
                <a:lnTo>
                  <a:pt x="4203660" y="0"/>
                </a:lnTo>
                <a:lnTo>
                  <a:pt x="4203660" y="4203659"/>
                </a:lnTo>
                <a:lnTo>
                  <a:pt x="0" y="42036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336031" y="7128146"/>
            <a:ext cx="3468305" cy="3468305"/>
          </a:xfrm>
          <a:custGeom>
            <a:avLst/>
            <a:gdLst/>
            <a:ahLst/>
            <a:cxnLst/>
            <a:rect r="r" b="b" t="t" l="l"/>
            <a:pathLst>
              <a:path h="3468305" w="3468305">
                <a:moveTo>
                  <a:pt x="0" y="0"/>
                </a:moveTo>
                <a:lnTo>
                  <a:pt x="3468305" y="0"/>
                </a:lnTo>
                <a:lnTo>
                  <a:pt x="3468305" y="3468305"/>
                </a:lnTo>
                <a:lnTo>
                  <a:pt x="0" y="34683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6572282" y="2286577"/>
            <a:ext cx="4983320" cy="4983320"/>
          </a:xfrm>
          <a:custGeom>
            <a:avLst/>
            <a:gdLst/>
            <a:ahLst/>
            <a:cxnLst/>
            <a:rect r="r" b="b" t="t" l="l"/>
            <a:pathLst>
              <a:path h="4983320" w="4983320">
                <a:moveTo>
                  <a:pt x="0" y="0"/>
                </a:moveTo>
                <a:lnTo>
                  <a:pt x="4983321" y="0"/>
                </a:lnTo>
                <a:lnTo>
                  <a:pt x="4983321" y="4983320"/>
                </a:lnTo>
                <a:lnTo>
                  <a:pt x="0" y="4983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641923" y="-607464"/>
            <a:ext cx="3624063" cy="3624063"/>
          </a:xfrm>
          <a:custGeom>
            <a:avLst/>
            <a:gdLst/>
            <a:ahLst/>
            <a:cxnLst/>
            <a:rect r="r" b="b" t="t" l="l"/>
            <a:pathLst>
              <a:path h="3624063" w="3624063">
                <a:moveTo>
                  <a:pt x="0" y="0"/>
                </a:moveTo>
                <a:lnTo>
                  <a:pt x="3624063" y="0"/>
                </a:lnTo>
                <a:lnTo>
                  <a:pt x="3624063" y="3624063"/>
                </a:lnTo>
                <a:lnTo>
                  <a:pt x="0" y="36240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2700000">
            <a:off x="-3268990" y="2930197"/>
            <a:ext cx="4983320" cy="4983320"/>
          </a:xfrm>
          <a:custGeom>
            <a:avLst/>
            <a:gdLst/>
            <a:ahLst/>
            <a:cxnLst/>
            <a:rect r="r" b="b" t="t" l="l"/>
            <a:pathLst>
              <a:path h="4983320" w="4983320">
                <a:moveTo>
                  <a:pt x="4983320" y="4983320"/>
                </a:moveTo>
                <a:lnTo>
                  <a:pt x="0" y="4983320"/>
                </a:lnTo>
                <a:lnTo>
                  <a:pt x="0" y="0"/>
                </a:lnTo>
                <a:lnTo>
                  <a:pt x="4983320" y="0"/>
                </a:lnTo>
                <a:lnTo>
                  <a:pt x="4983320" y="49833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57501" y="-1718612"/>
            <a:ext cx="2686201" cy="2656897"/>
          </a:xfrm>
          <a:custGeom>
            <a:avLst/>
            <a:gdLst/>
            <a:ahLst/>
            <a:cxnLst/>
            <a:rect r="r" b="b" t="t" l="l"/>
            <a:pathLst>
              <a:path h="2656897" w="2686201">
                <a:moveTo>
                  <a:pt x="0" y="0"/>
                </a:moveTo>
                <a:lnTo>
                  <a:pt x="2686201" y="0"/>
                </a:lnTo>
                <a:lnTo>
                  <a:pt x="2686201" y="2656897"/>
                </a:lnTo>
                <a:lnTo>
                  <a:pt x="0" y="26568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7228479" y="9239037"/>
            <a:ext cx="2119043" cy="2095926"/>
          </a:xfrm>
          <a:custGeom>
            <a:avLst/>
            <a:gdLst/>
            <a:ahLst/>
            <a:cxnLst/>
            <a:rect r="r" b="b" t="t" l="l"/>
            <a:pathLst>
              <a:path h="2095926" w="2119043">
                <a:moveTo>
                  <a:pt x="0" y="0"/>
                </a:moveTo>
                <a:lnTo>
                  <a:pt x="2119042" y="0"/>
                </a:lnTo>
                <a:lnTo>
                  <a:pt x="2119042" y="2095926"/>
                </a:lnTo>
                <a:lnTo>
                  <a:pt x="0" y="2095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324084" y="1314448"/>
            <a:ext cx="1911810" cy="232893"/>
          </a:xfrm>
          <a:custGeom>
            <a:avLst/>
            <a:gdLst/>
            <a:ahLst/>
            <a:cxnLst/>
            <a:rect r="r" b="b" t="t" l="l"/>
            <a:pathLst>
              <a:path h="232893" w="1911810">
                <a:moveTo>
                  <a:pt x="0" y="0"/>
                </a:moveTo>
                <a:lnTo>
                  <a:pt x="1911810" y="0"/>
                </a:lnTo>
                <a:lnTo>
                  <a:pt x="1911810" y="232893"/>
                </a:lnTo>
                <a:lnTo>
                  <a:pt x="0" y="2328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061055" y="8576182"/>
            <a:ext cx="1911810" cy="232893"/>
          </a:xfrm>
          <a:custGeom>
            <a:avLst/>
            <a:gdLst/>
            <a:ahLst/>
            <a:cxnLst/>
            <a:rect r="r" b="b" t="t" l="l"/>
            <a:pathLst>
              <a:path h="232893" w="1911810">
                <a:moveTo>
                  <a:pt x="0" y="0"/>
                </a:moveTo>
                <a:lnTo>
                  <a:pt x="1911810" y="0"/>
                </a:lnTo>
                <a:lnTo>
                  <a:pt x="1911810" y="232893"/>
                </a:lnTo>
                <a:lnTo>
                  <a:pt x="0" y="2328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28700" y="9119815"/>
            <a:ext cx="1953440" cy="603791"/>
          </a:xfrm>
          <a:custGeom>
            <a:avLst/>
            <a:gdLst/>
            <a:ahLst/>
            <a:cxnLst/>
            <a:rect r="r" b="b" t="t" l="l"/>
            <a:pathLst>
              <a:path h="603791" w="1953440">
                <a:moveTo>
                  <a:pt x="0" y="0"/>
                </a:moveTo>
                <a:lnTo>
                  <a:pt x="1953440" y="0"/>
                </a:lnTo>
                <a:lnTo>
                  <a:pt x="1953440" y="603791"/>
                </a:lnTo>
                <a:lnTo>
                  <a:pt x="0" y="6037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5478964" y="563394"/>
            <a:ext cx="1780336" cy="550286"/>
          </a:xfrm>
          <a:custGeom>
            <a:avLst/>
            <a:gdLst/>
            <a:ahLst/>
            <a:cxnLst/>
            <a:rect r="r" b="b" t="t" l="l"/>
            <a:pathLst>
              <a:path h="550286" w="1780336">
                <a:moveTo>
                  <a:pt x="1780336" y="0"/>
                </a:moveTo>
                <a:lnTo>
                  <a:pt x="0" y="0"/>
                </a:lnTo>
                <a:lnTo>
                  <a:pt x="0" y="550286"/>
                </a:lnTo>
                <a:lnTo>
                  <a:pt x="1780336" y="550286"/>
                </a:lnTo>
                <a:lnTo>
                  <a:pt x="178033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3671722" y="1217781"/>
            <a:ext cx="10944556" cy="3423586"/>
          </a:xfrm>
          <a:prstGeom prst="rect">
            <a:avLst/>
          </a:prstGeom>
        </p:spPr>
        <p:txBody>
          <a:bodyPr anchor="t" rtlCol="false" tIns="0" lIns="0" bIns="0" rIns="0">
            <a:spAutoFit/>
          </a:bodyPr>
          <a:lstStyle/>
          <a:p>
            <a:pPr algn="ctr">
              <a:lnSpc>
                <a:spcPts val="13427"/>
              </a:lnSpc>
              <a:spcBef>
                <a:spcPct val="0"/>
              </a:spcBef>
            </a:pPr>
            <a:r>
              <a:rPr lang="en-US" b="true" sz="9591">
                <a:solidFill>
                  <a:srgbClr val="000000"/>
                </a:solidFill>
                <a:latin typeface="Poppins Bold"/>
                <a:ea typeface="Poppins Bold"/>
                <a:cs typeface="Poppins Bold"/>
                <a:sym typeface="Poppins Bold"/>
              </a:rPr>
              <a:t>PROJECT TOPIC PROPOSAL</a:t>
            </a:r>
          </a:p>
        </p:txBody>
      </p:sp>
      <p:sp>
        <p:nvSpPr>
          <p:cNvPr name="TextBox 15" id="15"/>
          <p:cNvSpPr txBox="true"/>
          <p:nvPr/>
        </p:nvSpPr>
        <p:spPr>
          <a:xfrm rot="0">
            <a:off x="6200986" y="862085"/>
            <a:ext cx="5886028" cy="450790"/>
          </a:xfrm>
          <a:prstGeom prst="rect">
            <a:avLst/>
          </a:prstGeom>
        </p:spPr>
        <p:txBody>
          <a:bodyPr anchor="t" rtlCol="false" tIns="0" lIns="0" bIns="0" rIns="0">
            <a:spAutoFit/>
          </a:bodyPr>
          <a:lstStyle/>
          <a:p>
            <a:pPr algn="ctr">
              <a:lnSpc>
                <a:spcPts val="3503"/>
              </a:lnSpc>
              <a:spcBef>
                <a:spcPct val="0"/>
              </a:spcBef>
            </a:pPr>
            <a:r>
              <a:rPr lang="en-US" sz="2502">
                <a:solidFill>
                  <a:srgbClr val="000000"/>
                </a:solidFill>
                <a:latin typeface="Poppins"/>
                <a:ea typeface="Poppins"/>
                <a:cs typeface="Poppins"/>
                <a:sym typeface="Poppins"/>
              </a:rPr>
              <a:t>NORTH SOUTH UNIVERSITY</a:t>
            </a:r>
          </a:p>
        </p:txBody>
      </p:sp>
      <p:sp>
        <p:nvSpPr>
          <p:cNvPr name="TextBox 16" id="16"/>
          <p:cNvSpPr txBox="true"/>
          <p:nvPr/>
        </p:nvSpPr>
        <p:spPr>
          <a:xfrm rot="0">
            <a:off x="3694919" y="5289454"/>
            <a:ext cx="10864763" cy="503099"/>
          </a:xfrm>
          <a:prstGeom prst="rect">
            <a:avLst/>
          </a:prstGeom>
        </p:spPr>
        <p:txBody>
          <a:bodyPr anchor="t" rtlCol="false" tIns="0" lIns="0" bIns="0" rIns="0">
            <a:spAutoFit/>
          </a:bodyPr>
          <a:lstStyle/>
          <a:p>
            <a:pPr algn="ctr">
              <a:lnSpc>
                <a:spcPts val="3736"/>
              </a:lnSpc>
            </a:pPr>
            <a:r>
              <a:rPr lang="en-US" sz="3736">
                <a:solidFill>
                  <a:srgbClr val="252930"/>
                </a:solidFill>
                <a:latin typeface="Maven Pro"/>
                <a:ea typeface="Maven Pro"/>
                <a:cs typeface="Maven Pro"/>
                <a:sym typeface="Maven Pro"/>
              </a:rPr>
              <a:t>Presented by</a:t>
            </a:r>
          </a:p>
        </p:txBody>
      </p:sp>
      <p:sp>
        <p:nvSpPr>
          <p:cNvPr name="TextBox 17" id="17"/>
          <p:cNvSpPr txBox="true"/>
          <p:nvPr/>
        </p:nvSpPr>
        <p:spPr>
          <a:xfrm rot="0">
            <a:off x="3694919" y="6125929"/>
            <a:ext cx="10864763" cy="503099"/>
          </a:xfrm>
          <a:prstGeom prst="rect">
            <a:avLst/>
          </a:prstGeom>
        </p:spPr>
        <p:txBody>
          <a:bodyPr anchor="t" rtlCol="false" tIns="0" lIns="0" bIns="0" rIns="0">
            <a:spAutoFit/>
          </a:bodyPr>
          <a:lstStyle/>
          <a:p>
            <a:pPr algn="ctr">
              <a:lnSpc>
                <a:spcPts val="3736"/>
              </a:lnSpc>
            </a:pPr>
            <a:r>
              <a:rPr lang="en-US" sz="3736">
                <a:solidFill>
                  <a:srgbClr val="252930"/>
                </a:solidFill>
                <a:latin typeface="Maven Pro"/>
                <a:ea typeface="Maven Pro"/>
                <a:cs typeface="Maven Pro"/>
                <a:sym typeface="Maven Pro"/>
              </a:rPr>
              <a:t>ABDULLAH AL RAIYAN - 2212712042</a:t>
            </a:r>
          </a:p>
        </p:txBody>
      </p:sp>
      <p:sp>
        <p:nvSpPr>
          <p:cNvPr name="TextBox 18" id="18"/>
          <p:cNvSpPr txBox="true"/>
          <p:nvPr/>
        </p:nvSpPr>
        <p:spPr>
          <a:xfrm rot="0">
            <a:off x="3694919" y="6962403"/>
            <a:ext cx="10864763" cy="503099"/>
          </a:xfrm>
          <a:prstGeom prst="rect">
            <a:avLst/>
          </a:prstGeom>
        </p:spPr>
        <p:txBody>
          <a:bodyPr anchor="t" rtlCol="false" tIns="0" lIns="0" bIns="0" rIns="0">
            <a:spAutoFit/>
          </a:bodyPr>
          <a:lstStyle/>
          <a:p>
            <a:pPr algn="ctr">
              <a:lnSpc>
                <a:spcPts val="3736"/>
              </a:lnSpc>
            </a:pPr>
            <a:r>
              <a:rPr lang="en-US" sz="3736">
                <a:solidFill>
                  <a:srgbClr val="252930"/>
                </a:solidFill>
                <a:latin typeface="Maven Pro"/>
                <a:ea typeface="Maven Pro"/>
                <a:cs typeface="Maven Pro"/>
                <a:sym typeface="Maven Pro"/>
              </a:rPr>
              <a:t>MD. SIFAT HAQUE ZIDAN - 2212768042</a:t>
            </a:r>
          </a:p>
        </p:txBody>
      </p:sp>
      <p:sp>
        <p:nvSpPr>
          <p:cNvPr name="TextBox 19" id="19"/>
          <p:cNvSpPr txBox="true"/>
          <p:nvPr/>
        </p:nvSpPr>
        <p:spPr>
          <a:xfrm rot="0">
            <a:off x="3728318" y="7798877"/>
            <a:ext cx="10864763" cy="503099"/>
          </a:xfrm>
          <a:prstGeom prst="rect">
            <a:avLst/>
          </a:prstGeom>
        </p:spPr>
        <p:txBody>
          <a:bodyPr anchor="t" rtlCol="false" tIns="0" lIns="0" bIns="0" rIns="0">
            <a:spAutoFit/>
          </a:bodyPr>
          <a:lstStyle/>
          <a:p>
            <a:pPr algn="ctr">
              <a:lnSpc>
                <a:spcPts val="3736"/>
              </a:lnSpc>
            </a:pPr>
            <a:r>
              <a:rPr lang="en-US" sz="3736">
                <a:solidFill>
                  <a:srgbClr val="252930"/>
                </a:solidFill>
                <a:latin typeface="Maven Pro"/>
                <a:ea typeface="Maven Pro"/>
                <a:cs typeface="Maven Pro"/>
                <a:sym typeface="Maven Pro"/>
              </a:rPr>
              <a:t>RAHIL MEHNAZ - 2121843042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true" flipV="false" rot="0">
            <a:off x="-590618" y="-493221"/>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865578" y="3810097"/>
            <a:ext cx="13514283" cy="3988053"/>
            <a:chOff x="0" y="0"/>
            <a:chExt cx="2964076" cy="874696"/>
          </a:xfrm>
        </p:grpSpPr>
        <p:sp>
          <p:nvSpPr>
            <p:cNvPr name="Freeform 4" id="4"/>
            <p:cNvSpPr/>
            <p:nvPr/>
          </p:nvSpPr>
          <p:spPr>
            <a:xfrm flipH="false" flipV="false" rot="0">
              <a:off x="0" y="0"/>
              <a:ext cx="2964076" cy="874696"/>
            </a:xfrm>
            <a:custGeom>
              <a:avLst/>
              <a:gdLst/>
              <a:ahLst/>
              <a:cxnLst/>
              <a:rect r="r" b="b" t="t" l="l"/>
              <a:pathLst>
                <a:path h="874696" w="2964076">
                  <a:moveTo>
                    <a:pt x="0" y="0"/>
                  </a:moveTo>
                  <a:lnTo>
                    <a:pt x="2964076" y="0"/>
                  </a:lnTo>
                  <a:lnTo>
                    <a:pt x="2964076" y="874696"/>
                  </a:lnTo>
                  <a:lnTo>
                    <a:pt x="0" y="874696"/>
                  </a:lnTo>
                  <a:close/>
                </a:path>
              </a:pathLst>
            </a:custGeom>
            <a:solidFill>
              <a:srgbClr val="FFFFFF"/>
            </a:solidFill>
          </p:spPr>
        </p:sp>
        <p:sp>
          <p:nvSpPr>
            <p:cNvPr name="TextBox 5" id="5"/>
            <p:cNvSpPr txBox="true"/>
            <p:nvPr/>
          </p:nvSpPr>
          <p:spPr>
            <a:xfrm>
              <a:off x="0" y="-47625"/>
              <a:ext cx="2964076" cy="922321"/>
            </a:xfrm>
            <a:prstGeom prst="rect">
              <a:avLst/>
            </a:prstGeom>
          </p:spPr>
          <p:txBody>
            <a:bodyPr anchor="ctr" rtlCol="false" tIns="70328" lIns="70328" bIns="70328" rIns="70328"/>
            <a:lstStyle/>
            <a:p>
              <a:pPr algn="ctr">
                <a:lnSpc>
                  <a:spcPts val="2660"/>
                </a:lnSpc>
              </a:pPr>
            </a:p>
          </p:txBody>
        </p:sp>
      </p:grpSp>
      <p:grpSp>
        <p:nvGrpSpPr>
          <p:cNvPr name="Group 6" id="6"/>
          <p:cNvGrpSpPr/>
          <p:nvPr/>
        </p:nvGrpSpPr>
        <p:grpSpPr>
          <a:xfrm rot="0">
            <a:off x="2601009" y="3230627"/>
            <a:ext cx="1460765" cy="1358920"/>
            <a:chOff x="0" y="0"/>
            <a:chExt cx="1947687" cy="1811894"/>
          </a:xfrm>
        </p:grpSpPr>
        <p:grpSp>
          <p:nvGrpSpPr>
            <p:cNvPr name="Group 7" id="7"/>
            <p:cNvGrpSpPr/>
            <p:nvPr/>
          </p:nvGrpSpPr>
          <p:grpSpPr>
            <a:xfrm rot="0">
              <a:off x="0" y="0"/>
              <a:ext cx="1947687" cy="1811894"/>
              <a:chOff x="0" y="0"/>
              <a:chExt cx="873716" cy="812800"/>
            </a:xfrm>
          </p:grpSpPr>
          <p:sp>
            <p:nvSpPr>
              <p:cNvPr name="Freeform 8" id="8"/>
              <p:cNvSpPr/>
              <p:nvPr/>
            </p:nvSpPr>
            <p:spPr>
              <a:xfrm flipH="false" flipV="false" rot="0">
                <a:off x="0" y="0"/>
                <a:ext cx="873716" cy="812800"/>
              </a:xfrm>
              <a:custGeom>
                <a:avLst/>
                <a:gdLst/>
                <a:ahLst/>
                <a:cxnLst/>
                <a:rect r="r" b="b" t="t" l="l"/>
                <a:pathLst>
                  <a:path h="812800" w="873716">
                    <a:moveTo>
                      <a:pt x="436858" y="0"/>
                    </a:moveTo>
                    <a:cubicBezTo>
                      <a:pt x="195588" y="0"/>
                      <a:pt x="0" y="181951"/>
                      <a:pt x="0" y="406400"/>
                    </a:cubicBezTo>
                    <a:cubicBezTo>
                      <a:pt x="0" y="630849"/>
                      <a:pt x="195588" y="812800"/>
                      <a:pt x="436858" y="812800"/>
                    </a:cubicBezTo>
                    <a:cubicBezTo>
                      <a:pt x="678128" y="812800"/>
                      <a:pt x="873716" y="630849"/>
                      <a:pt x="873716" y="406400"/>
                    </a:cubicBezTo>
                    <a:cubicBezTo>
                      <a:pt x="873716" y="181951"/>
                      <a:pt x="678128" y="0"/>
                      <a:pt x="436858" y="0"/>
                    </a:cubicBezTo>
                    <a:close/>
                  </a:path>
                </a:pathLst>
              </a:custGeom>
              <a:gradFill rotWithShape="true">
                <a:gsLst>
                  <a:gs pos="0">
                    <a:srgbClr val="000000">
                      <a:alpha val="100000"/>
                    </a:srgbClr>
                  </a:gs>
                  <a:gs pos="100000">
                    <a:srgbClr val="737373">
                      <a:alpha val="100000"/>
                    </a:srgbClr>
                  </a:gs>
                </a:gsLst>
                <a:lin ang="0"/>
              </a:gradFill>
            </p:spPr>
          </p:sp>
          <p:sp>
            <p:nvSpPr>
              <p:cNvPr name="TextBox 9" id="9"/>
              <p:cNvSpPr txBox="true"/>
              <p:nvPr/>
            </p:nvSpPr>
            <p:spPr>
              <a:xfrm>
                <a:off x="81911" y="28575"/>
                <a:ext cx="709894" cy="708025"/>
              </a:xfrm>
              <a:prstGeom prst="rect">
                <a:avLst/>
              </a:prstGeom>
            </p:spPr>
            <p:txBody>
              <a:bodyPr anchor="ctr" rtlCol="false" tIns="70328" lIns="70328" bIns="70328" rIns="70328"/>
              <a:lstStyle/>
              <a:p>
                <a:pPr algn="ctr">
                  <a:lnSpc>
                    <a:spcPts val="2660"/>
                  </a:lnSpc>
                </a:pPr>
              </a:p>
            </p:txBody>
          </p:sp>
        </p:grpSp>
        <p:sp>
          <p:nvSpPr>
            <p:cNvPr name="TextBox 10" id="10"/>
            <p:cNvSpPr txBox="true"/>
            <p:nvPr/>
          </p:nvSpPr>
          <p:spPr>
            <a:xfrm rot="0">
              <a:off x="139017" y="402736"/>
              <a:ext cx="1669653" cy="1092147"/>
            </a:xfrm>
            <a:prstGeom prst="rect">
              <a:avLst/>
            </a:prstGeom>
          </p:spPr>
          <p:txBody>
            <a:bodyPr anchor="t" rtlCol="false" tIns="0" lIns="0" bIns="0" rIns="0">
              <a:spAutoFit/>
            </a:bodyPr>
            <a:lstStyle/>
            <a:p>
              <a:pPr algn="ctr">
                <a:lnSpc>
                  <a:spcPts val="6163"/>
                </a:lnSpc>
              </a:pPr>
            </a:p>
          </p:txBody>
        </p:sp>
        <p:sp>
          <p:nvSpPr>
            <p:cNvPr name="TextBox 11" id="11"/>
            <p:cNvSpPr txBox="true"/>
            <p:nvPr/>
          </p:nvSpPr>
          <p:spPr>
            <a:xfrm rot="0">
              <a:off x="134742" y="483085"/>
              <a:ext cx="1678203" cy="950498"/>
            </a:xfrm>
            <a:prstGeom prst="rect">
              <a:avLst/>
            </a:prstGeom>
          </p:spPr>
          <p:txBody>
            <a:bodyPr anchor="t" rtlCol="false" tIns="0" lIns="0" bIns="0" rIns="0">
              <a:spAutoFit/>
            </a:bodyPr>
            <a:lstStyle/>
            <a:p>
              <a:pPr algn="ctr">
                <a:lnSpc>
                  <a:spcPts val="5193"/>
                </a:lnSpc>
              </a:pPr>
              <a:r>
                <a:rPr lang="en-US" b="true" sz="5193" i="true" spc="-114">
                  <a:solidFill>
                    <a:srgbClr val="FFFFFF"/>
                  </a:solidFill>
                  <a:latin typeface="Antonio Bold Italics"/>
                  <a:ea typeface="Antonio Bold Italics"/>
                  <a:cs typeface="Antonio Bold Italics"/>
                  <a:sym typeface="Antonio Bold Italics"/>
                </a:rPr>
                <a:t>1.</a:t>
              </a:r>
            </a:p>
          </p:txBody>
        </p:sp>
      </p:grpSp>
      <p:sp>
        <p:nvSpPr>
          <p:cNvPr name="Freeform 12" id="12"/>
          <p:cNvSpPr/>
          <p:nvPr/>
        </p:nvSpPr>
        <p:spPr>
          <a:xfrm flipH="false" flipV="false" rot="0">
            <a:off x="718082" y="6957182"/>
            <a:ext cx="3172777" cy="2823772"/>
          </a:xfrm>
          <a:custGeom>
            <a:avLst/>
            <a:gdLst/>
            <a:ahLst/>
            <a:cxnLst/>
            <a:rect r="r" b="b" t="t" l="l"/>
            <a:pathLst>
              <a:path h="2823772" w="3172777">
                <a:moveTo>
                  <a:pt x="0" y="0"/>
                </a:moveTo>
                <a:lnTo>
                  <a:pt x="3172778" y="0"/>
                </a:lnTo>
                <a:lnTo>
                  <a:pt x="3172778" y="2823772"/>
                </a:lnTo>
                <a:lnTo>
                  <a:pt x="0" y="2823772"/>
                </a:lnTo>
                <a:lnTo>
                  <a:pt x="0" y="0"/>
                </a:lnTo>
                <a:close/>
              </a:path>
            </a:pathLst>
          </a:custGeom>
          <a:blipFill>
            <a:blip r:embed="rId4"/>
            <a:stretch>
              <a:fillRect l="0" t="0" r="0" b="0"/>
            </a:stretch>
          </a:blipFill>
        </p:spPr>
      </p:sp>
      <p:sp>
        <p:nvSpPr>
          <p:cNvPr name="Freeform 13" id="13"/>
          <p:cNvSpPr/>
          <p:nvPr/>
        </p:nvSpPr>
        <p:spPr>
          <a:xfrm flipH="false" flipV="false" rot="0">
            <a:off x="13786286" y="637446"/>
            <a:ext cx="3473014" cy="2961533"/>
          </a:xfrm>
          <a:custGeom>
            <a:avLst/>
            <a:gdLst/>
            <a:ahLst/>
            <a:cxnLst/>
            <a:rect r="r" b="b" t="t" l="l"/>
            <a:pathLst>
              <a:path h="2961533" w="3473014">
                <a:moveTo>
                  <a:pt x="0" y="0"/>
                </a:moveTo>
                <a:lnTo>
                  <a:pt x="3473014" y="0"/>
                </a:lnTo>
                <a:lnTo>
                  <a:pt x="3473014" y="2961533"/>
                </a:lnTo>
                <a:lnTo>
                  <a:pt x="0" y="29615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4995148" y="904146"/>
            <a:ext cx="8297704" cy="1586767"/>
          </a:xfrm>
          <a:prstGeom prst="rect">
            <a:avLst/>
          </a:prstGeom>
        </p:spPr>
        <p:txBody>
          <a:bodyPr anchor="t" rtlCol="false" tIns="0" lIns="0" bIns="0" rIns="0">
            <a:spAutoFit/>
          </a:bodyPr>
          <a:lstStyle/>
          <a:p>
            <a:pPr algn="ctr">
              <a:lnSpc>
                <a:spcPts val="5841"/>
              </a:lnSpc>
            </a:pPr>
            <a:r>
              <a:rPr lang="en-US" b="true" sz="7301">
                <a:solidFill>
                  <a:srgbClr val="252D37"/>
                </a:solidFill>
                <a:latin typeface="Maven Pro Bold"/>
                <a:ea typeface="Maven Pro Bold"/>
                <a:cs typeface="Maven Pro Bold"/>
                <a:sym typeface="Maven Pro Bold"/>
              </a:rPr>
              <a:t>OUR PROPOSED TOPIC-1</a:t>
            </a:r>
          </a:p>
        </p:txBody>
      </p:sp>
      <p:sp>
        <p:nvSpPr>
          <p:cNvPr name="TextBox 15" id="15"/>
          <p:cNvSpPr txBox="true"/>
          <p:nvPr/>
        </p:nvSpPr>
        <p:spPr>
          <a:xfrm rot="0">
            <a:off x="2865578" y="4906331"/>
            <a:ext cx="13514283" cy="2050851"/>
          </a:xfrm>
          <a:prstGeom prst="rect">
            <a:avLst/>
          </a:prstGeom>
        </p:spPr>
        <p:txBody>
          <a:bodyPr anchor="t" rtlCol="false" tIns="0" lIns="0" bIns="0" rIns="0">
            <a:spAutoFit/>
          </a:bodyPr>
          <a:lstStyle/>
          <a:p>
            <a:pPr algn="ctr">
              <a:lnSpc>
                <a:spcPts val="5367"/>
              </a:lnSpc>
            </a:pPr>
            <a:r>
              <a:rPr lang="en-US" sz="5367" b="true">
                <a:solidFill>
                  <a:srgbClr val="000000"/>
                </a:solidFill>
                <a:latin typeface="Antonio Ultra-Bold"/>
                <a:ea typeface="Antonio Ultra-Bold"/>
                <a:cs typeface="Antonio Ultra-Bold"/>
                <a:sym typeface="Antonio Ultra-Bold"/>
              </a:rPr>
              <a:t>NLP-Based AI Model for Legal Assistance in Bangladesh: Enhancing Access to Law and Citizen Rights</a:t>
            </a:r>
          </a:p>
        </p:txBody>
      </p:sp>
    </p:spTree>
  </p:cSld>
  <p:clrMapOvr>
    <a:masterClrMapping/>
  </p:clrMapOvr>
  <p:transition spd="fast">
    <p:cover dir="d"/>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309442" y="-506840"/>
            <a:ext cx="3328479" cy="3328479"/>
          </a:xfrm>
          <a:custGeom>
            <a:avLst/>
            <a:gdLst/>
            <a:ahLst/>
            <a:cxnLst/>
            <a:rect r="r" b="b" t="t" l="l"/>
            <a:pathLst>
              <a:path h="3328479" w="3328479">
                <a:moveTo>
                  <a:pt x="0" y="0"/>
                </a:moveTo>
                <a:lnTo>
                  <a:pt x="3328479" y="0"/>
                </a:lnTo>
                <a:lnTo>
                  <a:pt x="3328479"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853906" y="5432815"/>
            <a:ext cx="3075969" cy="3075969"/>
          </a:xfrm>
          <a:custGeom>
            <a:avLst/>
            <a:gdLst/>
            <a:ahLst/>
            <a:cxnLst/>
            <a:rect r="r" b="b" t="t" l="l"/>
            <a:pathLst>
              <a:path h="3075969" w="3075969">
                <a:moveTo>
                  <a:pt x="0" y="0"/>
                </a:moveTo>
                <a:lnTo>
                  <a:pt x="3075969" y="0"/>
                </a:lnTo>
                <a:lnTo>
                  <a:pt x="3075969"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674985" y="3446178"/>
            <a:ext cx="4603349" cy="4667033"/>
            <a:chOff x="0" y="0"/>
            <a:chExt cx="1023795" cy="1037958"/>
          </a:xfrm>
        </p:grpSpPr>
        <p:sp>
          <p:nvSpPr>
            <p:cNvPr name="Freeform 8" id="8"/>
            <p:cNvSpPr/>
            <p:nvPr/>
          </p:nvSpPr>
          <p:spPr>
            <a:xfrm flipH="false" flipV="false" rot="0">
              <a:off x="0" y="0"/>
              <a:ext cx="1023795" cy="1037958"/>
            </a:xfrm>
            <a:custGeom>
              <a:avLst/>
              <a:gdLst/>
              <a:ahLst/>
              <a:cxnLst/>
              <a:rect r="r" b="b" t="t" l="l"/>
              <a:pathLst>
                <a:path h="1037958" w="1023795">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name="TextBox 9" id="9"/>
            <p:cNvSpPr txBox="true"/>
            <p:nvPr/>
          </p:nvSpPr>
          <p:spPr>
            <a:xfrm>
              <a:off x="0" y="-57150"/>
              <a:ext cx="1023795" cy="1095108"/>
            </a:xfrm>
            <a:prstGeom prst="rect">
              <a:avLst/>
            </a:prstGeom>
          </p:spPr>
          <p:txBody>
            <a:bodyPr anchor="ctr" rtlCol="false" tIns="50800" lIns="50800" bIns="50800" rIns="50800"/>
            <a:lstStyle/>
            <a:p>
              <a:pPr algn="ctr">
                <a:lnSpc>
                  <a:spcPts val="3223"/>
                </a:lnSpc>
              </a:pPr>
            </a:p>
          </p:txBody>
        </p:sp>
      </p:grpSp>
      <p:sp>
        <p:nvSpPr>
          <p:cNvPr name="Freeform 10" id="10"/>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6852291" y="2936901"/>
            <a:ext cx="9066610" cy="5944235"/>
          </a:xfrm>
          <a:prstGeom prst="rect">
            <a:avLst/>
          </a:prstGeom>
        </p:spPr>
        <p:txBody>
          <a:bodyPr anchor="t" rtlCol="false" tIns="0" lIns="0" bIns="0" rIns="0">
            <a:spAutoFit/>
          </a:bodyPr>
          <a:lstStyle/>
          <a:p>
            <a:pPr algn="just">
              <a:lnSpc>
                <a:spcPts val="3639"/>
              </a:lnSpc>
            </a:pPr>
            <a:r>
              <a:rPr lang="en-US" sz="2599" spc="-142">
                <a:solidFill>
                  <a:srgbClr val="000000"/>
                </a:solidFill>
                <a:latin typeface="Poppins"/>
                <a:ea typeface="Poppins"/>
                <a:cs typeface="Poppins"/>
                <a:sym typeface="Poppins"/>
              </a:rPr>
              <a:t>An AI-powered legal assistant designed </a:t>
            </a:r>
            <a:r>
              <a:rPr lang="en-US" b="true" sz="2599" spc="-142">
                <a:solidFill>
                  <a:srgbClr val="000000"/>
                </a:solidFill>
                <a:latin typeface="Poppins Bold"/>
                <a:ea typeface="Poppins Bold"/>
                <a:cs typeface="Poppins Bold"/>
                <a:sym typeface="Poppins Bold"/>
              </a:rPr>
              <a:t>to help citizens of Bangladesh understand their rights &amp; navigate legal matters</a:t>
            </a:r>
            <a:r>
              <a:rPr lang="en-US" sz="2599" spc="-142">
                <a:solidFill>
                  <a:srgbClr val="000000"/>
                </a:solidFill>
                <a:latin typeface="Poppins"/>
                <a:ea typeface="Poppins"/>
                <a:cs typeface="Poppins"/>
                <a:sym typeface="Poppins"/>
              </a:rPr>
              <a:t>. This NLP-driven application: </a:t>
            </a:r>
          </a:p>
          <a:p>
            <a:pPr algn="just" marL="561339" indent="-280669" lvl="1">
              <a:lnSpc>
                <a:spcPts val="3639"/>
              </a:lnSpc>
              <a:buFont typeface="Arial"/>
              <a:buChar char="•"/>
            </a:pPr>
            <a:r>
              <a:rPr lang="en-US" sz="2599" spc="-142">
                <a:solidFill>
                  <a:srgbClr val="000000"/>
                </a:solidFill>
                <a:latin typeface="Poppins"/>
                <a:ea typeface="Poppins"/>
                <a:cs typeface="Poppins"/>
                <a:sym typeface="Poppins"/>
              </a:rPr>
              <a:t>will be trained on publicly available Bangladeshi law books &amp; legal resources</a:t>
            </a:r>
          </a:p>
          <a:p>
            <a:pPr algn="just" marL="561339" indent="-280669" lvl="1">
              <a:lnSpc>
                <a:spcPts val="3639"/>
              </a:lnSpc>
              <a:buFont typeface="Arial"/>
              <a:buChar char="•"/>
            </a:pPr>
            <a:r>
              <a:rPr lang="en-US" sz="2599" spc="-142">
                <a:solidFill>
                  <a:srgbClr val="000000"/>
                </a:solidFill>
                <a:latin typeface="Poppins"/>
                <a:ea typeface="Poppins"/>
                <a:cs typeface="Poppins"/>
                <a:sym typeface="Poppins"/>
              </a:rPr>
              <a:t>enabling it to answer user queries</a:t>
            </a:r>
          </a:p>
          <a:p>
            <a:pPr algn="just" marL="561339" indent="-280669" lvl="1">
              <a:lnSpc>
                <a:spcPts val="3639"/>
              </a:lnSpc>
              <a:buFont typeface="Arial"/>
              <a:buChar char="•"/>
            </a:pPr>
            <a:r>
              <a:rPr lang="en-US" sz="2599" spc="-142">
                <a:solidFill>
                  <a:srgbClr val="000000"/>
                </a:solidFill>
                <a:latin typeface="Poppins"/>
                <a:ea typeface="Poppins"/>
                <a:cs typeface="Poppins"/>
                <a:sym typeface="Poppins"/>
              </a:rPr>
              <a:t>provide insights on various legal topics, including the right to information, consumer protection, tax laws, labor rights, &amp; more.</a:t>
            </a:r>
          </a:p>
          <a:p>
            <a:pPr algn="just">
              <a:lnSpc>
                <a:spcPts val="3639"/>
              </a:lnSpc>
            </a:pPr>
            <a:r>
              <a:rPr lang="en-US" b="true" sz="2599" spc="-142">
                <a:solidFill>
                  <a:srgbClr val="000000"/>
                </a:solidFill>
                <a:latin typeface="Poppins Bold"/>
                <a:ea typeface="Poppins Bold"/>
                <a:cs typeface="Poppins Bold"/>
                <a:sym typeface="Poppins Bold"/>
              </a:rPr>
              <a:t>Goal: </a:t>
            </a:r>
          </a:p>
          <a:p>
            <a:pPr algn="just" marL="561339" indent="-280669" lvl="1">
              <a:lnSpc>
                <a:spcPts val="3639"/>
              </a:lnSpc>
              <a:buFont typeface="Arial"/>
              <a:buChar char="•"/>
            </a:pPr>
            <a:r>
              <a:rPr lang="en-US" sz="2599" spc="-142">
                <a:solidFill>
                  <a:srgbClr val="000000"/>
                </a:solidFill>
                <a:latin typeface="Poppins"/>
                <a:ea typeface="Poppins"/>
                <a:cs typeface="Poppins"/>
                <a:sym typeface="Poppins"/>
              </a:rPr>
              <a:t>to make legal knowledge more accessible, empowering users with accurate, reliable, &amp; easy-to-understand legal guidance.</a:t>
            </a:r>
          </a:p>
        </p:txBody>
      </p:sp>
      <p:sp>
        <p:nvSpPr>
          <p:cNvPr name="AutoShape 18" id="18"/>
          <p:cNvSpPr/>
          <p:nvPr/>
        </p:nvSpPr>
        <p:spPr>
          <a:xfrm>
            <a:off x="7891929" y="2462616"/>
            <a:ext cx="2504141" cy="0"/>
          </a:xfrm>
          <a:prstGeom prst="line">
            <a:avLst/>
          </a:prstGeom>
          <a:ln cap="rnd" w="114300">
            <a:solidFill>
              <a:srgbClr val="000000"/>
            </a:solidFill>
            <a:prstDash val="sysDot"/>
            <a:headEnd type="none" len="sm" w="sm"/>
            <a:tailEnd type="none" len="sm" w="sm"/>
          </a:ln>
        </p:spPr>
      </p:sp>
      <p:sp>
        <p:nvSpPr>
          <p:cNvPr name="AutoShape 19" id="19"/>
          <p:cNvSpPr/>
          <p:nvPr/>
        </p:nvSpPr>
        <p:spPr>
          <a:xfrm>
            <a:off x="7891929" y="9507714"/>
            <a:ext cx="2504141" cy="0"/>
          </a:xfrm>
          <a:prstGeom prst="line">
            <a:avLst/>
          </a:prstGeom>
          <a:ln cap="rnd" w="114300">
            <a:solidFill>
              <a:srgbClr val="000000"/>
            </a:solidFill>
            <a:prstDash val="sysDot"/>
            <a:headEnd type="none" len="sm" w="sm"/>
            <a:tailEnd type="none" len="sm" w="sm"/>
          </a:ln>
        </p:spPr>
      </p:sp>
      <p:grpSp>
        <p:nvGrpSpPr>
          <p:cNvPr name="Group 20" id="20"/>
          <p:cNvGrpSpPr/>
          <p:nvPr/>
        </p:nvGrpSpPr>
        <p:grpSpPr>
          <a:xfrm rot="0">
            <a:off x="1957383" y="3760419"/>
            <a:ext cx="4038552" cy="403855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2"/>
              <a:stretch>
                <a:fillRect l="-55263" t="0" r="-55263" b="0"/>
              </a:stretch>
            </a:blipFill>
          </p:spPr>
        </p:sp>
      </p:grpSp>
      <p:grpSp>
        <p:nvGrpSpPr>
          <p:cNvPr name="Group 22" id="22"/>
          <p:cNvGrpSpPr/>
          <p:nvPr/>
        </p:nvGrpSpPr>
        <p:grpSpPr>
          <a:xfrm rot="0">
            <a:off x="4621151" y="1079622"/>
            <a:ext cx="9045698" cy="1030616"/>
            <a:chOff x="0" y="0"/>
            <a:chExt cx="12060930" cy="1374154"/>
          </a:xfrm>
        </p:grpSpPr>
        <p:grpSp>
          <p:nvGrpSpPr>
            <p:cNvPr name="Group 23" id="23"/>
            <p:cNvGrpSpPr/>
            <p:nvPr/>
          </p:nvGrpSpPr>
          <p:grpSpPr>
            <a:xfrm rot="0">
              <a:off x="0" y="0"/>
              <a:ext cx="12060930" cy="1374154"/>
              <a:chOff x="0" y="0"/>
              <a:chExt cx="2722156" cy="310147"/>
            </a:xfrm>
          </p:grpSpPr>
          <p:sp>
            <p:nvSpPr>
              <p:cNvPr name="Freeform 24" id="24"/>
              <p:cNvSpPr/>
              <p:nvPr/>
            </p:nvSpPr>
            <p:spPr>
              <a:xfrm flipH="false" flipV="false" rot="0">
                <a:off x="0" y="0"/>
                <a:ext cx="2722156" cy="310147"/>
              </a:xfrm>
              <a:custGeom>
                <a:avLst/>
                <a:gdLst/>
                <a:ahLst/>
                <a:cxnLst/>
                <a:rect r="r" b="b" t="t" l="l"/>
                <a:pathLst>
                  <a:path h="310147" w="2722156">
                    <a:moveTo>
                      <a:pt x="0" y="0"/>
                    </a:moveTo>
                    <a:lnTo>
                      <a:pt x="2722156" y="0"/>
                    </a:lnTo>
                    <a:lnTo>
                      <a:pt x="2722156"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5" id="25"/>
              <p:cNvSpPr txBox="true"/>
              <p:nvPr/>
            </p:nvSpPr>
            <p:spPr>
              <a:xfrm>
                <a:off x="0" y="-57150"/>
                <a:ext cx="2722156" cy="367297"/>
              </a:xfrm>
              <a:prstGeom prst="rect">
                <a:avLst/>
              </a:prstGeom>
            </p:spPr>
            <p:txBody>
              <a:bodyPr anchor="ctr" rtlCol="false" tIns="50800" lIns="50800" bIns="50800" rIns="50800"/>
              <a:lstStyle/>
              <a:p>
                <a:pPr algn="ctr">
                  <a:lnSpc>
                    <a:spcPts val="3223"/>
                  </a:lnSpc>
                </a:pPr>
              </a:p>
            </p:txBody>
          </p:sp>
        </p:grpSp>
        <p:sp>
          <p:nvSpPr>
            <p:cNvPr name="TextBox 26" id="26"/>
            <p:cNvSpPr txBox="true"/>
            <p:nvPr/>
          </p:nvSpPr>
          <p:spPr>
            <a:xfrm rot="0">
              <a:off x="1355991" y="98148"/>
              <a:ext cx="10111162"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IDEA BEHIND THIS PROJET </a:t>
              </a:r>
            </a:p>
          </p:txBody>
        </p:sp>
      </p:gr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4186087" y="1079622"/>
            <a:ext cx="10179226" cy="1030616"/>
            <a:chOff x="0" y="0"/>
            <a:chExt cx="13572302" cy="1374154"/>
          </a:xfrm>
        </p:grpSpPr>
        <p:grpSp>
          <p:nvGrpSpPr>
            <p:cNvPr name="Group 15" id="15"/>
            <p:cNvGrpSpPr/>
            <p:nvPr/>
          </p:nvGrpSpPr>
          <p:grpSpPr>
            <a:xfrm rot="0">
              <a:off x="0" y="0"/>
              <a:ext cx="13572302" cy="1374154"/>
              <a:chOff x="0" y="0"/>
              <a:chExt cx="3063273" cy="310147"/>
            </a:xfrm>
          </p:grpSpPr>
          <p:sp>
            <p:nvSpPr>
              <p:cNvPr name="Freeform 16" id="16"/>
              <p:cNvSpPr/>
              <p:nvPr/>
            </p:nvSpPr>
            <p:spPr>
              <a:xfrm flipH="false" flipV="false" rot="0">
                <a:off x="0" y="0"/>
                <a:ext cx="3063273" cy="310147"/>
              </a:xfrm>
              <a:custGeom>
                <a:avLst/>
                <a:gdLst/>
                <a:ahLst/>
                <a:cxnLst/>
                <a:rect r="r" b="b" t="t" l="l"/>
                <a:pathLst>
                  <a:path h="310147" w="3063273">
                    <a:moveTo>
                      <a:pt x="0" y="0"/>
                    </a:moveTo>
                    <a:lnTo>
                      <a:pt x="3063273" y="0"/>
                    </a:lnTo>
                    <a:lnTo>
                      <a:pt x="3063273"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7" id="17"/>
              <p:cNvSpPr txBox="true"/>
              <p:nvPr/>
            </p:nvSpPr>
            <p:spPr>
              <a:xfrm>
                <a:off x="0" y="-57150"/>
                <a:ext cx="3063273" cy="367297"/>
              </a:xfrm>
              <a:prstGeom prst="rect">
                <a:avLst/>
              </a:prstGeom>
            </p:spPr>
            <p:txBody>
              <a:bodyPr anchor="ctr" rtlCol="false" tIns="50800" lIns="50800" bIns="50800" rIns="50800"/>
              <a:lstStyle/>
              <a:p>
                <a:pPr algn="ctr">
                  <a:lnSpc>
                    <a:spcPts val="3223"/>
                  </a:lnSpc>
                </a:pPr>
              </a:p>
            </p:txBody>
          </p:sp>
        </p:grpSp>
        <p:sp>
          <p:nvSpPr>
            <p:cNvPr name="TextBox 18" id="18"/>
            <p:cNvSpPr txBox="true"/>
            <p:nvPr/>
          </p:nvSpPr>
          <p:spPr>
            <a:xfrm rot="0">
              <a:off x="413143" y="98148"/>
              <a:ext cx="12746017"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RELATED WORKS ON THIS TOPIC</a:t>
              </a:r>
            </a:p>
          </p:txBody>
        </p:sp>
      </p:grpSp>
      <p:sp>
        <p:nvSpPr>
          <p:cNvPr name="AutoShape 19" id="19"/>
          <p:cNvSpPr/>
          <p:nvPr/>
        </p:nvSpPr>
        <p:spPr>
          <a:xfrm>
            <a:off x="7891929" y="2531791"/>
            <a:ext cx="2504141" cy="0"/>
          </a:xfrm>
          <a:prstGeom prst="line">
            <a:avLst/>
          </a:prstGeom>
          <a:ln cap="rnd" w="114300">
            <a:solidFill>
              <a:srgbClr val="000000"/>
            </a:solidFill>
            <a:prstDash val="sysDot"/>
            <a:headEnd type="none" len="sm" w="sm"/>
            <a:tailEnd type="none" len="sm" w="sm"/>
          </a:ln>
        </p:spPr>
      </p:sp>
      <p:sp>
        <p:nvSpPr>
          <p:cNvPr name="AutoShape 20" id="20"/>
          <p:cNvSpPr/>
          <p:nvPr/>
        </p:nvSpPr>
        <p:spPr>
          <a:xfrm>
            <a:off x="7891929" y="9911656"/>
            <a:ext cx="2504141" cy="0"/>
          </a:xfrm>
          <a:prstGeom prst="line">
            <a:avLst/>
          </a:prstGeom>
          <a:ln cap="rnd" w="114300">
            <a:solidFill>
              <a:srgbClr val="000000"/>
            </a:solidFill>
            <a:prstDash val="sysDot"/>
            <a:headEnd type="none" len="sm" w="sm"/>
            <a:tailEnd type="none" len="sm" w="sm"/>
          </a:ln>
        </p:spPr>
      </p:sp>
      <p:sp>
        <p:nvSpPr>
          <p:cNvPr name="Freeform 21" id="21"/>
          <p:cNvSpPr/>
          <p:nvPr/>
        </p:nvSpPr>
        <p:spPr>
          <a:xfrm flipH="false" flipV="false" rot="0">
            <a:off x="1384682" y="2823890"/>
            <a:ext cx="7611455" cy="2639370"/>
          </a:xfrm>
          <a:custGeom>
            <a:avLst/>
            <a:gdLst/>
            <a:ahLst/>
            <a:cxnLst/>
            <a:rect r="r" b="b" t="t" l="l"/>
            <a:pathLst>
              <a:path h="2639370" w="7611455">
                <a:moveTo>
                  <a:pt x="0" y="0"/>
                </a:moveTo>
                <a:lnTo>
                  <a:pt x="7611455" y="0"/>
                </a:lnTo>
                <a:lnTo>
                  <a:pt x="7611455" y="2639370"/>
                </a:lnTo>
                <a:lnTo>
                  <a:pt x="0" y="2639370"/>
                </a:lnTo>
                <a:lnTo>
                  <a:pt x="0" y="0"/>
                </a:lnTo>
                <a:close/>
              </a:path>
            </a:pathLst>
          </a:custGeom>
          <a:blipFill>
            <a:blip r:embed="rId12"/>
            <a:stretch>
              <a:fillRect l="0" t="-50872" r="-8740" b="-94901"/>
            </a:stretch>
          </a:blipFill>
        </p:spPr>
      </p:sp>
      <p:sp>
        <p:nvSpPr>
          <p:cNvPr name="Freeform 22" id="22"/>
          <p:cNvSpPr/>
          <p:nvPr/>
        </p:nvSpPr>
        <p:spPr>
          <a:xfrm flipH="false" flipV="false" rot="0">
            <a:off x="9560947" y="2809632"/>
            <a:ext cx="7583216" cy="2653628"/>
          </a:xfrm>
          <a:custGeom>
            <a:avLst/>
            <a:gdLst/>
            <a:ahLst/>
            <a:cxnLst/>
            <a:rect r="r" b="b" t="t" l="l"/>
            <a:pathLst>
              <a:path h="2653628" w="7583216">
                <a:moveTo>
                  <a:pt x="0" y="0"/>
                </a:moveTo>
                <a:lnTo>
                  <a:pt x="7583215" y="0"/>
                </a:lnTo>
                <a:lnTo>
                  <a:pt x="7583215" y="2653628"/>
                </a:lnTo>
                <a:lnTo>
                  <a:pt x="0" y="2653628"/>
                </a:lnTo>
                <a:lnTo>
                  <a:pt x="0" y="0"/>
                </a:lnTo>
                <a:close/>
              </a:path>
            </a:pathLst>
          </a:custGeom>
          <a:blipFill>
            <a:blip r:embed="rId13"/>
            <a:stretch>
              <a:fillRect l="0" t="-6032" r="0" b="-23991"/>
            </a:stretch>
          </a:blipFill>
        </p:spPr>
      </p:sp>
      <p:sp>
        <p:nvSpPr>
          <p:cNvPr name="Freeform 23" id="23"/>
          <p:cNvSpPr/>
          <p:nvPr/>
        </p:nvSpPr>
        <p:spPr>
          <a:xfrm flipH="false" flipV="false" rot="0">
            <a:off x="5022088" y="6418060"/>
            <a:ext cx="8507225" cy="2727778"/>
          </a:xfrm>
          <a:custGeom>
            <a:avLst/>
            <a:gdLst/>
            <a:ahLst/>
            <a:cxnLst/>
            <a:rect r="r" b="b" t="t" l="l"/>
            <a:pathLst>
              <a:path h="2727778" w="8507225">
                <a:moveTo>
                  <a:pt x="0" y="0"/>
                </a:moveTo>
                <a:lnTo>
                  <a:pt x="8507225" y="0"/>
                </a:lnTo>
                <a:lnTo>
                  <a:pt x="8507225" y="2727778"/>
                </a:lnTo>
                <a:lnTo>
                  <a:pt x="0" y="2727778"/>
                </a:lnTo>
                <a:lnTo>
                  <a:pt x="0" y="0"/>
                </a:lnTo>
                <a:close/>
              </a:path>
            </a:pathLst>
          </a:custGeom>
          <a:blipFill>
            <a:blip r:embed="rId14"/>
            <a:stretch>
              <a:fillRect l="-2288" t="0" r="-1144" b="0"/>
            </a:stretch>
          </a:blipFill>
        </p:spPr>
      </p:sp>
      <p:sp>
        <p:nvSpPr>
          <p:cNvPr name="TextBox 24" id="24"/>
          <p:cNvSpPr txBox="true"/>
          <p:nvPr/>
        </p:nvSpPr>
        <p:spPr>
          <a:xfrm rot="0">
            <a:off x="2516746" y="5714421"/>
            <a:ext cx="5197436" cy="398721"/>
          </a:xfrm>
          <a:prstGeom prst="rect">
            <a:avLst/>
          </a:prstGeom>
        </p:spPr>
        <p:txBody>
          <a:bodyPr anchor="t" rtlCol="false" tIns="0" lIns="0" bIns="0" rIns="0">
            <a:spAutoFit/>
          </a:bodyPr>
          <a:lstStyle/>
          <a:p>
            <a:pPr algn="ctr">
              <a:lnSpc>
                <a:spcPts val="3223"/>
              </a:lnSpc>
              <a:spcBef>
                <a:spcPct val="0"/>
              </a:spcBef>
            </a:pPr>
            <a:r>
              <a:rPr lang="en-US" sz="2302">
                <a:solidFill>
                  <a:srgbClr val="000000"/>
                </a:solidFill>
                <a:latin typeface="Poppins"/>
                <a:ea typeface="Poppins"/>
                <a:cs typeface="Poppins"/>
                <a:sym typeface="Poppins"/>
              </a:rPr>
              <a:t>Publication Date: 10 December 2023</a:t>
            </a:r>
          </a:p>
        </p:txBody>
      </p:sp>
      <p:sp>
        <p:nvSpPr>
          <p:cNvPr name="TextBox 25" id="25"/>
          <p:cNvSpPr txBox="true"/>
          <p:nvPr/>
        </p:nvSpPr>
        <p:spPr>
          <a:xfrm rot="0">
            <a:off x="11122068" y="5714421"/>
            <a:ext cx="4460974" cy="398721"/>
          </a:xfrm>
          <a:prstGeom prst="rect">
            <a:avLst/>
          </a:prstGeom>
        </p:spPr>
        <p:txBody>
          <a:bodyPr anchor="t" rtlCol="false" tIns="0" lIns="0" bIns="0" rIns="0">
            <a:spAutoFit/>
          </a:bodyPr>
          <a:lstStyle/>
          <a:p>
            <a:pPr algn="ctr">
              <a:lnSpc>
                <a:spcPts val="3223"/>
              </a:lnSpc>
              <a:spcBef>
                <a:spcPct val="0"/>
              </a:spcBef>
            </a:pPr>
            <a:r>
              <a:rPr lang="en-US" sz="2302">
                <a:solidFill>
                  <a:srgbClr val="000000"/>
                </a:solidFill>
                <a:latin typeface="Poppins"/>
                <a:ea typeface="Poppins"/>
                <a:cs typeface="Poppins"/>
                <a:sym typeface="Poppins"/>
              </a:rPr>
              <a:t>Publication Date: 20 April 2023 </a:t>
            </a:r>
          </a:p>
        </p:txBody>
      </p:sp>
      <p:sp>
        <p:nvSpPr>
          <p:cNvPr name="TextBox 26" id="26"/>
          <p:cNvSpPr txBox="true"/>
          <p:nvPr/>
        </p:nvSpPr>
        <p:spPr>
          <a:xfrm rot="0">
            <a:off x="7266017" y="9191625"/>
            <a:ext cx="4589859" cy="424756"/>
          </a:xfrm>
          <a:prstGeom prst="rect">
            <a:avLst/>
          </a:prstGeom>
        </p:spPr>
        <p:txBody>
          <a:bodyPr anchor="t" rtlCol="false" tIns="0" lIns="0" bIns="0" rIns="0">
            <a:spAutoFit/>
          </a:bodyPr>
          <a:lstStyle/>
          <a:p>
            <a:pPr algn="ctr">
              <a:lnSpc>
                <a:spcPts val="3363"/>
              </a:lnSpc>
              <a:spcBef>
                <a:spcPct val="0"/>
              </a:spcBef>
            </a:pPr>
            <a:r>
              <a:rPr lang="en-US" sz="2402">
                <a:solidFill>
                  <a:srgbClr val="000000"/>
                </a:solidFill>
                <a:latin typeface="Poppins"/>
                <a:ea typeface="Poppins"/>
                <a:cs typeface="Poppins"/>
                <a:sym typeface="Poppins"/>
              </a:rPr>
              <a:t>Publication Date: 04 April 2023</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2342312" y="3729248"/>
            <a:ext cx="4410488" cy="3940997"/>
            <a:chOff x="0" y="0"/>
            <a:chExt cx="1161610" cy="1037958"/>
          </a:xfrm>
        </p:grpSpPr>
        <p:sp>
          <p:nvSpPr>
            <p:cNvPr name="Freeform 15" id="15"/>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16" id="16"/>
            <p:cNvSpPr txBox="true"/>
            <p:nvPr/>
          </p:nvSpPr>
          <p:spPr>
            <a:xfrm>
              <a:off x="0" y="-57150"/>
              <a:ext cx="1161610" cy="1095108"/>
            </a:xfrm>
            <a:prstGeom prst="rect">
              <a:avLst/>
            </a:prstGeom>
          </p:spPr>
          <p:txBody>
            <a:bodyPr anchor="ctr" rtlCol="false" tIns="50800" lIns="50800" bIns="50800" rIns="50800"/>
            <a:lstStyle/>
            <a:p>
              <a:pPr algn="ctr">
                <a:lnSpc>
                  <a:spcPts val="3223"/>
                </a:lnSpc>
              </a:pPr>
            </a:p>
          </p:txBody>
        </p:sp>
      </p:grpSp>
      <p:grpSp>
        <p:nvGrpSpPr>
          <p:cNvPr name="Group 17" id="17"/>
          <p:cNvGrpSpPr/>
          <p:nvPr/>
        </p:nvGrpSpPr>
        <p:grpSpPr>
          <a:xfrm rot="0">
            <a:off x="11535201" y="3729248"/>
            <a:ext cx="4410488" cy="3940997"/>
            <a:chOff x="0" y="0"/>
            <a:chExt cx="1161610" cy="1037958"/>
          </a:xfrm>
        </p:grpSpPr>
        <p:sp>
          <p:nvSpPr>
            <p:cNvPr name="Freeform 18" id="18"/>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19" id="19"/>
            <p:cNvSpPr txBox="true"/>
            <p:nvPr/>
          </p:nvSpPr>
          <p:spPr>
            <a:xfrm>
              <a:off x="0" y="-57150"/>
              <a:ext cx="1161610" cy="1095108"/>
            </a:xfrm>
            <a:prstGeom prst="rect">
              <a:avLst/>
            </a:prstGeom>
          </p:spPr>
          <p:txBody>
            <a:bodyPr anchor="ctr" rtlCol="false" tIns="50800" lIns="50800" bIns="50800" rIns="50800"/>
            <a:lstStyle/>
            <a:p>
              <a:pPr algn="ctr">
                <a:lnSpc>
                  <a:spcPts val="3223"/>
                </a:lnSpc>
              </a:pPr>
            </a:p>
            <a:p>
              <a:pPr algn="ctr">
                <a:lnSpc>
                  <a:spcPts val="3223"/>
                </a:lnSpc>
              </a:pPr>
              <a:r>
                <a:rPr lang="en-US" sz="2302">
                  <a:solidFill>
                    <a:srgbClr val="000000"/>
                  </a:solidFill>
                  <a:latin typeface="Poppins"/>
                  <a:ea typeface="Poppins"/>
                  <a:cs typeface="Poppins"/>
                  <a:sym typeface="Poppins"/>
                </a:rPr>
                <a:t>This paper explores the black-box problem in AI and particularly in the legal context. It arises issues such as opacity, justification etc. And they analyze and unpredictability and suggest ways to mitigate them.</a:t>
              </a:r>
            </a:p>
          </p:txBody>
        </p:sp>
      </p:grpSp>
      <p:grpSp>
        <p:nvGrpSpPr>
          <p:cNvPr name="Group 20" id="20"/>
          <p:cNvGrpSpPr/>
          <p:nvPr/>
        </p:nvGrpSpPr>
        <p:grpSpPr>
          <a:xfrm rot="0">
            <a:off x="6953263" y="3729248"/>
            <a:ext cx="4410488" cy="3940997"/>
            <a:chOff x="0" y="0"/>
            <a:chExt cx="1161610" cy="1037958"/>
          </a:xfrm>
        </p:grpSpPr>
        <p:sp>
          <p:nvSpPr>
            <p:cNvPr name="Freeform 21" id="21"/>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22" id="22"/>
            <p:cNvSpPr txBox="true"/>
            <p:nvPr/>
          </p:nvSpPr>
          <p:spPr>
            <a:xfrm>
              <a:off x="0" y="-57150"/>
              <a:ext cx="1161610" cy="1095108"/>
            </a:xfrm>
            <a:prstGeom prst="rect">
              <a:avLst/>
            </a:prstGeom>
          </p:spPr>
          <p:txBody>
            <a:bodyPr anchor="ctr" rtlCol="false" tIns="50800" lIns="50800" bIns="50800" rIns="50800"/>
            <a:lstStyle/>
            <a:p>
              <a:pPr algn="ctr">
                <a:lnSpc>
                  <a:spcPts val="3223"/>
                </a:lnSpc>
              </a:pPr>
            </a:p>
            <a:p>
              <a:pPr algn="ctr">
                <a:lnSpc>
                  <a:spcPts val="3223"/>
                </a:lnSpc>
              </a:pPr>
              <a:r>
                <a:rPr lang="en-US" sz="2302">
                  <a:solidFill>
                    <a:srgbClr val="000000"/>
                  </a:solidFill>
                  <a:latin typeface="Poppins"/>
                  <a:ea typeface="Poppins"/>
                  <a:cs typeface="Poppins"/>
                  <a:sym typeface="Poppins"/>
                </a:rPr>
                <a:t>This paper implements and evaluates explainable decision-support tools for deciding legal cases, specially under the European Convention of human rights. So that explainations are understandable to the users.  </a:t>
              </a:r>
            </a:p>
          </p:txBody>
        </p:sp>
      </p:grpSp>
      <p:sp>
        <p:nvSpPr>
          <p:cNvPr name="TextBox 23" id="23"/>
          <p:cNvSpPr txBox="true"/>
          <p:nvPr/>
        </p:nvSpPr>
        <p:spPr>
          <a:xfrm rot="0">
            <a:off x="2572108" y="4067452"/>
            <a:ext cx="3947814" cy="3683134"/>
          </a:xfrm>
          <a:prstGeom prst="rect">
            <a:avLst/>
          </a:prstGeom>
        </p:spPr>
        <p:txBody>
          <a:bodyPr anchor="t" rtlCol="false" tIns="0" lIns="0" bIns="0" rIns="0">
            <a:spAutoFit/>
          </a:bodyPr>
          <a:lstStyle/>
          <a:p>
            <a:pPr algn="ctr">
              <a:lnSpc>
                <a:spcPts val="3287"/>
              </a:lnSpc>
            </a:pPr>
            <a:r>
              <a:rPr lang="en-US" sz="2348">
                <a:solidFill>
                  <a:srgbClr val="000000"/>
                </a:solidFill>
                <a:latin typeface="Poppins"/>
                <a:ea typeface="Poppins"/>
                <a:cs typeface="Poppins"/>
                <a:sym typeface="Poppins"/>
              </a:rPr>
              <a:t>The authors emphasize the importance of understanding the heterogeneous nature of legal reasoning and the need for AI systems to be designed with explainability in mind.</a:t>
            </a:r>
          </a:p>
          <a:p>
            <a:pPr algn="just">
              <a:lnSpc>
                <a:spcPts val="3287"/>
              </a:lnSpc>
              <a:spcBef>
                <a:spcPct val="0"/>
              </a:spcBef>
            </a:pPr>
          </a:p>
        </p:txBody>
      </p:sp>
      <p:grpSp>
        <p:nvGrpSpPr>
          <p:cNvPr name="Group 24" id="24"/>
          <p:cNvGrpSpPr/>
          <p:nvPr/>
        </p:nvGrpSpPr>
        <p:grpSpPr>
          <a:xfrm rot="0">
            <a:off x="6366890" y="1241246"/>
            <a:ext cx="5538711" cy="1030616"/>
            <a:chOff x="0" y="0"/>
            <a:chExt cx="1666785" cy="310147"/>
          </a:xfrm>
        </p:grpSpPr>
        <p:sp>
          <p:nvSpPr>
            <p:cNvPr name="Freeform 25" id="25"/>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6" id="26"/>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27" id="27"/>
          <p:cNvSpPr txBox="true"/>
          <p:nvPr/>
        </p:nvSpPr>
        <p:spPr>
          <a:xfrm rot="0">
            <a:off x="6560546" y="1281534"/>
            <a:ext cx="5151398" cy="816690"/>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LITERARY REVIEW</a:t>
            </a:r>
          </a:p>
        </p:txBody>
      </p:sp>
      <p:sp>
        <p:nvSpPr>
          <p:cNvPr name="AutoShape 28" id="28"/>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9" id="29"/>
          <p:cNvSpPr/>
          <p:nvPr/>
        </p:nvSpPr>
        <p:spPr>
          <a:xfrm>
            <a:off x="7884175" y="8323822"/>
            <a:ext cx="2504141" cy="0"/>
          </a:xfrm>
          <a:prstGeom prst="line">
            <a:avLst/>
          </a:prstGeom>
          <a:ln cap="rnd" w="114300">
            <a:solidFill>
              <a:srgbClr val="000000"/>
            </a:solidFill>
            <a:prstDash val="sysDot"/>
            <a:headEnd type="none" len="sm" w="sm"/>
            <a:tailEnd type="none" len="sm" w="sm"/>
          </a:ln>
        </p:spPr>
      </p:sp>
      <p:grpSp>
        <p:nvGrpSpPr>
          <p:cNvPr name="Group 30" id="30"/>
          <p:cNvGrpSpPr/>
          <p:nvPr/>
        </p:nvGrpSpPr>
        <p:grpSpPr>
          <a:xfrm rot="0">
            <a:off x="4061173" y="3430149"/>
            <a:ext cx="972766" cy="598197"/>
            <a:chOff x="0" y="0"/>
            <a:chExt cx="568927" cy="349858"/>
          </a:xfrm>
        </p:grpSpPr>
        <p:sp>
          <p:nvSpPr>
            <p:cNvPr name="Freeform 31" id="31"/>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2" id="32"/>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grpSp>
        <p:nvGrpSpPr>
          <p:cNvPr name="Group 33" id="33"/>
          <p:cNvGrpSpPr/>
          <p:nvPr/>
        </p:nvGrpSpPr>
        <p:grpSpPr>
          <a:xfrm rot="0">
            <a:off x="13254244" y="3430149"/>
            <a:ext cx="972766" cy="598197"/>
            <a:chOff x="0" y="0"/>
            <a:chExt cx="568927" cy="349858"/>
          </a:xfrm>
        </p:grpSpPr>
        <p:sp>
          <p:nvSpPr>
            <p:cNvPr name="Freeform 34" id="34"/>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5" id="35"/>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grpSp>
        <p:nvGrpSpPr>
          <p:cNvPr name="Group 36" id="36"/>
          <p:cNvGrpSpPr/>
          <p:nvPr/>
        </p:nvGrpSpPr>
        <p:grpSpPr>
          <a:xfrm rot="0">
            <a:off x="8657617" y="3430149"/>
            <a:ext cx="972766" cy="598197"/>
            <a:chOff x="0" y="0"/>
            <a:chExt cx="568927" cy="349858"/>
          </a:xfrm>
        </p:grpSpPr>
        <p:sp>
          <p:nvSpPr>
            <p:cNvPr name="Freeform 37" id="37"/>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8" id="38"/>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sp>
        <p:nvSpPr>
          <p:cNvPr name="TextBox 39" id="39"/>
          <p:cNvSpPr txBox="true"/>
          <p:nvPr/>
        </p:nvSpPr>
        <p:spPr>
          <a:xfrm rot="0">
            <a:off x="4138869"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01</a:t>
            </a:r>
          </a:p>
        </p:txBody>
      </p:sp>
      <p:sp>
        <p:nvSpPr>
          <p:cNvPr name="TextBox 40" id="40"/>
          <p:cNvSpPr txBox="true"/>
          <p:nvPr/>
        </p:nvSpPr>
        <p:spPr>
          <a:xfrm rot="0">
            <a:off x="8723016"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02</a:t>
            </a:r>
          </a:p>
        </p:txBody>
      </p:sp>
      <p:sp>
        <p:nvSpPr>
          <p:cNvPr name="TextBox 41" id="41"/>
          <p:cNvSpPr txBox="true"/>
          <p:nvPr/>
        </p:nvSpPr>
        <p:spPr>
          <a:xfrm rot="0">
            <a:off x="13331758"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798730" y="7800406"/>
            <a:ext cx="2689827" cy="2689827"/>
          </a:xfrm>
          <a:custGeom>
            <a:avLst/>
            <a:gdLst/>
            <a:ahLst/>
            <a:cxnLst/>
            <a:rect r="r" b="b" t="t" l="l"/>
            <a:pathLst>
              <a:path h="2689827" w="2689827">
                <a:moveTo>
                  <a:pt x="0" y="0"/>
                </a:moveTo>
                <a:lnTo>
                  <a:pt x="2689827" y="0"/>
                </a:lnTo>
                <a:lnTo>
                  <a:pt x="2689827" y="2689827"/>
                </a:lnTo>
                <a:lnTo>
                  <a:pt x="0" y="26898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845015" cy="2845015"/>
          </a:xfrm>
          <a:custGeom>
            <a:avLst/>
            <a:gdLst/>
            <a:ahLst/>
            <a:cxnLst/>
            <a:rect r="r" b="b" t="t" l="l"/>
            <a:pathLst>
              <a:path h="2845015" w="2845015">
                <a:moveTo>
                  <a:pt x="0" y="0"/>
                </a:moveTo>
                <a:lnTo>
                  <a:pt x="2845015" y="0"/>
                </a:lnTo>
                <a:lnTo>
                  <a:pt x="2845015" y="2845015"/>
                </a:lnTo>
                <a:lnTo>
                  <a:pt x="0" y="2845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2961" y="8114637"/>
            <a:ext cx="2256463" cy="2256463"/>
          </a:xfrm>
          <a:custGeom>
            <a:avLst/>
            <a:gdLst/>
            <a:ahLst/>
            <a:cxnLst/>
            <a:rect r="r" b="b" t="t" l="l"/>
            <a:pathLst>
              <a:path h="2256463" w="2256463">
                <a:moveTo>
                  <a:pt x="0" y="0"/>
                </a:moveTo>
                <a:lnTo>
                  <a:pt x="2256463" y="0"/>
                </a:lnTo>
                <a:lnTo>
                  <a:pt x="2256463" y="2256463"/>
                </a:lnTo>
                <a:lnTo>
                  <a:pt x="0" y="2256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422791" cy="2422791"/>
          </a:xfrm>
          <a:custGeom>
            <a:avLst/>
            <a:gdLst/>
            <a:ahLst/>
            <a:cxnLst/>
            <a:rect r="r" b="b" t="t" l="l"/>
            <a:pathLst>
              <a:path h="2422791" w="2422791">
                <a:moveTo>
                  <a:pt x="0" y="0"/>
                </a:moveTo>
                <a:lnTo>
                  <a:pt x="2422791" y="0"/>
                </a:lnTo>
                <a:lnTo>
                  <a:pt x="2422791" y="2422790"/>
                </a:lnTo>
                <a:lnTo>
                  <a:pt x="0" y="2422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7133887" y="5519943"/>
            <a:ext cx="2757960" cy="2757960"/>
          </a:xfrm>
          <a:custGeom>
            <a:avLst/>
            <a:gdLst/>
            <a:ahLst/>
            <a:cxnLst/>
            <a:rect r="r" b="b" t="t" l="l"/>
            <a:pathLst>
              <a:path h="2757960" w="2757960">
                <a:moveTo>
                  <a:pt x="0" y="0"/>
                </a:moveTo>
                <a:lnTo>
                  <a:pt x="2757960" y="0"/>
                </a:lnTo>
                <a:lnTo>
                  <a:pt x="2757960" y="2757959"/>
                </a:lnTo>
                <a:lnTo>
                  <a:pt x="0" y="27579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2113973" y="1588203"/>
            <a:ext cx="3328479" cy="3328479"/>
          </a:xfrm>
          <a:custGeom>
            <a:avLst/>
            <a:gdLst/>
            <a:ahLst/>
            <a:cxnLst/>
            <a:rect r="r" b="b" t="t" l="l"/>
            <a:pathLst>
              <a:path h="3328479" w="3328479">
                <a:moveTo>
                  <a:pt x="0" y="0"/>
                </a:moveTo>
                <a:lnTo>
                  <a:pt x="3328479" y="0"/>
                </a:lnTo>
                <a:lnTo>
                  <a:pt x="3328479"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547803" y="3845976"/>
            <a:ext cx="9192394" cy="7988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We will use the publicly available Bangladeshi laws found at http://bdlaws.minlaw.gov.bd/ to train our model</a:t>
            </a:r>
          </a:p>
        </p:txBody>
      </p:sp>
      <p:sp>
        <p:nvSpPr>
          <p:cNvPr name="TextBox 15" id="15"/>
          <p:cNvSpPr txBox="true"/>
          <p:nvPr/>
        </p:nvSpPr>
        <p:spPr>
          <a:xfrm rot="0">
            <a:off x="3109425" y="6201476"/>
            <a:ext cx="12069149" cy="15989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After training the model, we will integrate it into a mobile/web app, enabling users to easily access legal information. The app will allow people to ask queries regarding their rights and laws. This will make legal information more accessible and efficient for users in Bangladesh.</a:t>
            </a:r>
          </a:p>
        </p:txBody>
      </p:sp>
      <p:grpSp>
        <p:nvGrpSpPr>
          <p:cNvPr name="Group 16" id="16"/>
          <p:cNvGrpSpPr/>
          <p:nvPr/>
        </p:nvGrpSpPr>
        <p:grpSpPr>
          <a:xfrm rot="0">
            <a:off x="4575364" y="1241246"/>
            <a:ext cx="9137273" cy="1030616"/>
            <a:chOff x="0" y="0"/>
            <a:chExt cx="12183031" cy="1374154"/>
          </a:xfrm>
        </p:grpSpPr>
        <p:grpSp>
          <p:nvGrpSpPr>
            <p:cNvPr name="Group 17" id="17"/>
            <p:cNvGrpSpPr/>
            <p:nvPr/>
          </p:nvGrpSpPr>
          <p:grpSpPr>
            <a:xfrm rot="0">
              <a:off x="408298" y="0"/>
              <a:ext cx="11345755" cy="1374154"/>
              <a:chOff x="0" y="0"/>
              <a:chExt cx="2560741" cy="310147"/>
            </a:xfrm>
          </p:grpSpPr>
          <p:sp>
            <p:nvSpPr>
              <p:cNvPr name="Freeform 18" id="18"/>
              <p:cNvSpPr/>
              <p:nvPr/>
            </p:nvSpPr>
            <p:spPr>
              <a:xfrm flipH="false" flipV="false" rot="0">
                <a:off x="0" y="0"/>
                <a:ext cx="2560741" cy="310147"/>
              </a:xfrm>
              <a:custGeom>
                <a:avLst/>
                <a:gdLst/>
                <a:ahLst/>
                <a:cxnLst/>
                <a:rect r="r" b="b" t="t" l="l"/>
                <a:pathLst>
                  <a:path h="310147" w="2560741">
                    <a:moveTo>
                      <a:pt x="0" y="0"/>
                    </a:moveTo>
                    <a:lnTo>
                      <a:pt x="2560741" y="0"/>
                    </a:lnTo>
                    <a:lnTo>
                      <a:pt x="2560741"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9" id="19"/>
              <p:cNvSpPr txBox="true"/>
              <p:nvPr/>
            </p:nvSpPr>
            <p:spPr>
              <a:xfrm>
                <a:off x="0" y="-57150"/>
                <a:ext cx="2560741" cy="367297"/>
              </a:xfrm>
              <a:prstGeom prst="rect">
                <a:avLst/>
              </a:prstGeom>
            </p:spPr>
            <p:txBody>
              <a:bodyPr anchor="ctr" rtlCol="false" tIns="50800" lIns="50800" bIns="50800" rIns="50800"/>
              <a:lstStyle/>
              <a:p>
                <a:pPr algn="ctr">
                  <a:lnSpc>
                    <a:spcPts val="3223"/>
                  </a:lnSpc>
                </a:pPr>
              </a:p>
            </p:txBody>
          </p:sp>
        </p:grpSp>
        <p:sp>
          <p:nvSpPr>
            <p:cNvPr name="TextBox 20" id="20"/>
            <p:cNvSpPr txBox="true"/>
            <p:nvPr/>
          </p:nvSpPr>
          <p:spPr>
            <a:xfrm rot="0">
              <a:off x="0" y="98148"/>
              <a:ext cx="12183031"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WHAT WE WANT TO DO</a:t>
              </a:r>
            </a:p>
          </p:txBody>
        </p:sp>
      </p:grpSp>
      <p:sp>
        <p:nvSpPr>
          <p:cNvPr name="AutoShape 21" id="21"/>
          <p:cNvSpPr/>
          <p:nvPr/>
        </p:nvSpPr>
        <p:spPr>
          <a:xfrm>
            <a:off x="7884175" y="8323822"/>
            <a:ext cx="2504141" cy="0"/>
          </a:xfrm>
          <a:prstGeom prst="line">
            <a:avLst/>
          </a:prstGeom>
          <a:ln cap="rnd" w="114300">
            <a:solidFill>
              <a:srgbClr val="000000"/>
            </a:solidFill>
            <a:prstDash val="sysDot"/>
            <a:headEnd type="none" len="sm" w="sm"/>
            <a:tailEnd type="none" len="sm" w="sm"/>
          </a:ln>
        </p:spPr>
      </p:sp>
      <p:grpSp>
        <p:nvGrpSpPr>
          <p:cNvPr name="Group 22" id="22"/>
          <p:cNvGrpSpPr/>
          <p:nvPr/>
        </p:nvGrpSpPr>
        <p:grpSpPr>
          <a:xfrm rot="0">
            <a:off x="5060540" y="2654245"/>
            <a:ext cx="8166921" cy="598197"/>
            <a:chOff x="0" y="0"/>
            <a:chExt cx="10889227" cy="797596"/>
          </a:xfrm>
        </p:grpSpPr>
        <p:grpSp>
          <p:nvGrpSpPr>
            <p:cNvPr name="Group 23" id="23"/>
            <p:cNvGrpSpPr/>
            <p:nvPr/>
          </p:nvGrpSpPr>
          <p:grpSpPr>
            <a:xfrm rot="0">
              <a:off x="0" y="0"/>
              <a:ext cx="10889227" cy="797596"/>
              <a:chOff x="0" y="0"/>
              <a:chExt cx="4776464" cy="349858"/>
            </a:xfrm>
          </p:grpSpPr>
          <p:sp>
            <p:nvSpPr>
              <p:cNvPr name="Freeform 24" id="24"/>
              <p:cNvSpPr/>
              <p:nvPr/>
            </p:nvSpPr>
            <p:spPr>
              <a:xfrm flipH="false" flipV="false" rot="0">
                <a:off x="0" y="0"/>
                <a:ext cx="4776464" cy="349858"/>
              </a:xfrm>
              <a:custGeom>
                <a:avLst/>
                <a:gdLst/>
                <a:ahLst/>
                <a:cxnLst/>
                <a:rect r="r" b="b" t="t" l="l"/>
                <a:pathLst>
                  <a:path h="349858" w="4776464">
                    <a:moveTo>
                      <a:pt x="0" y="0"/>
                    </a:moveTo>
                    <a:lnTo>
                      <a:pt x="4776464" y="0"/>
                    </a:lnTo>
                    <a:lnTo>
                      <a:pt x="4776464"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5" id="25"/>
              <p:cNvSpPr txBox="true"/>
              <p:nvPr/>
            </p:nvSpPr>
            <p:spPr>
              <a:xfrm>
                <a:off x="0" y="-57150"/>
                <a:ext cx="4776464" cy="407008"/>
              </a:xfrm>
              <a:prstGeom prst="rect">
                <a:avLst/>
              </a:prstGeom>
            </p:spPr>
            <p:txBody>
              <a:bodyPr anchor="ctr" rtlCol="false" tIns="50800" lIns="50800" bIns="50800" rIns="50800"/>
              <a:lstStyle/>
              <a:p>
                <a:pPr algn="ctr">
                  <a:lnSpc>
                    <a:spcPts val="3223"/>
                  </a:lnSpc>
                </a:pPr>
              </a:p>
            </p:txBody>
          </p:sp>
        </p:grpSp>
        <p:sp>
          <p:nvSpPr>
            <p:cNvPr name="TextBox 26" id="26"/>
            <p:cNvSpPr txBox="true"/>
            <p:nvPr/>
          </p:nvSpPr>
          <p:spPr>
            <a:xfrm rot="0">
              <a:off x="363664" y="50818"/>
              <a:ext cx="10161900" cy="619760"/>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FFFFFF"/>
                  </a:solidFill>
                  <a:latin typeface="Poppins Bold"/>
                  <a:ea typeface="Poppins Bold"/>
                  <a:cs typeface="Poppins Bold"/>
                  <a:sym typeface="Poppins Bold"/>
                </a:rPr>
                <a:t>TRAIN AN AI MODEL ON BANGLADESHI LAWS</a:t>
              </a:r>
            </a:p>
          </p:txBody>
        </p:sp>
      </p:grpSp>
      <p:grpSp>
        <p:nvGrpSpPr>
          <p:cNvPr name="Group 27" id="27"/>
          <p:cNvGrpSpPr/>
          <p:nvPr/>
        </p:nvGrpSpPr>
        <p:grpSpPr>
          <a:xfrm rot="0">
            <a:off x="5060540" y="5295490"/>
            <a:ext cx="8166921" cy="598197"/>
            <a:chOff x="0" y="0"/>
            <a:chExt cx="10889227" cy="797596"/>
          </a:xfrm>
        </p:grpSpPr>
        <p:grpSp>
          <p:nvGrpSpPr>
            <p:cNvPr name="Group 28" id="28"/>
            <p:cNvGrpSpPr/>
            <p:nvPr/>
          </p:nvGrpSpPr>
          <p:grpSpPr>
            <a:xfrm rot="0">
              <a:off x="0" y="0"/>
              <a:ext cx="10889227" cy="797596"/>
              <a:chOff x="0" y="0"/>
              <a:chExt cx="4776464" cy="349858"/>
            </a:xfrm>
          </p:grpSpPr>
          <p:sp>
            <p:nvSpPr>
              <p:cNvPr name="Freeform 29" id="29"/>
              <p:cNvSpPr/>
              <p:nvPr/>
            </p:nvSpPr>
            <p:spPr>
              <a:xfrm flipH="false" flipV="false" rot="0">
                <a:off x="0" y="0"/>
                <a:ext cx="4776464" cy="349858"/>
              </a:xfrm>
              <a:custGeom>
                <a:avLst/>
                <a:gdLst/>
                <a:ahLst/>
                <a:cxnLst/>
                <a:rect r="r" b="b" t="t" l="l"/>
                <a:pathLst>
                  <a:path h="349858" w="4776464">
                    <a:moveTo>
                      <a:pt x="0" y="0"/>
                    </a:moveTo>
                    <a:lnTo>
                      <a:pt x="4776464" y="0"/>
                    </a:lnTo>
                    <a:lnTo>
                      <a:pt x="4776464"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0" id="30"/>
              <p:cNvSpPr txBox="true"/>
              <p:nvPr/>
            </p:nvSpPr>
            <p:spPr>
              <a:xfrm>
                <a:off x="0" y="-57150"/>
                <a:ext cx="4776464" cy="407008"/>
              </a:xfrm>
              <a:prstGeom prst="rect">
                <a:avLst/>
              </a:prstGeom>
            </p:spPr>
            <p:txBody>
              <a:bodyPr anchor="ctr" rtlCol="false" tIns="50800" lIns="50800" bIns="50800" rIns="50800"/>
              <a:lstStyle/>
              <a:p>
                <a:pPr algn="ctr">
                  <a:lnSpc>
                    <a:spcPts val="3223"/>
                  </a:lnSpc>
                </a:pPr>
              </a:p>
            </p:txBody>
          </p:sp>
        </p:grpSp>
        <p:sp>
          <p:nvSpPr>
            <p:cNvPr name="TextBox 31" id="31"/>
            <p:cNvSpPr txBox="true"/>
            <p:nvPr/>
          </p:nvSpPr>
          <p:spPr>
            <a:xfrm rot="0">
              <a:off x="363664" y="50818"/>
              <a:ext cx="10161900" cy="619760"/>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FFFFFF"/>
                  </a:solidFill>
                  <a:latin typeface="Poppins Bold"/>
                  <a:ea typeface="Poppins Bold"/>
                  <a:cs typeface="Poppins Bold"/>
                  <a:sym typeface="Poppins Bold"/>
                </a:rPr>
                <a:t>CREATE AN APPLICATION/CHAT BOT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3210721" y="3857614"/>
            <a:ext cx="5729748" cy="3556649"/>
            <a:chOff x="0" y="0"/>
            <a:chExt cx="1509069" cy="936731"/>
          </a:xfrm>
        </p:grpSpPr>
        <p:sp>
          <p:nvSpPr>
            <p:cNvPr name="Freeform 15" id="15"/>
            <p:cNvSpPr/>
            <p:nvPr/>
          </p:nvSpPr>
          <p:spPr>
            <a:xfrm flipH="false" flipV="false" rot="0">
              <a:off x="0" y="0"/>
              <a:ext cx="1509069" cy="936731"/>
            </a:xfrm>
            <a:custGeom>
              <a:avLst/>
              <a:gdLst/>
              <a:ahLst/>
              <a:cxnLst/>
              <a:rect r="r" b="b" t="t" l="l"/>
              <a:pathLst>
                <a:path h="936731" w="1509069">
                  <a:moveTo>
                    <a:pt x="0" y="0"/>
                  </a:moveTo>
                  <a:lnTo>
                    <a:pt x="1509069" y="0"/>
                  </a:lnTo>
                  <a:lnTo>
                    <a:pt x="1509069" y="936731"/>
                  </a:lnTo>
                  <a:lnTo>
                    <a:pt x="0" y="936731"/>
                  </a:lnTo>
                  <a:close/>
                </a:path>
              </a:pathLst>
            </a:custGeom>
            <a:solidFill>
              <a:srgbClr val="000000">
                <a:alpha val="0"/>
              </a:srgbClr>
            </a:solidFill>
            <a:ln w="38100" cap="sq">
              <a:solidFill>
                <a:srgbClr val="000000"/>
              </a:solidFill>
              <a:prstDash val="solid"/>
              <a:miter/>
            </a:ln>
          </p:spPr>
        </p:sp>
        <p:sp>
          <p:nvSpPr>
            <p:cNvPr name="TextBox 16" id="16"/>
            <p:cNvSpPr txBox="true"/>
            <p:nvPr/>
          </p:nvSpPr>
          <p:spPr>
            <a:xfrm>
              <a:off x="0" y="-57150"/>
              <a:ext cx="1509069" cy="993881"/>
            </a:xfrm>
            <a:prstGeom prst="rect">
              <a:avLst/>
            </a:prstGeom>
          </p:spPr>
          <p:txBody>
            <a:bodyPr anchor="ctr" rtlCol="false" tIns="50800" lIns="50800" bIns="50800" rIns="50800"/>
            <a:lstStyle/>
            <a:p>
              <a:pPr algn="ctr">
                <a:lnSpc>
                  <a:spcPts val="3223"/>
                </a:lnSpc>
              </a:pPr>
            </a:p>
          </p:txBody>
        </p:sp>
      </p:grpSp>
      <p:grpSp>
        <p:nvGrpSpPr>
          <p:cNvPr name="Group 17" id="17"/>
          <p:cNvGrpSpPr/>
          <p:nvPr/>
        </p:nvGrpSpPr>
        <p:grpSpPr>
          <a:xfrm rot="0">
            <a:off x="9347531" y="3857614"/>
            <a:ext cx="5729748" cy="3556649"/>
            <a:chOff x="0" y="0"/>
            <a:chExt cx="1509069" cy="936731"/>
          </a:xfrm>
        </p:grpSpPr>
        <p:sp>
          <p:nvSpPr>
            <p:cNvPr name="Freeform 18" id="18"/>
            <p:cNvSpPr/>
            <p:nvPr/>
          </p:nvSpPr>
          <p:spPr>
            <a:xfrm flipH="false" flipV="false" rot="0">
              <a:off x="0" y="0"/>
              <a:ext cx="1509069" cy="936731"/>
            </a:xfrm>
            <a:custGeom>
              <a:avLst/>
              <a:gdLst/>
              <a:ahLst/>
              <a:cxnLst/>
              <a:rect r="r" b="b" t="t" l="l"/>
              <a:pathLst>
                <a:path h="936731" w="1509069">
                  <a:moveTo>
                    <a:pt x="0" y="0"/>
                  </a:moveTo>
                  <a:lnTo>
                    <a:pt x="1509069" y="0"/>
                  </a:lnTo>
                  <a:lnTo>
                    <a:pt x="1509069" y="936731"/>
                  </a:lnTo>
                  <a:lnTo>
                    <a:pt x="0" y="936731"/>
                  </a:lnTo>
                  <a:close/>
                </a:path>
              </a:pathLst>
            </a:custGeom>
            <a:solidFill>
              <a:srgbClr val="000000">
                <a:alpha val="0"/>
              </a:srgbClr>
            </a:solidFill>
            <a:ln w="38100" cap="sq">
              <a:solidFill>
                <a:srgbClr val="000000"/>
              </a:solidFill>
              <a:prstDash val="solid"/>
              <a:miter/>
            </a:ln>
          </p:spPr>
        </p:sp>
        <p:sp>
          <p:nvSpPr>
            <p:cNvPr name="TextBox 19" id="19"/>
            <p:cNvSpPr txBox="true"/>
            <p:nvPr/>
          </p:nvSpPr>
          <p:spPr>
            <a:xfrm>
              <a:off x="0" y="-57150"/>
              <a:ext cx="1509069" cy="993881"/>
            </a:xfrm>
            <a:prstGeom prst="rect">
              <a:avLst/>
            </a:prstGeom>
          </p:spPr>
          <p:txBody>
            <a:bodyPr anchor="ctr" rtlCol="false" tIns="50800" lIns="50800" bIns="50800" rIns="50800"/>
            <a:lstStyle/>
            <a:p>
              <a:pPr algn="ctr">
                <a:lnSpc>
                  <a:spcPts val="3223"/>
                </a:lnSpc>
              </a:pPr>
            </a:p>
          </p:txBody>
        </p:sp>
      </p:grpSp>
      <p:sp>
        <p:nvSpPr>
          <p:cNvPr name="TextBox 20" id="20"/>
          <p:cNvSpPr txBox="true"/>
          <p:nvPr/>
        </p:nvSpPr>
        <p:spPr>
          <a:xfrm rot="0">
            <a:off x="3597115" y="4207823"/>
            <a:ext cx="4956960" cy="279908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The Laws of Bangladesh (</a:t>
            </a:r>
            <a:r>
              <a:rPr lang="en-US" sz="2300" u="sng">
                <a:solidFill>
                  <a:srgbClr val="000000"/>
                </a:solidFill>
                <a:latin typeface="Poppins"/>
                <a:ea typeface="Poppins"/>
                <a:cs typeface="Poppins"/>
                <a:sym typeface="Poppins"/>
                <a:hlinkClick r:id="rId12" tooltip="http://bdlaws.minlaw.gov.bd"/>
              </a:rPr>
              <a:t>http://bdlaws.minlaw.gov.bd/</a:t>
            </a:r>
            <a:r>
              <a:rPr lang="en-US" sz="2300">
                <a:solidFill>
                  <a:srgbClr val="000000"/>
                </a:solidFill>
                <a:latin typeface="Poppins"/>
                <a:ea typeface="Poppins"/>
                <a:cs typeface="Poppins"/>
                <a:sym typeface="Poppins"/>
              </a:rPr>
              <a:t>) is presented in both English and Bangla, creating challenges for NLP model training. This linguistic inconsistency complicates text preprocessing.</a:t>
            </a:r>
          </a:p>
        </p:txBody>
      </p:sp>
      <p:sp>
        <p:nvSpPr>
          <p:cNvPr name="TextBox 21" id="21"/>
          <p:cNvSpPr txBox="true"/>
          <p:nvPr/>
        </p:nvSpPr>
        <p:spPr>
          <a:xfrm rot="0">
            <a:off x="9733925" y="4408173"/>
            <a:ext cx="4956960" cy="23990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Developing an AI model for legal advice may have unforeseen legal implications, including liability risks and regulatory challenges, which need careful consideration.</a:t>
            </a:r>
          </a:p>
        </p:txBody>
      </p:sp>
      <p:grpSp>
        <p:nvGrpSpPr>
          <p:cNvPr name="Group 22" id="22"/>
          <p:cNvGrpSpPr/>
          <p:nvPr/>
        </p:nvGrpSpPr>
        <p:grpSpPr>
          <a:xfrm rot="0">
            <a:off x="6366890" y="1241246"/>
            <a:ext cx="5538711" cy="1030616"/>
            <a:chOff x="0" y="0"/>
            <a:chExt cx="1666785" cy="310147"/>
          </a:xfrm>
        </p:grpSpPr>
        <p:sp>
          <p:nvSpPr>
            <p:cNvPr name="Freeform 23" id="23"/>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4" id="24"/>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25" id="25"/>
          <p:cNvSpPr txBox="true"/>
          <p:nvPr/>
        </p:nvSpPr>
        <p:spPr>
          <a:xfrm rot="0">
            <a:off x="7088112" y="1281534"/>
            <a:ext cx="4096267"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CHALLENGES</a:t>
            </a:r>
          </a:p>
        </p:txBody>
      </p:sp>
      <p:sp>
        <p:nvSpPr>
          <p:cNvPr name="AutoShape 26" id="26"/>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7" id="27"/>
          <p:cNvSpPr/>
          <p:nvPr/>
        </p:nvSpPr>
        <p:spPr>
          <a:xfrm>
            <a:off x="7884175" y="8323822"/>
            <a:ext cx="2504141" cy="0"/>
          </a:xfrm>
          <a:prstGeom prst="line">
            <a:avLst/>
          </a:prstGeom>
          <a:ln cap="rnd" w="114300">
            <a:solidFill>
              <a:srgbClr val="000000"/>
            </a:solidFill>
            <a:prstDash val="sysDot"/>
            <a:headEnd type="none" len="sm" w="sm"/>
            <a:tailEnd type="none" len="sm" w="sm"/>
          </a:ln>
        </p:spPr>
      </p:sp>
      <p:grpSp>
        <p:nvGrpSpPr>
          <p:cNvPr name="Group 28" id="28"/>
          <p:cNvGrpSpPr/>
          <p:nvPr/>
        </p:nvGrpSpPr>
        <p:grpSpPr>
          <a:xfrm rot="0">
            <a:off x="4875863" y="3558515"/>
            <a:ext cx="2305717" cy="598197"/>
            <a:chOff x="0" y="0"/>
            <a:chExt cx="1348510" cy="349858"/>
          </a:xfrm>
        </p:grpSpPr>
        <p:sp>
          <p:nvSpPr>
            <p:cNvPr name="Freeform 29" id="29"/>
            <p:cNvSpPr/>
            <p:nvPr/>
          </p:nvSpPr>
          <p:spPr>
            <a:xfrm flipH="false" flipV="false" rot="0">
              <a:off x="0" y="0"/>
              <a:ext cx="1348510" cy="349858"/>
            </a:xfrm>
            <a:custGeom>
              <a:avLst/>
              <a:gdLst/>
              <a:ahLst/>
              <a:cxnLst/>
              <a:rect r="r" b="b" t="t" l="l"/>
              <a:pathLst>
                <a:path h="349858" w="1348510">
                  <a:moveTo>
                    <a:pt x="0" y="0"/>
                  </a:moveTo>
                  <a:lnTo>
                    <a:pt x="1348510" y="0"/>
                  </a:lnTo>
                  <a:lnTo>
                    <a:pt x="1348510"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0" id="30"/>
            <p:cNvSpPr txBox="true"/>
            <p:nvPr/>
          </p:nvSpPr>
          <p:spPr>
            <a:xfrm>
              <a:off x="0" y="-57150"/>
              <a:ext cx="1348510" cy="407008"/>
            </a:xfrm>
            <a:prstGeom prst="rect">
              <a:avLst/>
            </a:prstGeom>
          </p:spPr>
          <p:txBody>
            <a:bodyPr anchor="ctr" rtlCol="false" tIns="50800" lIns="50800" bIns="50800" rIns="50800"/>
            <a:lstStyle/>
            <a:p>
              <a:pPr algn="ctr">
                <a:lnSpc>
                  <a:spcPts val="3223"/>
                </a:lnSpc>
              </a:pPr>
            </a:p>
          </p:txBody>
        </p:sp>
      </p:grpSp>
      <p:grpSp>
        <p:nvGrpSpPr>
          <p:cNvPr name="Group 31" id="31"/>
          <p:cNvGrpSpPr/>
          <p:nvPr/>
        </p:nvGrpSpPr>
        <p:grpSpPr>
          <a:xfrm rot="0">
            <a:off x="11059547" y="3558515"/>
            <a:ext cx="2305717" cy="598197"/>
            <a:chOff x="0" y="0"/>
            <a:chExt cx="1348510" cy="349858"/>
          </a:xfrm>
        </p:grpSpPr>
        <p:sp>
          <p:nvSpPr>
            <p:cNvPr name="Freeform 32" id="32"/>
            <p:cNvSpPr/>
            <p:nvPr/>
          </p:nvSpPr>
          <p:spPr>
            <a:xfrm flipH="false" flipV="false" rot="0">
              <a:off x="0" y="0"/>
              <a:ext cx="1348510" cy="349858"/>
            </a:xfrm>
            <a:custGeom>
              <a:avLst/>
              <a:gdLst/>
              <a:ahLst/>
              <a:cxnLst/>
              <a:rect r="r" b="b" t="t" l="l"/>
              <a:pathLst>
                <a:path h="349858" w="1348510">
                  <a:moveTo>
                    <a:pt x="0" y="0"/>
                  </a:moveTo>
                  <a:lnTo>
                    <a:pt x="1348510" y="0"/>
                  </a:lnTo>
                  <a:lnTo>
                    <a:pt x="1348510"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3" id="33"/>
            <p:cNvSpPr txBox="true"/>
            <p:nvPr/>
          </p:nvSpPr>
          <p:spPr>
            <a:xfrm>
              <a:off x="0" y="-57150"/>
              <a:ext cx="1348510" cy="407008"/>
            </a:xfrm>
            <a:prstGeom prst="rect">
              <a:avLst/>
            </a:prstGeom>
          </p:spPr>
          <p:txBody>
            <a:bodyPr anchor="ctr" rtlCol="false" tIns="50800" lIns="50800" bIns="50800" rIns="50800"/>
            <a:lstStyle/>
            <a:p>
              <a:pPr algn="ctr">
                <a:lnSpc>
                  <a:spcPts val="3223"/>
                </a:lnSpc>
              </a:pPr>
            </a:p>
          </p:txBody>
        </p:sp>
      </p:grpSp>
      <p:sp>
        <p:nvSpPr>
          <p:cNvPr name="TextBox 34" id="34"/>
          <p:cNvSpPr txBox="true"/>
          <p:nvPr/>
        </p:nvSpPr>
        <p:spPr>
          <a:xfrm rot="0">
            <a:off x="5000695" y="3577579"/>
            <a:ext cx="2056052" cy="483870"/>
          </a:xfrm>
          <a:prstGeom prst="rect">
            <a:avLst/>
          </a:prstGeom>
        </p:spPr>
        <p:txBody>
          <a:bodyPr anchor="t" rtlCol="false" tIns="0" lIns="0" bIns="0" rIns="0">
            <a:spAutoFit/>
          </a:bodyPr>
          <a:lstStyle/>
          <a:p>
            <a:pPr algn="ctr" marL="0" indent="0" lvl="0">
              <a:lnSpc>
                <a:spcPts val="3779"/>
              </a:lnSpc>
              <a:spcBef>
                <a:spcPct val="0"/>
              </a:spcBef>
            </a:pPr>
            <a:r>
              <a:rPr lang="en-US" b="true" sz="2700" strike="noStrike" u="none">
                <a:solidFill>
                  <a:srgbClr val="FFFFFF"/>
                </a:solidFill>
                <a:latin typeface="Poppins Bold"/>
                <a:ea typeface="Poppins Bold"/>
                <a:cs typeface="Poppins Bold"/>
                <a:sym typeface="Poppins Bold"/>
              </a:rPr>
              <a:t>PROBLEM 1</a:t>
            </a:r>
          </a:p>
        </p:txBody>
      </p:sp>
      <p:sp>
        <p:nvSpPr>
          <p:cNvPr name="TextBox 35" id="35"/>
          <p:cNvSpPr txBox="true"/>
          <p:nvPr/>
        </p:nvSpPr>
        <p:spPr>
          <a:xfrm rot="0">
            <a:off x="11184379" y="3577579"/>
            <a:ext cx="2056052" cy="483870"/>
          </a:xfrm>
          <a:prstGeom prst="rect">
            <a:avLst/>
          </a:prstGeom>
        </p:spPr>
        <p:txBody>
          <a:bodyPr anchor="t" rtlCol="false" tIns="0" lIns="0" bIns="0" rIns="0">
            <a:spAutoFit/>
          </a:bodyPr>
          <a:lstStyle/>
          <a:p>
            <a:pPr algn="ctr" marL="0" indent="0" lvl="0">
              <a:lnSpc>
                <a:spcPts val="3779"/>
              </a:lnSpc>
              <a:spcBef>
                <a:spcPct val="0"/>
              </a:spcBef>
            </a:pPr>
            <a:r>
              <a:rPr lang="en-US" b="true" sz="2700" strike="noStrike" u="none">
                <a:solidFill>
                  <a:srgbClr val="FFFFFF"/>
                </a:solidFill>
                <a:latin typeface="Poppins Bold"/>
                <a:ea typeface="Poppins Bold"/>
                <a:cs typeface="Poppins Bold"/>
                <a:sym typeface="Poppins Bold"/>
              </a:rPr>
              <a:t>PROBLEM 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738644" y="7740320"/>
            <a:ext cx="2749913" cy="2749913"/>
          </a:xfrm>
          <a:custGeom>
            <a:avLst/>
            <a:gdLst/>
            <a:ahLst/>
            <a:cxnLst/>
            <a:rect r="r" b="b" t="t" l="l"/>
            <a:pathLst>
              <a:path h="2749913" w="2749913">
                <a:moveTo>
                  <a:pt x="0" y="0"/>
                </a:moveTo>
                <a:lnTo>
                  <a:pt x="2749913" y="0"/>
                </a:lnTo>
                <a:lnTo>
                  <a:pt x="2749913" y="2749913"/>
                </a:lnTo>
                <a:lnTo>
                  <a:pt x="0" y="27499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833771" cy="2833771"/>
          </a:xfrm>
          <a:custGeom>
            <a:avLst/>
            <a:gdLst/>
            <a:ahLst/>
            <a:cxnLst/>
            <a:rect r="r" b="b" t="t" l="l"/>
            <a:pathLst>
              <a:path h="2833771" w="2833771">
                <a:moveTo>
                  <a:pt x="0" y="0"/>
                </a:moveTo>
                <a:lnTo>
                  <a:pt x="2833771" y="0"/>
                </a:lnTo>
                <a:lnTo>
                  <a:pt x="2833771" y="2833772"/>
                </a:lnTo>
                <a:lnTo>
                  <a:pt x="0" y="2833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2961" y="8114637"/>
            <a:ext cx="2256463" cy="2256463"/>
          </a:xfrm>
          <a:custGeom>
            <a:avLst/>
            <a:gdLst/>
            <a:ahLst/>
            <a:cxnLst/>
            <a:rect r="r" b="b" t="t" l="l"/>
            <a:pathLst>
              <a:path h="2256463" w="2256463">
                <a:moveTo>
                  <a:pt x="0" y="0"/>
                </a:moveTo>
                <a:lnTo>
                  <a:pt x="2256463" y="0"/>
                </a:lnTo>
                <a:lnTo>
                  <a:pt x="2256463" y="2256463"/>
                </a:lnTo>
                <a:lnTo>
                  <a:pt x="0" y="2256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422791" cy="2422791"/>
          </a:xfrm>
          <a:custGeom>
            <a:avLst/>
            <a:gdLst/>
            <a:ahLst/>
            <a:cxnLst/>
            <a:rect r="r" b="b" t="t" l="l"/>
            <a:pathLst>
              <a:path h="2422791" w="2422791">
                <a:moveTo>
                  <a:pt x="0" y="0"/>
                </a:moveTo>
                <a:lnTo>
                  <a:pt x="2422791" y="0"/>
                </a:lnTo>
                <a:lnTo>
                  <a:pt x="2422791" y="2422790"/>
                </a:lnTo>
                <a:lnTo>
                  <a:pt x="0" y="2422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743274" y="2115333"/>
            <a:ext cx="2946867" cy="2946867"/>
          </a:xfrm>
          <a:custGeom>
            <a:avLst/>
            <a:gdLst/>
            <a:ahLst/>
            <a:cxnLst/>
            <a:rect r="r" b="b" t="t" l="l"/>
            <a:pathLst>
              <a:path h="2946867" w="2946867">
                <a:moveTo>
                  <a:pt x="0" y="0"/>
                </a:moveTo>
                <a:lnTo>
                  <a:pt x="2946867" y="0"/>
                </a:lnTo>
                <a:lnTo>
                  <a:pt x="2946867" y="2946867"/>
                </a:lnTo>
                <a:lnTo>
                  <a:pt x="0" y="29468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174115" y="2943917"/>
            <a:ext cx="10118321" cy="6399530"/>
          </a:xfrm>
          <a:prstGeom prst="rect">
            <a:avLst/>
          </a:prstGeom>
        </p:spPr>
        <p:txBody>
          <a:bodyPr anchor="t" rtlCol="false" tIns="0" lIns="0" bIns="0" rIns="0">
            <a:spAutoFit/>
          </a:bodyPr>
          <a:lstStyle/>
          <a:p>
            <a:pPr algn="ctr">
              <a:lnSpc>
                <a:spcPts val="3220"/>
              </a:lnSpc>
            </a:pPr>
          </a:p>
          <a:p>
            <a:pPr algn="ctr" marL="496571" indent="-248285" lvl="1">
              <a:lnSpc>
                <a:spcPts val="3220"/>
              </a:lnSpc>
              <a:buFont typeface="Arial"/>
              <a:buChar char="•"/>
            </a:pPr>
            <a:r>
              <a:rPr lang="en-US" sz="2300">
                <a:solidFill>
                  <a:srgbClr val="000000"/>
                </a:solidFill>
                <a:latin typeface="Poppins"/>
                <a:ea typeface="Poppins"/>
                <a:cs typeface="Poppins"/>
                <a:sym typeface="Poppins"/>
              </a:rPr>
              <a:t>Lack of Legal Awareness – Many citizens struggle to access clear, reliable legal information.</a:t>
            </a:r>
          </a:p>
          <a:p>
            <a:pPr algn="ctr">
              <a:lnSpc>
                <a:spcPts val="3220"/>
              </a:lnSpc>
            </a:pPr>
          </a:p>
          <a:p>
            <a:pPr algn="ctr" marL="496571" indent="-248285" lvl="1">
              <a:lnSpc>
                <a:spcPts val="3220"/>
              </a:lnSpc>
              <a:buFont typeface="Arial"/>
              <a:buChar char="•"/>
            </a:pPr>
            <a:r>
              <a:rPr lang="en-US" sz="2300">
                <a:solidFill>
                  <a:srgbClr val="000000"/>
                </a:solidFill>
                <a:latin typeface="Poppins"/>
                <a:ea typeface="Poppins"/>
                <a:cs typeface="Poppins"/>
                <a:sym typeface="Poppins"/>
              </a:rPr>
              <a:t>Complexity of Laws – Legal language is difficult for the general public to understand.</a:t>
            </a:r>
          </a:p>
          <a:p>
            <a:pPr algn="ctr">
              <a:lnSpc>
                <a:spcPts val="3220"/>
              </a:lnSpc>
            </a:pPr>
          </a:p>
          <a:p>
            <a:pPr algn="ctr" marL="496571" indent="-248285" lvl="1">
              <a:lnSpc>
                <a:spcPts val="3220"/>
              </a:lnSpc>
              <a:buFont typeface="Arial"/>
              <a:buChar char="•"/>
            </a:pPr>
            <a:r>
              <a:rPr lang="en-US" sz="2300">
                <a:solidFill>
                  <a:srgbClr val="000000"/>
                </a:solidFill>
                <a:latin typeface="Poppins"/>
                <a:ea typeface="Poppins"/>
                <a:cs typeface="Poppins"/>
                <a:sym typeface="Poppins"/>
              </a:rPr>
              <a:t>High Legal Costs – Legal aid is often expensive and not easily accessible.</a:t>
            </a:r>
          </a:p>
          <a:p>
            <a:pPr algn="ctr">
              <a:lnSpc>
                <a:spcPts val="3220"/>
              </a:lnSpc>
            </a:pPr>
          </a:p>
          <a:p>
            <a:pPr algn="ctr" marL="496571" indent="-248285" lvl="1">
              <a:lnSpc>
                <a:spcPts val="3220"/>
              </a:lnSpc>
              <a:buFont typeface="Arial"/>
              <a:buChar char="•"/>
            </a:pPr>
            <a:r>
              <a:rPr lang="en-US" sz="2300">
                <a:solidFill>
                  <a:srgbClr val="000000"/>
                </a:solidFill>
                <a:latin typeface="Poppins"/>
                <a:ea typeface="Poppins"/>
                <a:cs typeface="Poppins"/>
                <a:sym typeface="Poppins"/>
              </a:rPr>
              <a:t>AI for Empowerment – An AI assistant can provide instant, accurate, and easy-to-understand legal guidance.</a:t>
            </a:r>
          </a:p>
          <a:p>
            <a:pPr algn="ctr">
              <a:lnSpc>
                <a:spcPts val="3220"/>
              </a:lnSpc>
            </a:pPr>
          </a:p>
          <a:p>
            <a:pPr algn="ctr" marL="496571" indent="-248285" lvl="1">
              <a:lnSpc>
                <a:spcPts val="3220"/>
              </a:lnSpc>
              <a:spcBef>
                <a:spcPct val="0"/>
              </a:spcBef>
              <a:buFont typeface="Arial"/>
              <a:buChar char="•"/>
            </a:pPr>
            <a:r>
              <a:rPr lang="en-US" sz="2300">
                <a:solidFill>
                  <a:srgbClr val="000000"/>
                </a:solidFill>
                <a:latin typeface="Poppins"/>
                <a:ea typeface="Poppins"/>
                <a:cs typeface="Poppins"/>
                <a:sym typeface="Poppins"/>
              </a:rPr>
              <a:t>Better Access to Justice – Helps citizens make informed decisions and understand their rights.</a:t>
            </a:r>
          </a:p>
          <a:p>
            <a:pPr algn="ctr">
              <a:lnSpc>
                <a:spcPts val="3220"/>
              </a:lnSpc>
              <a:spcBef>
                <a:spcPct val="0"/>
              </a:spcBef>
            </a:pPr>
          </a:p>
        </p:txBody>
      </p:sp>
      <p:grpSp>
        <p:nvGrpSpPr>
          <p:cNvPr name="Group 15" id="15"/>
          <p:cNvGrpSpPr/>
          <p:nvPr/>
        </p:nvGrpSpPr>
        <p:grpSpPr>
          <a:xfrm rot="0">
            <a:off x="6366890" y="1241246"/>
            <a:ext cx="5538711" cy="1030616"/>
            <a:chOff x="0" y="0"/>
            <a:chExt cx="1666785" cy="310147"/>
          </a:xfrm>
        </p:grpSpPr>
        <p:sp>
          <p:nvSpPr>
            <p:cNvPr name="Freeform 16" id="16"/>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7" id="17"/>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18" id="18"/>
          <p:cNvSpPr txBox="true"/>
          <p:nvPr/>
        </p:nvSpPr>
        <p:spPr>
          <a:xfrm rot="0">
            <a:off x="6560546" y="1281534"/>
            <a:ext cx="5151398"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WHY THIS TOPIC?</a:t>
            </a:r>
          </a:p>
        </p:txBody>
      </p:sp>
      <p:sp>
        <p:nvSpPr>
          <p:cNvPr name="AutoShape 19" id="19"/>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0" id="20"/>
          <p:cNvSpPr/>
          <p:nvPr/>
        </p:nvSpPr>
        <p:spPr>
          <a:xfrm>
            <a:off x="7891929" y="9564864"/>
            <a:ext cx="2504141" cy="0"/>
          </a:xfrm>
          <a:prstGeom prst="line">
            <a:avLst/>
          </a:prstGeom>
          <a:ln cap="rnd" w="114300">
            <a:solidFill>
              <a:srgbClr val="000000"/>
            </a:solidFill>
            <a:prstDash val="sysDot"/>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47968" y="1934032"/>
            <a:ext cx="3374371" cy="3374371"/>
          </a:xfrm>
          <a:custGeom>
            <a:avLst/>
            <a:gdLst/>
            <a:ahLst/>
            <a:cxnLst/>
            <a:rect r="r" b="b" t="t" l="l"/>
            <a:pathLst>
              <a:path h="3374371" w="3374371">
                <a:moveTo>
                  <a:pt x="0" y="0"/>
                </a:moveTo>
                <a:lnTo>
                  <a:pt x="3374372" y="0"/>
                </a:lnTo>
                <a:lnTo>
                  <a:pt x="3374372" y="3374372"/>
                </a:lnTo>
                <a:lnTo>
                  <a:pt x="0" y="3374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084840" y="4181396"/>
            <a:ext cx="10118321" cy="2731135"/>
          </a:xfrm>
          <a:prstGeom prst="rect">
            <a:avLst/>
          </a:prstGeom>
        </p:spPr>
        <p:txBody>
          <a:bodyPr anchor="t" rtlCol="false" tIns="0" lIns="0" bIns="0" rIns="0">
            <a:spAutoFit/>
          </a:bodyPr>
          <a:lstStyle/>
          <a:p>
            <a:pPr algn="ctr">
              <a:lnSpc>
                <a:spcPts val="4339"/>
              </a:lnSpc>
              <a:spcBef>
                <a:spcPct val="0"/>
              </a:spcBef>
            </a:pPr>
            <a:r>
              <a:rPr lang="en-US" b="true" sz="3099">
                <a:solidFill>
                  <a:srgbClr val="000000"/>
                </a:solidFill>
                <a:latin typeface="Poppins Bold"/>
                <a:ea typeface="Poppins Bold"/>
                <a:cs typeface="Poppins Bold"/>
                <a:sym typeface="Poppins Bold"/>
              </a:rPr>
              <a:t>Localized Legal Expertise</a:t>
            </a:r>
            <a:r>
              <a:rPr lang="en-US" sz="3099">
                <a:solidFill>
                  <a:srgbClr val="000000"/>
                </a:solidFill>
                <a:latin typeface="Poppins"/>
                <a:ea typeface="Poppins"/>
                <a:cs typeface="Poppins"/>
                <a:sym typeface="Poppins"/>
              </a:rPr>
              <a:t> – Unlike generic legal chatbots, this application is specifically trained on Bangladeshi laws, regulations, and legal precedents, ensuring contextually relevant answers.</a:t>
            </a:r>
          </a:p>
        </p:txBody>
      </p:sp>
      <p:grpSp>
        <p:nvGrpSpPr>
          <p:cNvPr name="Group 15" id="15"/>
          <p:cNvGrpSpPr/>
          <p:nvPr/>
        </p:nvGrpSpPr>
        <p:grpSpPr>
          <a:xfrm rot="0">
            <a:off x="2749732" y="1235177"/>
            <a:ext cx="12788535" cy="1030616"/>
            <a:chOff x="0" y="0"/>
            <a:chExt cx="17051380" cy="1374154"/>
          </a:xfrm>
        </p:grpSpPr>
        <p:grpSp>
          <p:nvGrpSpPr>
            <p:cNvPr name="Group 16" id="16"/>
            <p:cNvGrpSpPr/>
            <p:nvPr/>
          </p:nvGrpSpPr>
          <p:grpSpPr>
            <a:xfrm rot="0">
              <a:off x="0" y="0"/>
              <a:ext cx="17051380" cy="1374154"/>
              <a:chOff x="0" y="0"/>
              <a:chExt cx="3848502" cy="310147"/>
            </a:xfrm>
          </p:grpSpPr>
          <p:sp>
            <p:nvSpPr>
              <p:cNvPr name="Freeform 17" id="17"/>
              <p:cNvSpPr/>
              <p:nvPr/>
            </p:nvSpPr>
            <p:spPr>
              <a:xfrm flipH="false" flipV="false" rot="0">
                <a:off x="0" y="0"/>
                <a:ext cx="3848502" cy="310147"/>
              </a:xfrm>
              <a:custGeom>
                <a:avLst/>
                <a:gdLst/>
                <a:ahLst/>
                <a:cxnLst/>
                <a:rect r="r" b="b" t="t" l="l"/>
                <a:pathLst>
                  <a:path h="310147" w="3848502">
                    <a:moveTo>
                      <a:pt x="0" y="0"/>
                    </a:moveTo>
                    <a:lnTo>
                      <a:pt x="3848502" y="0"/>
                    </a:lnTo>
                    <a:lnTo>
                      <a:pt x="3848502"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8" id="18"/>
              <p:cNvSpPr txBox="true"/>
              <p:nvPr/>
            </p:nvSpPr>
            <p:spPr>
              <a:xfrm>
                <a:off x="0" y="-57150"/>
                <a:ext cx="3848502" cy="367297"/>
              </a:xfrm>
              <a:prstGeom prst="rect">
                <a:avLst/>
              </a:prstGeom>
            </p:spPr>
            <p:txBody>
              <a:bodyPr anchor="ctr" rtlCol="false" tIns="50800" lIns="50800" bIns="50800" rIns="50800"/>
              <a:lstStyle/>
              <a:p>
                <a:pPr algn="ctr">
                  <a:lnSpc>
                    <a:spcPts val="3223"/>
                  </a:lnSpc>
                </a:pPr>
              </a:p>
            </p:txBody>
          </p:sp>
        </p:grpSp>
        <p:sp>
          <p:nvSpPr>
            <p:cNvPr name="TextBox 19" id="19"/>
            <p:cNvSpPr txBox="true"/>
            <p:nvPr/>
          </p:nvSpPr>
          <p:spPr>
            <a:xfrm rot="0">
              <a:off x="1359703" y="98148"/>
              <a:ext cx="14331975"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WHAT MAKES OUR PROPOSAL UNIQUE</a:t>
              </a:r>
            </a:p>
          </p:txBody>
        </p:sp>
      </p:grpSp>
      <p:sp>
        <p:nvSpPr>
          <p:cNvPr name="AutoShape 20" id="20"/>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1" id="21"/>
          <p:cNvSpPr/>
          <p:nvPr/>
        </p:nvSpPr>
        <p:spPr>
          <a:xfrm>
            <a:off x="7884175" y="8323822"/>
            <a:ext cx="2504141" cy="0"/>
          </a:xfrm>
          <a:prstGeom prst="line">
            <a:avLst/>
          </a:prstGeom>
          <a:ln cap="rnd" w="114300">
            <a:solidFill>
              <a:srgbClr val="000000"/>
            </a:solidFill>
            <a:prstDash val="sysDot"/>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true" flipV="false" rot="0">
            <a:off x="-590618" y="-493221"/>
            <a:ext cx="3387444" cy="3387444"/>
          </a:xfrm>
          <a:custGeom>
            <a:avLst/>
            <a:gdLst/>
            <a:ahLst/>
            <a:cxnLst/>
            <a:rect r="r" b="b" t="t" l="l"/>
            <a:pathLst>
              <a:path h="3387444" w="3387444">
                <a:moveTo>
                  <a:pt x="3387444" y="0"/>
                </a:moveTo>
                <a:lnTo>
                  <a:pt x="0" y="0"/>
                </a:lnTo>
                <a:lnTo>
                  <a:pt x="0" y="3387444"/>
                </a:lnTo>
                <a:lnTo>
                  <a:pt x="3387444" y="3387444"/>
                </a:lnTo>
                <a:lnTo>
                  <a:pt x="3387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89060" y="3200466"/>
            <a:ext cx="13514283" cy="3988053"/>
            <a:chOff x="0" y="0"/>
            <a:chExt cx="2964076" cy="874696"/>
          </a:xfrm>
        </p:grpSpPr>
        <p:sp>
          <p:nvSpPr>
            <p:cNvPr name="Freeform 4" id="4"/>
            <p:cNvSpPr/>
            <p:nvPr/>
          </p:nvSpPr>
          <p:spPr>
            <a:xfrm flipH="false" flipV="false" rot="0">
              <a:off x="0" y="0"/>
              <a:ext cx="2964076" cy="874696"/>
            </a:xfrm>
            <a:custGeom>
              <a:avLst/>
              <a:gdLst/>
              <a:ahLst/>
              <a:cxnLst/>
              <a:rect r="r" b="b" t="t" l="l"/>
              <a:pathLst>
                <a:path h="874696" w="2964076">
                  <a:moveTo>
                    <a:pt x="0" y="0"/>
                  </a:moveTo>
                  <a:lnTo>
                    <a:pt x="2964076" y="0"/>
                  </a:lnTo>
                  <a:lnTo>
                    <a:pt x="2964076" y="874696"/>
                  </a:lnTo>
                  <a:lnTo>
                    <a:pt x="0" y="874696"/>
                  </a:lnTo>
                  <a:close/>
                </a:path>
              </a:pathLst>
            </a:custGeom>
            <a:solidFill>
              <a:srgbClr val="FFFFFF"/>
            </a:solidFill>
          </p:spPr>
        </p:sp>
        <p:sp>
          <p:nvSpPr>
            <p:cNvPr name="TextBox 5" id="5"/>
            <p:cNvSpPr txBox="true"/>
            <p:nvPr/>
          </p:nvSpPr>
          <p:spPr>
            <a:xfrm>
              <a:off x="0" y="-47625"/>
              <a:ext cx="2964076" cy="922321"/>
            </a:xfrm>
            <a:prstGeom prst="rect">
              <a:avLst/>
            </a:prstGeom>
          </p:spPr>
          <p:txBody>
            <a:bodyPr anchor="ctr" rtlCol="false" tIns="70328" lIns="70328" bIns="70328" rIns="70328"/>
            <a:lstStyle/>
            <a:p>
              <a:pPr algn="ctr">
                <a:lnSpc>
                  <a:spcPts val="2660"/>
                </a:lnSpc>
              </a:pPr>
            </a:p>
          </p:txBody>
        </p:sp>
      </p:grpSp>
      <p:grpSp>
        <p:nvGrpSpPr>
          <p:cNvPr name="Group 6" id="6"/>
          <p:cNvGrpSpPr/>
          <p:nvPr/>
        </p:nvGrpSpPr>
        <p:grpSpPr>
          <a:xfrm rot="0">
            <a:off x="2326067" y="2622463"/>
            <a:ext cx="1459189" cy="1357454"/>
            <a:chOff x="0" y="0"/>
            <a:chExt cx="1945586" cy="1809939"/>
          </a:xfrm>
        </p:grpSpPr>
        <p:grpSp>
          <p:nvGrpSpPr>
            <p:cNvPr name="Group 7" id="7"/>
            <p:cNvGrpSpPr/>
            <p:nvPr/>
          </p:nvGrpSpPr>
          <p:grpSpPr>
            <a:xfrm rot="0">
              <a:off x="0" y="0"/>
              <a:ext cx="1945586" cy="1809939"/>
              <a:chOff x="0" y="0"/>
              <a:chExt cx="873716" cy="812800"/>
            </a:xfrm>
          </p:grpSpPr>
          <p:sp>
            <p:nvSpPr>
              <p:cNvPr name="Freeform 8" id="8"/>
              <p:cNvSpPr/>
              <p:nvPr/>
            </p:nvSpPr>
            <p:spPr>
              <a:xfrm flipH="false" flipV="false" rot="0">
                <a:off x="0" y="0"/>
                <a:ext cx="873716" cy="812800"/>
              </a:xfrm>
              <a:custGeom>
                <a:avLst/>
                <a:gdLst/>
                <a:ahLst/>
                <a:cxnLst/>
                <a:rect r="r" b="b" t="t" l="l"/>
                <a:pathLst>
                  <a:path h="812800" w="873716">
                    <a:moveTo>
                      <a:pt x="436858" y="0"/>
                    </a:moveTo>
                    <a:cubicBezTo>
                      <a:pt x="195588" y="0"/>
                      <a:pt x="0" y="181951"/>
                      <a:pt x="0" y="406400"/>
                    </a:cubicBezTo>
                    <a:cubicBezTo>
                      <a:pt x="0" y="630849"/>
                      <a:pt x="195588" y="812800"/>
                      <a:pt x="436858" y="812800"/>
                    </a:cubicBezTo>
                    <a:cubicBezTo>
                      <a:pt x="678128" y="812800"/>
                      <a:pt x="873716" y="630849"/>
                      <a:pt x="873716" y="406400"/>
                    </a:cubicBezTo>
                    <a:cubicBezTo>
                      <a:pt x="873716" y="181951"/>
                      <a:pt x="678128" y="0"/>
                      <a:pt x="436858" y="0"/>
                    </a:cubicBezTo>
                    <a:close/>
                  </a:path>
                </a:pathLst>
              </a:custGeom>
              <a:gradFill rotWithShape="true">
                <a:gsLst>
                  <a:gs pos="0">
                    <a:srgbClr val="000000">
                      <a:alpha val="100000"/>
                    </a:srgbClr>
                  </a:gs>
                  <a:gs pos="100000">
                    <a:srgbClr val="737373">
                      <a:alpha val="100000"/>
                    </a:srgbClr>
                  </a:gs>
                </a:gsLst>
                <a:lin ang="0"/>
              </a:gradFill>
            </p:spPr>
          </p:sp>
          <p:sp>
            <p:nvSpPr>
              <p:cNvPr name="TextBox 9" id="9"/>
              <p:cNvSpPr txBox="true"/>
              <p:nvPr/>
            </p:nvSpPr>
            <p:spPr>
              <a:xfrm>
                <a:off x="81911" y="28575"/>
                <a:ext cx="709894" cy="708025"/>
              </a:xfrm>
              <a:prstGeom prst="rect">
                <a:avLst/>
              </a:prstGeom>
            </p:spPr>
            <p:txBody>
              <a:bodyPr anchor="ctr" rtlCol="false" tIns="70328" lIns="70328" bIns="70328" rIns="70328"/>
              <a:lstStyle/>
              <a:p>
                <a:pPr algn="ctr">
                  <a:lnSpc>
                    <a:spcPts val="2660"/>
                  </a:lnSpc>
                </a:pPr>
              </a:p>
            </p:txBody>
          </p:sp>
        </p:grpSp>
        <p:sp>
          <p:nvSpPr>
            <p:cNvPr name="TextBox 10" id="10"/>
            <p:cNvSpPr txBox="true"/>
            <p:nvPr/>
          </p:nvSpPr>
          <p:spPr>
            <a:xfrm rot="0">
              <a:off x="134597" y="482677"/>
              <a:ext cx="1676393" cy="949359"/>
            </a:xfrm>
            <a:prstGeom prst="rect">
              <a:avLst/>
            </a:prstGeom>
          </p:spPr>
          <p:txBody>
            <a:bodyPr anchor="t" rtlCol="false" tIns="0" lIns="0" bIns="0" rIns="0">
              <a:spAutoFit/>
            </a:bodyPr>
            <a:lstStyle/>
            <a:p>
              <a:pPr algn="ctr">
                <a:lnSpc>
                  <a:spcPts val="5187"/>
                </a:lnSpc>
              </a:pPr>
              <a:r>
                <a:rPr lang="en-US" b="true" sz="5187" i="true" spc="-114">
                  <a:solidFill>
                    <a:srgbClr val="FFFFFF"/>
                  </a:solidFill>
                  <a:latin typeface="Antonio Bold Italics"/>
                  <a:ea typeface="Antonio Bold Italics"/>
                  <a:cs typeface="Antonio Bold Italics"/>
                  <a:sym typeface="Antonio Bold Italics"/>
                </a:rPr>
                <a:t>2.</a:t>
              </a:r>
            </a:p>
          </p:txBody>
        </p:sp>
      </p:grpSp>
      <p:sp>
        <p:nvSpPr>
          <p:cNvPr name="Freeform 11" id="11"/>
          <p:cNvSpPr/>
          <p:nvPr/>
        </p:nvSpPr>
        <p:spPr>
          <a:xfrm flipH="false" flipV="false" rot="0">
            <a:off x="13292852" y="415235"/>
            <a:ext cx="4226003" cy="2297889"/>
          </a:xfrm>
          <a:custGeom>
            <a:avLst/>
            <a:gdLst/>
            <a:ahLst/>
            <a:cxnLst/>
            <a:rect r="r" b="b" t="t" l="l"/>
            <a:pathLst>
              <a:path h="2297889" w="4226003">
                <a:moveTo>
                  <a:pt x="0" y="0"/>
                </a:moveTo>
                <a:lnTo>
                  <a:pt x="4226003" y="0"/>
                </a:lnTo>
                <a:lnTo>
                  <a:pt x="4226003" y="2297889"/>
                </a:lnTo>
                <a:lnTo>
                  <a:pt x="0" y="22978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84368" y="6516088"/>
            <a:ext cx="3239814" cy="3507672"/>
          </a:xfrm>
          <a:custGeom>
            <a:avLst/>
            <a:gdLst/>
            <a:ahLst/>
            <a:cxnLst/>
            <a:rect r="r" b="b" t="t" l="l"/>
            <a:pathLst>
              <a:path h="3507672" w="3239814">
                <a:moveTo>
                  <a:pt x="0" y="0"/>
                </a:moveTo>
                <a:lnTo>
                  <a:pt x="3239814" y="0"/>
                </a:lnTo>
                <a:lnTo>
                  <a:pt x="3239814" y="3507673"/>
                </a:lnTo>
                <a:lnTo>
                  <a:pt x="0" y="3507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5250430" y="7450721"/>
            <a:ext cx="2673816" cy="2314066"/>
          </a:xfrm>
          <a:custGeom>
            <a:avLst/>
            <a:gdLst/>
            <a:ahLst/>
            <a:cxnLst/>
            <a:rect r="r" b="b" t="t" l="l"/>
            <a:pathLst>
              <a:path h="2314066" w="2673816">
                <a:moveTo>
                  <a:pt x="0" y="0"/>
                </a:moveTo>
                <a:lnTo>
                  <a:pt x="2673816" y="0"/>
                </a:lnTo>
                <a:lnTo>
                  <a:pt x="2673816" y="2314066"/>
                </a:lnTo>
                <a:lnTo>
                  <a:pt x="0" y="23140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4995148" y="904146"/>
            <a:ext cx="8297704" cy="1586767"/>
          </a:xfrm>
          <a:prstGeom prst="rect">
            <a:avLst/>
          </a:prstGeom>
        </p:spPr>
        <p:txBody>
          <a:bodyPr anchor="t" rtlCol="false" tIns="0" lIns="0" bIns="0" rIns="0">
            <a:spAutoFit/>
          </a:bodyPr>
          <a:lstStyle/>
          <a:p>
            <a:pPr algn="ctr">
              <a:lnSpc>
                <a:spcPts val="5841"/>
              </a:lnSpc>
            </a:pPr>
            <a:r>
              <a:rPr lang="en-US" b="true" sz="7301">
                <a:solidFill>
                  <a:srgbClr val="252D37"/>
                </a:solidFill>
                <a:latin typeface="Maven Pro Bold"/>
                <a:ea typeface="Maven Pro Bold"/>
                <a:cs typeface="Maven Pro Bold"/>
                <a:sym typeface="Maven Pro Bold"/>
              </a:rPr>
              <a:t>OUR PROPOSED TOPIC-2</a:t>
            </a:r>
          </a:p>
        </p:txBody>
      </p:sp>
      <p:sp>
        <p:nvSpPr>
          <p:cNvPr name="TextBox 15" id="15"/>
          <p:cNvSpPr txBox="true"/>
          <p:nvPr/>
        </p:nvSpPr>
        <p:spPr>
          <a:xfrm rot="0">
            <a:off x="2990734" y="4771187"/>
            <a:ext cx="12710934" cy="1449461"/>
          </a:xfrm>
          <a:prstGeom prst="rect">
            <a:avLst/>
          </a:prstGeom>
        </p:spPr>
        <p:txBody>
          <a:bodyPr anchor="t" rtlCol="false" tIns="0" lIns="0" bIns="0" rIns="0">
            <a:spAutoFit/>
          </a:bodyPr>
          <a:lstStyle/>
          <a:p>
            <a:pPr algn="ctr">
              <a:lnSpc>
                <a:spcPts val="5690"/>
              </a:lnSpc>
            </a:pPr>
            <a:r>
              <a:rPr lang="en-US" sz="5690" b="true">
                <a:solidFill>
                  <a:srgbClr val="000000"/>
                </a:solidFill>
                <a:latin typeface="Antonio Ultra-Bold"/>
                <a:ea typeface="Antonio Ultra-Bold"/>
                <a:cs typeface="Antonio Ultra-Bold"/>
                <a:sym typeface="Antonio Ultra-Bold"/>
              </a:rPr>
              <a:t>Personalized Vacation Planning Using Machine Learning &amp; Deep Learning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592638" y="7535977"/>
            <a:ext cx="3075969" cy="3075969"/>
          </a:xfrm>
          <a:custGeom>
            <a:avLst/>
            <a:gdLst/>
            <a:ahLst/>
            <a:cxnLst/>
            <a:rect r="r" b="b" t="t" l="l"/>
            <a:pathLst>
              <a:path h="3075969" w="3075969">
                <a:moveTo>
                  <a:pt x="0" y="0"/>
                </a:moveTo>
                <a:lnTo>
                  <a:pt x="3075969" y="0"/>
                </a:lnTo>
                <a:lnTo>
                  <a:pt x="3075969"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407596" y="-506840"/>
            <a:ext cx="3328479" cy="3328479"/>
          </a:xfrm>
          <a:custGeom>
            <a:avLst/>
            <a:gdLst/>
            <a:ahLst/>
            <a:cxnLst/>
            <a:rect r="r" b="b" t="t" l="l"/>
            <a:pathLst>
              <a:path h="3328479" w="3328479">
                <a:moveTo>
                  <a:pt x="0" y="0"/>
                </a:moveTo>
                <a:lnTo>
                  <a:pt x="3328479" y="0"/>
                </a:lnTo>
                <a:lnTo>
                  <a:pt x="3328479"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674985" y="3446178"/>
            <a:ext cx="4603349" cy="4667033"/>
            <a:chOff x="0" y="0"/>
            <a:chExt cx="1023795" cy="1037958"/>
          </a:xfrm>
        </p:grpSpPr>
        <p:sp>
          <p:nvSpPr>
            <p:cNvPr name="Freeform 8" id="8"/>
            <p:cNvSpPr/>
            <p:nvPr/>
          </p:nvSpPr>
          <p:spPr>
            <a:xfrm flipH="false" flipV="false" rot="0">
              <a:off x="0" y="0"/>
              <a:ext cx="1023795" cy="1037958"/>
            </a:xfrm>
            <a:custGeom>
              <a:avLst/>
              <a:gdLst/>
              <a:ahLst/>
              <a:cxnLst/>
              <a:rect r="r" b="b" t="t" l="l"/>
              <a:pathLst>
                <a:path h="1037958" w="1023795">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name="TextBox 9" id="9"/>
            <p:cNvSpPr txBox="true"/>
            <p:nvPr/>
          </p:nvSpPr>
          <p:spPr>
            <a:xfrm>
              <a:off x="0" y="-57150"/>
              <a:ext cx="1023795" cy="1095108"/>
            </a:xfrm>
            <a:prstGeom prst="rect">
              <a:avLst/>
            </a:prstGeom>
          </p:spPr>
          <p:txBody>
            <a:bodyPr anchor="ctr" rtlCol="false" tIns="50800" lIns="50800" bIns="50800" rIns="50800"/>
            <a:lstStyle/>
            <a:p>
              <a:pPr algn="ctr">
                <a:lnSpc>
                  <a:spcPts val="3223"/>
                </a:lnSpc>
              </a:pPr>
            </a:p>
          </p:txBody>
        </p:sp>
      </p:grpSp>
      <p:sp>
        <p:nvSpPr>
          <p:cNvPr name="Freeform 10" id="10"/>
          <p:cNvSpPr/>
          <p:nvPr/>
        </p:nvSpPr>
        <p:spPr>
          <a:xfrm flipH="false" flipV="false" rot="8100000">
            <a:off x="-1722262" y="2064608"/>
            <a:ext cx="3048318" cy="3048318"/>
          </a:xfrm>
          <a:custGeom>
            <a:avLst/>
            <a:gdLst/>
            <a:ahLst/>
            <a:cxnLst/>
            <a:rect r="r" b="b" t="t" l="l"/>
            <a:pathLst>
              <a:path h="3048318" w="3048318">
                <a:moveTo>
                  <a:pt x="0" y="0"/>
                </a:moveTo>
                <a:lnTo>
                  <a:pt x="3048318" y="0"/>
                </a:lnTo>
                <a:lnTo>
                  <a:pt x="3048318" y="3048318"/>
                </a:lnTo>
                <a:lnTo>
                  <a:pt x="0" y="30483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638447" y="9465897"/>
            <a:ext cx="1036538" cy="320385"/>
          </a:xfrm>
          <a:custGeom>
            <a:avLst/>
            <a:gdLst/>
            <a:ahLst/>
            <a:cxnLst/>
            <a:rect r="r" b="b" t="t" l="l"/>
            <a:pathLst>
              <a:path h="320385" w="1036538">
                <a:moveTo>
                  <a:pt x="0" y="0"/>
                </a:moveTo>
                <a:lnTo>
                  <a:pt x="1036538" y="0"/>
                </a:lnTo>
                <a:lnTo>
                  <a:pt x="1036538" y="320385"/>
                </a:lnTo>
                <a:lnTo>
                  <a:pt x="0" y="3203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16611692" y="500718"/>
            <a:ext cx="1037862" cy="320794"/>
          </a:xfrm>
          <a:custGeom>
            <a:avLst/>
            <a:gdLst/>
            <a:ahLst/>
            <a:cxnLst/>
            <a:rect r="r" b="b" t="t" l="l"/>
            <a:pathLst>
              <a:path h="320794" w="1037862">
                <a:moveTo>
                  <a:pt x="1037861" y="0"/>
                </a:moveTo>
                <a:lnTo>
                  <a:pt x="0" y="0"/>
                </a:lnTo>
                <a:lnTo>
                  <a:pt x="0" y="320794"/>
                </a:lnTo>
                <a:lnTo>
                  <a:pt x="1037861" y="320794"/>
                </a:lnTo>
                <a:lnTo>
                  <a:pt x="103786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17" id="17"/>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18" id="18"/>
          <p:cNvSpPr/>
          <p:nvPr/>
        </p:nvSpPr>
        <p:spPr>
          <a:xfrm>
            <a:off x="7891929" y="8694034"/>
            <a:ext cx="2504141" cy="0"/>
          </a:xfrm>
          <a:prstGeom prst="line">
            <a:avLst/>
          </a:prstGeom>
          <a:ln cap="rnd" w="114300">
            <a:solidFill>
              <a:srgbClr val="000000"/>
            </a:solidFill>
            <a:prstDash val="sysDot"/>
            <a:headEnd type="none" len="sm" w="sm"/>
            <a:tailEnd type="none" len="sm" w="sm"/>
          </a:ln>
        </p:spPr>
      </p:sp>
      <p:grpSp>
        <p:nvGrpSpPr>
          <p:cNvPr name="Group 19" id="19"/>
          <p:cNvGrpSpPr/>
          <p:nvPr/>
        </p:nvGrpSpPr>
        <p:grpSpPr>
          <a:xfrm rot="0">
            <a:off x="1957383" y="3760419"/>
            <a:ext cx="4038552" cy="403855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2"/>
              <a:stretch>
                <a:fillRect l="0" t="-24906" r="0" b="-24906"/>
              </a:stretch>
            </a:blipFill>
          </p:spPr>
        </p:sp>
      </p:grpSp>
      <p:grpSp>
        <p:nvGrpSpPr>
          <p:cNvPr name="Group 21" id="21"/>
          <p:cNvGrpSpPr/>
          <p:nvPr/>
        </p:nvGrpSpPr>
        <p:grpSpPr>
          <a:xfrm rot="0">
            <a:off x="4621151" y="1079622"/>
            <a:ext cx="9045698" cy="1030616"/>
            <a:chOff x="0" y="0"/>
            <a:chExt cx="12060930" cy="1374154"/>
          </a:xfrm>
        </p:grpSpPr>
        <p:grpSp>
          <p:nvGrpSpPr>
            <p:cNvPr name="Group 22" id="22"/>
            <p:cNvGrpSpPr/>
            <p:nvPr/>
          </p:nvGrpSpPr>
          <p:grpSpPr>
            <a:xfrm rot="0">
              <a:off x="0" y="0"/>
              <a:ext cx="12060930" cy="1374154"/>
              <a:chOff x="0" y="0"/>
              <a:chExt cx="2722156" cy="310147"/>
            </a:xfrm>
          </p:grpSpPr>
          <p:sp>
            <p:nvSpPr>
              <p:cNvPr name="Freeform 23" id="23"/>
              <p:cNvSpPr/>
              <p:nvPr/>
            </p:nvSpPr>
            <p:spPr>
              <a:xfrm flipH="false" flipV="false" rot="0">
                <a:off x="0" y="0"/>
                <a:ext cx="2722156" cy="310147"/>
              </a:xfrm>
              <a:custGeom>
                <a:avLst/>
                <a:gdLst/>
                <a:ahLst/>
                <a:cxnLst/>
                <a:rect r="r" b="b" t="t" l="l"/>
                <a:pathLst>
                  <a:path h="310147" w="2722156">
                    <a:moveTo>
                      <a:pt x="0" y="0"/>
                    </a:moveTo>
                    <a:lnTo>
                      <a:pt x="2722156" y="0"/>
                    </a:lnTo>
                    <a:lnTo>
                      <a:pt x="2722156"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4" id="24"/>
              <p:cNvSpPr txBox="true"/>
              <p:nvPr/>
            </p:nvSpPr>
            <p:spPr>
              <a:xfrm>
                <a:off x="0" y="-57150"/>
                <a:ext cx="2722156" cy="367297"/>
              </a:xfrm>
              <a:prstGeom prst="rect">
                <a:avLst/>
              </a:prstGeom>
            </p:spPr>
            <p:txBody>
              <a:bodyPr anchor="ctr" rtlCol="false" tIns="50800" lIns="50800" bIns="50800" rIns="50800"/>
              <a:lstStyle/>
              <a:p>
                <a:pPr algn="ctr">
                  <a:lnSpc>
                    <a:spcPts val="3223"/>
                  </a:lnSpc>
                </a:pPr>
              </a:p>
            </p:txBody>
          </p:sp>
        </p:grpSp>
        <p:sp>
          <p:nvSpPr>
            <p:cNvPr name="TextBox 25" id="25"/>
            <p:cNvSpPr txBox="true"/>
            <p:nvPr/>
          </p:nvSpPr>
          <p:spPr>
            <a:xfrm rot="0">
              <a:off x="1355991" y="98148"/>
              <a:ext cx="10111162"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IDEA BEHIND THIS PROJET </a:t>
              </a:r>
            </a:p>
          </p:txBody>
        </p:sp>
      </p:grpSp>
      <p:sp>
        <p:nvSpPr>
          <p:cNvPr name="TextBox 26" id="26"/>
          <p:cNvSpPr txBox="true"/>
          <p:nvPr/>
        </p:nvSpPr>
        <p:spPr>
          <a:xfrm rot="0">
            <a:off x="6565312" y="3231440"/>
            <a:ext cx="9066610" cy="5029835"/>
          </a:xfrm>
          <a:prstGeom prst="rect">
            <a:avLst/>
          </a:prstGeom>
        </p:spPr>
        <p:txBody>
          <a:bodyPr anchor="t" rtlCol="false" tIns="0" lIns="0" bIns="0" rIns="0">
            <a:spAutoFit/>
          </a:bodyPr>
          <a:lstStyle/>
          <a:p>
            <a:pPr algn="just">
              <a:lnSpc>
                <a:spcPts val="3639"/>
              </a:lnSpc>
            </a:pPr>
            <a:r>
              <a:rPr lang="en-US" sz="2599">
                <a:solidFill>
                  <a:srgbClr val="000000"/>
                </a:solidFill>
                <a:latin typeface="Poppins"/>
                <a:ea typeface="Poppins"/>
                <a:cs typeface="Poppins"/>
                <a:sym typeface="Poppins"/>
              </a:rPr>
              <a:t>A smart vacation planner:</a:t>
            </a:r>
          </a:p>
          <a:p>
            <a:pPr algn="just" marL="561339" indent="-280669" lvl="1">
              <a:lnSpc>
                <a:spcPts val="3639"/>
              </a:lnSpc>
              <a:buFont typeface="Arial"/>
              <a:buChar char="•"/>
            </a:pPr>
            <a:r>
              <a:rPr lang="en-US" sz="2599">
                <a:solidFill>
                  <a:srgbClr val="000000"/>
                </a:solidFill>
                <a:latin typeface="Poppins"/>
                <a:ea typeface="Poppins"/>
                <a:cs typeface="Poppins"/>
                <a:sym typeface="Poppins"/>
              </a:rPr>
              <a:t>generates personalized itineraries tailored to the user's desired travel experience, whether it's adventurous or relaxing.</a:t>
            </a:r>
          </a:p>
          <a:p>
            <a:pPr algn="just" marL="561339" indent="-280669" lvl="1">
              <a:lnSpc>
                <a:spcPts val="3639"/>
              </a:lnSpc>
              <a:buFont typeface="Arial"/>
              <a:buChar char="•"/>
            </a:pPr>
            <a:r>
              <a:rPr lang="en-US" sz="2599">
                <a:solidFill>
                  <a:srgbClr val="000000"/>
                </a:solidFill>
                <a:latin typeface="Poppins"/>
                <a:ea typeface="Poppins"/>
                <a:cs typeface="Poppins"/>
                <a:sym typeface="Poppins"/>
              </a:rPr>
              <a:t>gathers key details from the user, such as destination, travel dates, trip duration, and budget, to craft an optimized plan.</a:t>
            </a:r>
          </a:p>
          <a:p>
            <a:pPr algn="just" marL="561339" indent="-280669" lvl="1">
              <a:lnSpc>
                <a:spcPts val="3639"/>
              </a:lnSpc>
              <a:buFont typeface="Arial"/>
              <a:buChar char="•"/>
            </a:pPr>
            <a:r>
              <a:rPr lang="en-US" sz="2599">
                <a:solidFill>
                  <a:srgbClr val="000000"/>
                </a:solidFill>
                <a:latin typeface="Poppins"/>
                <a:ea typeface="Poppins"/>
                <a:cs typeface="Poppins"/>
                <a:sym typeface="Poppins"/>
              </a:rPr>
              <a:t>considering the user’s preferences &amp; combining real-time data, the planner will recommend activities, accommodations, and travel routes that align with the user's ideal vacation.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721315" y="7607854"/>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627727" y="-635539"/>
            <a:ext cx="3328479" cy="3328479"/>
          </a:xfrm>
          <a:custGeom>
            <a:avLst/>
            <a:gdLst/>
            <a:ahLst/>
            <a:cxnLst/>
            <a:rect r="r" b="b" t="t" l="l"/>
            <a:pathLst>
              <a:path h="3328479" w="3328479">
                <a:moveTo>
                  <a:pt x="0" y="0"/>
                </a:moveTo>
                <a:lnTo>
                  <a:pt x="3328479" y="0"/>
                </a:lnTo>
                <a:lnTo>
                  <a:pt x="3328479" y="3328478"/>
                </a:lnTo>
                <a:lnTo>
                  <a:pt x="0" y="3328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2961" y="8114637"/>
            <a:ext cx="2256463" cy="2256463"/>
          </a:xfrm>
          <a:custGeom>
            <a:avLst/>
            <a:gdLst/>
            <a:ahLst/>
            <a:cxnLst/>
            <a:rect r="r" b="b" t="t" l="l"/>
            <a:pathLst>
              <a:path h="2256463" w="2256463">
                <a:moveTo>
                  <a:pt x="0" y="0"/>
                </a:moveTo>
                <a:lnTo>
                  <a:pt x="2256463" y="0"/>
                </a:lnTo>
                <a:lnTo>
                  <a:pt x="2256463" y="2256463"/>
                </a:lnTo>
                <a:lnTo>
                  <a:pt x="0" y="2256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289332" y="-297144"/>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7259300" y="5630423"/>
            <a:ext cx="3075969" cy="3075969"/>
          </a:xfrm>
          <a:custGeom>
            <a:avLst/>
            <a:gdLst/>
            <a:ahLst/>
            <a:cxnLst/>
            <a:rect r="r" b="b" t="t" l="l"/>
            <a:pathLst>
              <a:path h="3075969" w="3075969">
                <a:moveTo>
                  <a:pt x="0" y="0"/>
                </a:moveTo>
                <a:lnTo>
                  <a:pt x="3075969" y="0"/>
                </a:lnTo>
                <a:lnTo>
                  <a:pt x="3075969"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2342844"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460152"/>
            <a:ext cx="1055126" cy="326130"/>
          </a:xfrm>
          <a:custGeom>
            <a:avLst/>
            <a:gdLst/>
            <a:ahLst/>
            <a:cxnLst/>
            <a:rect r="r" b="b" t="t" l="l"/>
            <a:pathLst>
              <a:path h="326130" w="1055126">
                <a:moveTo>
                  <a:pt x="0" y="0"/>
                </a:moveTo>
                <a:lnTo>
                  <a:pt x="1055125" y="0"/>
                </a:lnTo>
                <a:lnTo>
                  <a:pt x="1055125" y="326130"/>
                </a:lnTo>
                <a:lnTo>
                  <a:pt x="0" y="3261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622246" y="500718"/>
            <a:ext cx="1027308" cy="317531"/>
          </a:xfrm>
          <a:custGeom>
            <a:avLst/>
            <a:gdLst/>
            <a:ahLst/>
            <a:cxnLst/>
            <a:rect r="r" b="b" t="t" l="l"/>
            <a:pathLst>
              <a:path h="317531" w="1027308">
                <a:moveTo>
                  <a:pt x="1027307" y="0"/>
                </a:moveTo>
                <a:lnTo>
                  <a:pt x="0" y="0"/>
                </a:lnTo>
                <a:lnTo>
                  <a:pt x="0" y="317532"/>
                </a:lnTo>
                <a:lnTo>
                  <a:pt x="1027307" y="317532"/>
                </a:lnTo>
                <a:lnTo>
                  <a:pt x="1027307"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4054387" y="428245"/>
            <a:ext cx="10179226" cy="1030616"/>
            <a:chOff x="0" y="0"/>
            <a:chExt cx="13572302" cy="1374154"/>
          </a:xfrm>
        </p:grpSpPr>
        <p:grpSp>
          <p:nvGrpSpPr>
            <p:cNvPr name="Group 15" id="15"/>
            <p:cNvGrpSpPr/>
            <p:nvPr/>
          </p:nvGrpSpPr>
          <p:grpSpPr>
            <a:xfrm rot="0">
              <a:off x="0" y="0"/>
              <a:ext cx="13572302" cy="1374154"/>
              <a:chOff x="0" y="0"/>
              <a:chExt cx="3063273" cy="310147"/>
            </a:xfrm>
          </p:grpSpPr>
          <p:sp>
            <p:nvSpPr>
              <p:cNvPr name="Freeform 16" id="16"/>
              <p:cNvSpPr/>
              <p:nvPr/>
            </p:nvSpPr>
            <p:spPr>
              <a:xfrm flipH="false" flipV="false" rot="0">
                <a:off x="0" y="0"/>
                <a:ext cx="3063273" cy="310147"/>
              </a:xfrm>
              <a:custGeom>
                <a:avLst/>
                <a:gdLst/>
                <a:ahLst/>
                <a:cxnLst/>
                <a:rect r="r" b="b" t="t" l="l"/>
                <a:pathLst>
                  <a:path h="310147" w="3063273">
                    <a:moveTo>
                      <a:pt x="0" y="0"/>
                    </a:moveTo>
                    <a:lnTo>
                      <a:pt x="3063273" y="0"/>
                    </a:lnTo>
                    <a:lnTo>
                      <a:pt x="3063273"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7" id="17"/>
              <p:cNvSpPr txBox="true"/>
              <p:nvPr/>
            </p:nvSpPr>
            <p:spPr>
              <a:xfrm>
                <a:off x="0" y="-57150"/>
                <a:ext cx="3063273" cy="367297"/>
              </a:xfrm>
              <a:prstGeom prst="rect">
                <a:avLst/>
              </a:prstGeom>
            </p:spPr>
            <p:txBody>
              <a:bodyPr anchor="ctr" rtlCol="false" tIns="50800" lIns="50800" bIns="50800" rIns="50800"/>
              <a:lstStyle/>
              <a:p>
                <a:pPr algn="ctr">
                  <a:lnSpc>
                    <a:spcPts val="3223"/>
                  </a:lnSpc>
                </a:pPr>
              </a:p>
            </p:txBody>
          </p:sp>
        </p:grpSp>
        <p:sp>
          <p:nvSpPr>
            <p:cNvPr name="TextBox 18" id="18"/>
            <p:cNvSpPr txBox="true"/>
            <p:nvPr/>
          </p:nvSpPr>
          <p:spPr>
            <a:xfrm rot="0">
              <a:off x="413143" y="98148"/>
              <a:ext cx="12746017"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RELATED WORKS ON THIS TOPIC</a:t>
              </a:r>
            </a:p>
          </p:txBody>
        </p:sp>
      </p:grpSp>
      <p:sp>
        <p:nvSpPr>
          <p:cNvPr name="Freeform 19" id="19"/>
          <p:cNvSpPr/>
          <p:nvPr/>
        </p:nvSpPr>
        <p:spPr>
          <a:xfrm flipH="false" flipV="false" rot="0">
            <a:off x="1514471" y="2565400"/>
            <a:ext cx="8017860" cy="3117347"/>
          </a:xfrm>
          <a:custGeom>
            <a:avLst/>
            <a:gdLst/>
            <a:ahLst/>
            <a:cxnLst/>
            <a:rect r="r" b="b" t="t" l="l"/>
            <a:pathLst>
              <a:path h="3117347" w="8017860">
                <a:moveTo>
                  <a:pt x="0" y="0"/>
                </a:moveTo>
                <a:lnTo>
                  <a:pt x="8017860" y="0"/>
                </a:lnTo>
                <a:lnTo>
                  <a:pt x="8017860" y="3117347"/>
                </a:lnTo>
                <a:lnTo>
                  <a:pt x="0" y="3117347"/>
                </a:lnTo>
                <a:lnTo>
                  <a:pt x="0" y="0"/>
                </a:lnTo>
                <a:close/>
              </a:path>
            </a:pathLst>
          </a:custGeom>
          <a:blipFill>
            <a:blip r:embed="rId12"/>
            <a:stretch>
              <a:fillRect l="-116" t="-9009" r="-2630" b="-11561"/>
            </a:stretch>
          </a:blipFill>
        </p:spPr>
      </p:sp>
      <p:sp>
        <p:nvSpPr>
          <p:cNvPr name="Freeform 20" id="20"/>
          <p:cNvSpPr/>
          <p:nvPr/>
        </p:nvSpPr>
        <p:spPr>
          <a:xfrm flipH="false" flipV="false" rot="0">
            <a:off x="10152839" y="2565400"/>
            <a:ext cx="6780364" cy="3117347"/>
          </a:xfrm>
          <a:custGeom>
            <a:avLst/>
            <a:gdLst/>
            <a:ahLst/>
            <a:cxnLst/>
            <a:rect r="r" b="b" t="t" l="l"/>
            <a:pathLst>
              <a:path h="3117347" w="6780364">
                <a:moveTo>
                  <a:pt x="0" y="0"/>
                </a:moveTo>
                <a:lnTo>
                  <a:pt x="6780364" y="0"/>
                </a:lnTo>
                <a:lnTo>
                  <a:pt x="6780364" y="3117347"/>
                </a:lnTo>
                <a:lnTo>
                  <a:pt x="0" y="3117347"/>
                </a:lnTo>
                <a:lnTo>
                  <a:pt x="0" y="0"/>
                </a:lnTo>
                <a:close/>
              </a:path>
            </a:pathLst>
          </a:custGeom>
          <a:blipFill>
            <a:blip r:embed="rId13"/>
            <a:stretch>
              <a:fillRect l="-5355" t="-37356" r="-81925" b="-91662"/>
            </a:stretch>
          </a:blipFill>
        </p:spPr>
      </p:sp>
      <p:sp>
        <p:nvSpPr>
          <p:cNvPr name="Freeform 21" id="21"/>
          <p:cNvSpPr/>
          <p:nvPr/>
        </p:nvSpPr>
        <p:spPr>
          <a:xfrm flipH="false" flipV="false" rot="0">
            <a:off x="5199521" y="6541102"/>
            <a:ext cx="7060819" cy="2718157"/>
          </a:xfrm>
          <a:custGeom>
            <a:avLst/>
            <a:gdLst/>
            <a:ahLst/>
            <a:cxnLst/>
            <a:rect r="r" b="b" t="t" l="l"/>
            <a:pathLst>
              <a:path h="2718157" w="7060819">
                <a:moveTo>
                  <a:pt x="0" y="0"/>
                </a:moveTo>
                <a:lnTo>
                  <a:pt x="7060819" y="0"/>
                </a:lnTo>
                <a:lnTo>
                  <a:pt x="7060819" y="2718157"/>
                </a:lnTo>
                <a:lnTo>
                  <a:pt x="0" y="2718157"/>
                </a:lnTo>
                <a:lnTo>
                  <a:pt x="0" y="0"/>
                </a:lnTo>
                <a:close/>
              </a:path>
            </a:pathLst>
          </a:custGeom>
          <a:blipFill>
            <a:blip r:embed="rId14"/>
            <a:stretch>
              <a:fillRect l="-5685" t="-61097" r="-74156" b="-101555"/>
            </a:stretch>
          </a:blipFill>
        </p:spPr>
      </p:sp>
      <p:sp>
        <p:nvSpPr>
          <p:cNvPr name="TextBox 22" id="22"/>
          <p:cNvSpPr txBox="true"/>
          <p:nvPr/>
        </p:nvSpPr>
        <p:spPr>
          <a:xfrm rot="0">
            <a:off x="3196176" y="5885207"/>
            <a:ext cx="4654451" cy="398721"/>
          </a:xfrm>
          <a:prstGeom prst="rect">
            <a:avLst/>
          </a:prstGeom>
        </p:spPr>
        <p:txBody>
          <a:bodyPr anchor="t" rtlCol="false" tIns="0" lIns="0" bIns="0" rIns="0">
            <a:spAutoFit/>
          </a:bodyPr>
          <a:lstStyle/>
          <a:p>
            <a:pPr algn="ctr">
              <a:lnSpc>
                <a:spcPts val="3223"/>
              </a:lnSpc>
              <a:spcBef>
                <a:spcPct val="0"/>
              </a:spcBef>
            </a:pPr>
            <a:r>
              <a:rPr lang="en-US" sz="2302">
                <a:solidFill>
                  <a:srgbClr val="000000"/>
                </a:solidFill>
                <a:latin typeface="Poppins"/>
                <a:ea typeface="Poppins"/>
                <a:cs typeface="Poppins"/>
                <a:sym typeface="Poppins"/>
              </a:rPr>
              <a:t>Publication Date: 22 March 2024</a:t>
            </a:r>
          </a:p>
        </p:txBody>
      </p:sp>
      <p:sp>
        <p:nvSpPr>
          <p:cNvPr name="TextBox 23" id="23"/>
          <p:cNvSpPr txBox="true"/>
          <p:nvPr/>
        </p:nvSpPr>
        <p:spPr>
          <a:xfrm rot="0">
            <a:off x="11378167" y="5885207"/>
            <a:ext cx="4329708" cy="398721"/>
          </a:xfrm>
          <a:prstGeom prst="rect">
            <a:avLst/>
          </a:prstGeom>
        </p:spPr>
        <p:txBody>
          <a:bodyPr anchor="t" rtlCol="false" tIns="0" lIns="0" bIns="0" rIns="0">
            <a:spAutoFit/>
          </a:bodyPr>
          <a:lstStyle/>
          <a:p>
            <a:pPr algn="ctr">
              <a:lnSpc>
                <a:spcPts val="3223"/>
              </a:lnSpc>
              <a:spcBef>
                <a:spcPct val="0"/>
              </a:spcBef>
            </a:pPr>
            <a:r>
              <a:rPr lang="en-US" sz="2302">
                <a:solidFill>
                  <a:srgbClr val="000000"/>
                </a:solidFill>
                <a:latin typeface="Poppins"/>
                <a:ea typeface="Poppins"/>
                <a:cs typeface="Poppins"/>
                <a:sym typeface="Poppins"/>
              </a:rPr>
              <a:t>Publication Date: 22 May 2022</a:t>
            </a:r>
          </a:p>
        </p:txBody>
      </p:sp>
      <p:sp>
        <p:nvSpPr>
          <p:cNvPr name="TextBox 24" id="24"/>
          <p:cNvSpPr txBox="true"/>
          <p:nvPr/>
        </p:nvSpPr>
        <p:spPr>
          <a:xfrm rot="0">
            <a:off x="6522686" y="9403002"/>
            <a:ext cx="4761161" cy="398721"/>
          </a:xfrm>
          <a:prstGeom prst="rect">
            <a:avLst/>
          </a:prstGeom>
        </p:spPr>
        <p:txBody>
          <a:bodyPr anchor="t" rtlCol="false" tIns="0" lIns="0" bIns="0" rIns="0">
            <a:spAutoFit/>
          </a:bodyPr>
          <a:lstStyle/>
          <a:p>
            <a:pPr algn="ctr">
              <a:lnSpc>
                <a:spcPts val="3223"/>
              </a:lnSpc>
              <a:spcBef>
                <a:spcPct val="0"/>
              </a:spcBef>
            </a:pPr>
            <a:r>
              <a:rPr lang="en-US" sz="2302">
                <a:solidFill>
                  <a:srgbClr val="000000"/>
                </a:solidFill>
                <a:latin typeface="Poppins"/>
                <a:ea typeface="Poppins"/>
                <a:cs typeface="Poppins"/>
                <a:sym typeface="Poppins"/>
              </a:rPr>
              <a:t>Publication Date: 2 January 2025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905248" y="7906924"/>
            <a:ext cx="2583309" cy="2583309"/>
          </a:xfrm>
          <a:custGeom>
            <a:avLst/>
            <a:gdLst/>
            <a:ahLst/>
            <a:cxnLst/>
            <a:rect r="r" b="b" t="t" l="l"/>
            <a:pathLst>
              <a:path h="2583309" w="2583309">
                <a:moveTo>
                  <a:pt x="0" y="0"/>
                </a:moveTo>
                <a:lnTo>
                  <a:pt x="2583309" y="0"/>
                </a:lnTo>
                <a:lnTo>
                  <a:pt x="2583309" y="2583309"/>
                </a:lnTo>
                <a:lnTo>
                  <a:pt x="0" y="25833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646997" cy="2646997"/>
          </a:xfrm>
          <a:custGeom>
            <a:avLst/>
            <a:gdLst/>
            <a:ahLst/>
            <a:cxnLst/>
            <a:rect r="r" b="b" t="t" l="l"/>
            <a:pathLst>
              <a:path h="2646997" w="2646997">
                <a:moveTo>
                  <a:pt x="0" y="0"/>
                </a:moveTo>
                <a:lnTo>
                  <a:pt x="2646997" y="0"/>
                </a:lnTo>
                <a:lnTo>
                  <a:pt x="2646997" y="2646997"/>
                </a:lnTo>
                <a:lnTo>
                  <a:pt x="0" y="264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2961" y="8114637"/>
            <a:ext cx="2256463" cy="2256463"/>
          </a:xfrm>
          <a:custGeom>
            <a:avLst/>
            <a:gdLst/>
            <a:ahLst/>
            <a:cxnLst/>
            <a:rect r="r" b="b" t="t" l="l"/>
            <a:pathLst>
              <a:path h="2256463" w="2256463">
                <a:moveTo>
                  <a:pt x="0" y="0"/>
                </a:moveTo>
                <a:lnTo>
                  <a:pt x="2256463" y="0"/>
                </a:lnTo>
                <a:lnTo>
                  <a:pt x="2256463" y="2256463"/>
                </a:lnTo>
                <a:lnTo>
                  <a:pt x="0" y="2256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323266" cy="2323266"/>
          </a:xfrm>
          <a:custGeom>
            <a:avLst/>
            <a:gdLst/>
            <a:ahLst/>
            <a:cxnLst/>
            <a:rect r="r" b="b" t="t" l="l"/>
            <a:pathLst>
              <a:path h="2323266" w="2323266">
                <a:moveTo>
                  <a:pt x="0" y="0"/>
                </a:moveTo>
                <a:lnTo>
                  <a:pt x="2323266" y="0"/>
                </a:lnTo>
                <a:lnTo>
                  <a:pt x="2323266" y="2323266"/>
                </a:lnTo>
                <a:lnTo>
                  <a:pt x="0" y="23232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2129929" y="3667719"/>
            <a:ext cx="4567263" cy="4081084"/>
            <a:chOff x="0" y="0"/>
            <a:chExt cx="1161610" cy="1037958"/>
          </a:xfrm>
        </p:grpSpPr>
        <p:sp>
          <p:nvSpPr>
            <p:cNvPr name="Freeform 15" id="15"/>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16" id="16"/>
            <p:cNvSpPr txBox="true"/>
            <p:nvPr/>
          </p:nvSpPr>
          <p:spPr>
            <a:xfrm>
              <a:off x="0" y="-57150"/>
              <a:ext cx="1161610" cy="1095108"/>
            </a:xfrm>
            <a:prstGeom prst="rect">
              <a:avLst/>
            </a:prstGeom>
          </p:spPr>
          <p:txBody>
            <a:bodyPr anchor="ctr" rtlCol="false" tIns="50800" lIns="50800" bIns="50800" rIns="50800"/>
            <a:lstStyle/>
            <a:p>
              <a:pPr algn="ctr">
                <a:lnSpc>
                  <a:spcPts val="3223"/>
                </a:lnSpc>
              </a:pPr>
            </a:p>
          </p:txBody>
        </p:sp>
      </p:grpSp>
      <p:grpSp>
        <p:nvGrpSpPr>
          <p:cNvPr name="Group 17" id="17"/>
          <p:cNvGrpSpPr/>
          <p:nvPr/>
        </p:nvGrpSpPr>
        <p:grpSpPr>
          <a:xfrm rot="0">
            <a:off x="11649589" y="3667719"/>
            <a:ext cx="4567263" cy="4081084"/>
            <a:chOff x="0" y="0"/>
            <a:chExt cx="1161610" cy="1037958"/>
          </a:xfrm>
        </p:grpSpPr>
        <p:sp>
          <p:nvSpPr>
            <p:cNvPr name="Freeform 18" id="18"/>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19" id="19"/>
            <p:cNvSpPr txBox="true"/>
            <p:nvPr/>
          </p:nvSpPr>
          <p:spPr>
            <a:xfrm>
              <a:off x="0" y="-57150"/>
              <a:ext cx="1161610" cy="1095108"/>
            </a:xfrm>
            <a:prstGeom prst="rect">
              <a:avLst/>
            </a:prstGeom>
          </p:spPr>
          <p:txBody>
            <a:bodyPr anchor="ctr" rtlCol="false" tIns="50800" lIns="50800" bIns="50800" rIns="50800"/>
            <a:lstStyle/>
            <a:p>
              <a:pPr algn="ctr">
                <a:lnSpc>
                  <a:spcPts val="3223"/>
                </a:lnSpc>
              </a:pPr>
            </a:p>
          </p:txBody>
        </p:sp>
      </p:grpSp>
      <p:grpSp>
        <p:nvGrpSpPr>
          <p:cNvPr name="Group 20" id="20"/>
          <p:cNvGrpSpPr/>
          <p:nvPr/>
        </p:nvGrpSpPr>
        <p:grpSpPr>
          <a:xfrm rot="0">
            <a:off x="6889759" y="3667719"/>
            <a:ext cx="4567263" cy="4081084"/>
            <a:chOff x="0" y="0"/>
            <a:chExt cx="1161610" cy="1037958"/>
          </a:xfrm>
        </p:grpSpPr>
        <p:sp>
          <p:nvSpPr>
            <p:cNvPr name="Freeform 21" id="21"/>
            <p:cNvSpPr/>
            <p:nvPr/>
          </p:nvSpPr>
          <p:spPr>
            <a:xfrm flipH="false" flipV="false" rot="0">
              <a:off x="0" y="0"/>
              <a:ext cx="1161610" cy="1037958"/>
            </a:xfrm>
            <a:custGeom>
              <a:avLst/>
              <a:gdLst/>
              <a:ahLst/>
              <a:cxnLst/>
              <a:rect r="r" b="b" t="t" l="l"/>
              <a:pathLst>
                <a:path h="1037958" w="1161610">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name="TextBox 22" id="22"/>
            <p:cNvSpPr txBox="true"/>
            <p:nvPr/>
          </p:nvSpPr>
          <p:spPr>
            <a:xfrm>
              <a:off x="0" y="-57150"/>
              <a:ext cx="1161610" cy="1095108"/>
            </a:xfrm>
            <a:prstGeom prst="rect">
              <a:avLst/>
            </a:prstGeom>
          </p:spPr>
          <p:txBody>
            <a:bodyPr anchor="ctr" rtlCol="false" tIns="50800" lIns="50800" bIns="50800" rIns="50800"/>
            <a:lstStyle/>
            <a:p>
              <a:pPr algn="ctr">
                <a:lnSpc>
                  <a:spcPts val="3223"/>
                </a:lnSpc>
              </a:pPr>
            </a:p>
          </p:txBody>
        </p:sp>
      </p:grpSp>
      <p:sp>
        <p:nvSpPr>
          <p:cNvPr name="TextBox 23" id="23"/>
          <p:cNvSpPr txBox="true"/>
          <p:nvPr/>
        </p:nvSpPr>
        <p:spPr>
          <a:xfrm rot="0">
            <a:off x="2500325" y="4314217"/>
            <a:ext cx="3866565" cy="293941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Poppins"/>
                <a:ea typeface="Poppins"/>
                <a:cs typeface="Poppins"/>
                <a:sym typeface="Poppins"/>
              </a:rPr>
              <a:t>The paper is based on incorporating user preferences into a genetic algorithm that results in an personalized travel route recommendation.</a:t>
            </a:r>
          </a:p>
        </p:txBody>
      </p:sp>
      <p:sp>
        <p:nvSpPr>
          <p:cNvPr name="TextBox 24" id="24"/>
          <p:cNvSpPr txBox="true"/>
          <p:nvPr/>
        </p:nvSpPr>
        <p:spPr>
          <a:xfrm rot="0">
            <a:off x="7064934" y="4104667"/>
            <a:ext cx="4216914" cy="335851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Poppins"/>
                <a:ea typeface="Poppins"/>
                <a:cs typeface="Poppins"/>
                <a:sym typeface="Poppins"/>
              </a:rPr>
              <a:t>This paper provides a systematic review of recommender systems, exploring the applications, techniques &amp; challenges while also recognizes the research gaps &amp; suggests future directions.</a:t>
            </a:r>
          </a:p>
        </p:txBody>
      </p:sp>
      <p:grpSp>
        <p:nvGrpSpPr>
          <p:cNvPr name="Group 25" id="25"/>
          <p:cNvGrpSpPr/>
          <p:nvPr/>
        </p:nvGrpSpPr>
        <p:grpSpPr>
          <a:xfrm rot="0">
            <a:off x="6366890" y="1241246"/>
            <a:ext cx="5538711" cy="1030616"/>
            <a:chOff x="0" y="0"/>
            <a:chExt cx="1666785" cy="310147"/>
          </a:xfrm>
        </p:grpSpPr>
        <p:sp>
          <p:nvSpPr>
            <p:cNvPr name="Freeform 26" id="26"/>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7" id="27"/>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28" id="28"/>
          <p:cNvSpPr txBox="true"/>
          <p:nvPr/>
        </p:nvSpPr>
        <p:spPr>
          <a:xfrm rot="0">
            <a:off x="6560546" y="1281534"/>
            <a:ext cx="5151398" cy="816690"/>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LITERARY REVIEW</a:t>
            </a:r>
          </a:p>
        </p:txBody>
      </p:sp>
      <p:sp>
        <p:nvSpPr>
          <p:cNvPr name="AutoShape 29" id="29"/>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30" id="30"/>
          <p:cNvSpPr/>
          <p:nvPr/>
        </p:nvSpPr>
        <p:spPr>
          <a:xfrm>
            <a:off x="7884175" y="8323822"/>
            <a:ext cx="2504141" cy="0"/>
          </a:xfrm>
          <a:prstGeom prst="line">
            <a:avLst/>
          </a:prstGeom>
          <a:ln cap="rnd" w="114300">
            <a:solidFill>
              <a:srgbClr val="000000"/>
            </a:solidFill>
            <a:prstDash val="sysDot"/>
            <a:headEnd type="none" len="sm" w="sm"/>
            <a:tailEnd type="none" len="sm" w="sm"/>
          </a:ln>
        </p:spPr>
      </p:sp>
      <p:grpSp>
        <p:nvGrpSpPr>
          <p:cNvPr name="Group 31" id="31"/>
          <p:cNvGrpSpPr/>
          <p:nvPr/>
        </p:nvGrpSpPr>
        <p:grpSpPr>
          <a:xfrm rot="0">
            <a:off x="4061173" y="3430149"/>
            <a:ext cx="972766" cy="598197"/>
            <a:chOff x="0" y="0"/>
            <a:chExt cx="568927" cy="349858"/>
          </a:xfrm>
        </p:grpSpPr>
        <p:sp>
          <p:nvSpPr>
            <p:cNvPr name="Freeform 32" id="32"/>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3" id="33"/>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grpSp>
        <p:nvGrpSpPr>
          <p:cNvPr name="Group 34" id="34"/>
          <p:cNvGrpSpPr/>
          <p:nvPr/>
        </p:nvGrpSpPr>
        <p:grpSpPr>
          <a:xfrm rot="0">
            <a:off x="13254244" y="3430149"/>
            <a:ext cx="972766" cy="598197"/>
            <a:chOff x="0" y="0"/>
            <a:chExt cx="568927" cy="349858"/>
          </a:xfrm>
        </p:grpSpPr>
        <p:sp>
          <p:nvSpPr>
            <p:cNvPr name="Freeform 35" id="35"/>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6" id="36"/>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grpSp>
        <p:nvGrpSpPr>
          <p:cNvPr name="Group 37" id="37"/>
          <p:cNvGrpSpPr/>
          <p:nvPr/>
        </p:nvGrpSpPr>
        <p:grpSpPr>
          <a:xfrm rot="0">
            <a:off x="8657617" y="3430149"/>
            <a:ext cx="972766" cy="598197"/>
            <a:chOff x="0" y="0"/>
            <a:chExt cx="568927" cy="349858"/>
          </a:xfrm>
        </p:grpSpPr>
        <p:sp>
          <p:nvSpPr>
            <p:cNvPr name="Freeform 38" id="38"/>
            <p:cNvSpPr/>
            <p:nvPr/>
          </p:nvSpPr>
          <p:spPr>
            <a:xfrm flipH="false" flipV="false" rot="0">
              <a:off x="0" y="0"/>
              <a:ext cx="568927" cy="349858"/>
            </a:xfrm>
            <a:custGeom>
              <a:avLst/>
              <a:gdLst/>
              <a:ahLst/>
              <a:cxnLst/>
              <a:rect r="r" b="b" t="t" l="l"/>
              <a:pathLst>
                <a:path h="349858" w="568927">
                  <a:moveTo>
                    <a:pt x="0" y="0"/>
                  </a:moveTo>
                  <a:lnTo>
                    <a:pt x="568927" y="0"/>
                  </a:lnTo>
                  <a:lnTo>
                    <a:pt x="568927"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9" id="39"/>
            <p:cNvSpPr txBox="true"/>
            <p:nvPr/>
          </p:nvSpPr>
          <p:spPr>
            <a:xfrm>
              <a:off x="0" y="-57150"/>
              <a:ext cx="568927" cy="407008"/>
            </a:xfrm>
            <a:prstGeom prst="rect">
              <a:avLst/>
            </a:prstGeom>
          </p:spPr>
          <p:txBody>
            <a:bodyPr anchor="ctr" rtlCol="false" tIns="50800" lIns="50800" bIns="50800" rIns="50800"/>
            <a:lstStyle/>
            <a:p>
              <a:pPr algn="ctr">
                <a:lnSpc>
                  <a:spcPts val="3223"/>
                </a:lnSpc>
              </a:pPr>
            </a:p>
          </p:txBody>
        </p:sp>
      </p:grpSp>
      <p:sp>
        <p:nvSpPr>
          <p:cNvPr name="TextBox 40" id="40"/>
          <p:cNvSpPr txBox="true"/>
          <p:nvPr/>
        </p:nvSpPr>
        <p:spPr>
          <a:xfrm rot="0">
            <a:off x="4138869"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01</a:t>
            </a:r>
          </a:p>
        </p:txBody>
      </p:sp>
      <p:sp>
        <p:nvSpPr>
          <p:cNvPr name="TextBox 41" id="41"/>
          <p:cNvSpPr txBox="true"/>
          <p:nvPr/>
        </p:nvSpPr>
        <p:spPr>
          <a:xfrm rot="0">
            <a:off x="8723016"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02</a:t>
            </a:r>
          </a:p>
        </p:txBody>
      </p:sp>
      <p:sp>
        <p:nvSpPr>
          <p:cNvPr name="TextBox 42" id="42"/>
          <p:cNvSpPr txBox="true"/>
          <p:nvPr/>
        </p:nvSpPr>
        <p:spPr>
          <a:xfrm rot="0">
            <a:off x="13331758" y="3449213"/>
            <a:ext cx="814291"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FFFFFF"/>
                </a:solidFill>
                <a:latin typeface="Poppins Bold"/>
                <a:ea typeface="Poppins Bold"/>
                <a:cs typeface="Poppins Bold"/>
                <a:sym typeface="Poppins Bold"/>
              </a:rPr>
              <a:t>03</a:t>
            </a:r>
          </a:p>
        </p:txBody>
      </p:sp>
      <p:sp>
        <p:nvSpPr>
          <p:cNvPr name="TextBox 43" id="43"/>
          <p:cNvSpPr txBox="true"/>
          <p:nvPr/>
        </p:nvSpPr>
        <p:spPr>
          <a:xfrm rot="0">
            <a:off x="11828497" y="3989097"/>
            <a:ext cx="4207360" cy="359918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This paper proposes a model called </a:t>
            </a:r>
            <a:r>
              <a:rPr lang="en-US" b="true" sz="2300">
                <a:solidFill>
                  <a:srgbClr val="000000"/>
                </a:solidFill>
                <a:latin typeface="Poppins Bold"/>
                <a:ea typeface="Poppins Bold"/>
                <a:cs typeface="Poppins Bold"/>
                <a:sym typeface="Poppins Bold"/>
              </a:rPr>
              <a:t>TMS(Temporal Multilayer Sequential)</a:t>
            </a:r>
            <a:r>
              <a:rPr lang="en-US" sz="2300">
                <a:solidFill>
                  <a:srgbClr val="000000"/>
                </a:solidFill>
                <a:latin typeface="Poppins"/>
                <a:ea typeface="Poppins"/>
                <a:cs typeface="Poppins"/>
                <a:sym typeface="Poppins"/>
              </a:rPr>
              <a:t> Neural Network to enhance recommendations by accurately predicting user preferences &amp; travel behaviors, thus offering a better tourism experience.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918901" y="7920577"/>
            <a:ext cx="2569656" cy="2569656"/>
          </a:xfrm>
          <a:custGeom>
            <a:avLst/>
            <a:gdLst/>
            <a:ahLst/>
            <a:cxnLst/>
            <a:rect r="r" b="b" t="t" l="l"/>
            <a:pathLst>
              <a:path h="2569656" w="2569656">
                <a:moveTo>
                  <a:pt x="0" y="0"/>
                </a:moveTo>
                <a:lnTo>
                  <a:pt x="2569656" y="0"/>
                </a:lnTo>
                <a:lnTo>
                  <a:pt x="2569656" y="2569656"/>
                </a:lnTo>
                <a:lnTo>
                  <a:pt x="0" y="2569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721338" cy="2721338"/>
          </a:xfrm>
          <a:custGeom>
            <a:avLst/>
            <a:gdLst/>
            <a:ahLst/>
            <a:cxnLst/>
            <a:rect r="r" b="b" t="t" l="l"/>
            <a:pathLst>
              <a:path h="2721338" w="2721338">
                <a:moveTo>
                  <a:pt x="0" y="0"/>
                </a:moveTo>
                <a:lnTo>
                  <a:pt x="2721338" y="0"/>
                </a:lnTo>
                <a:lnTo>
                  <a:pt x="2721338" y="2721338"/>
                </a:lnTo>
                <a:lnTo>
                  <a:pt x="0" y="2721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9984" y="8121660"/>
            <a:ext cx="2249440" cy="2249440"/>
          </a:xfrm>
          <a:custGeom>
            <a:avLst/>
            <a:gdLst/>
            <a:ahLst/>
            <a:cxnLst/>
            <a:rect r="r" b="b" t="t" l="l"/>
            <a:pathLst>
              <a:path h="2249440" w="2249440">
                <a:moveTo>
                  <a:pt x="0" y="0"/>
                </a:moveTo>
                <a:lnTo>
                  <a:pt x="2249440" y="0"/>
                </a:lnTo>
                <a:lnTo>
                  <a:pt x="2249440" y="2249440"/>
                </a:lnTo>
                <a:lnTo>
                  <a:pt x="0" y="2249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320212" cy="2320212"/>
          </a:xfrm>
          <a:custGeom>
            <a:avLst/>
            <a:gdLst/>
            <a:ahLst/>
            <a:cxnLst/>
            <a:rect r="r" b="b" t="t" l="l"/>
            <a:pathLst>
              <a:path h="2320212" w="2320212">
                <a:moveTo>
                  <a:pt x="0" y="0"/>
                </a:moveTo>
                <a:lnTo>
                  <a:pt x="2320212" y="0"/>
                </a:lnTo>
                <a:lnTo>
                  <a:pt x="2320212" y="2320211"/>
                </a:lnTo>
                <a:lnTo>
                  <a:pt x="0" y="2320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992240" y="5461271"/>
            <a:ext cx="2875304" cy="2875304"/>
          </a:xfrm>
          <a:custGeom>
            <a:avLst/>
            <a:gdLst/>
            <a:ahLst/>
            <a:cxnLst/>
            <a:rect r="r" b="b" t="t" l="l"/>
            <a:pathLst>
              <a:path h="2875304" w="2875304">
                <a:moveTo>
                  <a:pt x="0" y="0"/>
                </a:moveTo>
                <a:lnTo>
                  <a:pt x="2875304" y="0"/>
                </a:lnTo>
                <a:lnTo>
                  <a:pt x="2875304" y="2875303"/>
                </a:lnTo>
                <a:lnTo>
                  <a:pt x="0" y="2875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731947" y="2087988"/>
            <a:ext cx="3001558" cy="3001558"/>
          </a:xfrm>
          <a:custGeom>
            <a:avLst/>
            <a:gdLst/>
            <a:ahLst/>
            <a:cxnLst/>
            <a:rect r="r" b="b" t="t" l="l"/>
            <a:pathLst>
              <a:path h="3001558" w="3001558">
                <a:moveTo>
                  <a:pt x="0" y="0"/>
                </a:moveTo>
                <a:lnTo>
                  <a:pt x="3001559" y="0"/>
                </a:lnTo>
                <a:lnTo>
                  <a:pt x="3001559" y="3001558"/>
                </a:lnTo>
                <a:lnTo>
                  <a:pt x="0" y="3001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99050"/>
            <a:ext cx="1252808" cy="387232"/>
          </a:xfrm>
          <a:custGeom>
            <a:avLst/>
            <a:gdLst/>
            <a:ahLst/>
            <a:cxnLst/>
            <a:rect r="r" b="b" t="t" l="l"/>
            <a:pathLst>
              <a:path h="387232" w="1252808">
                <a:moveTo>
                  <a:pt x="0" y="0"/>
                </a:moveTo>
                <a:lnTo>
                  <a:pt x="1252808" y="0"/>
                </a:lnTo>
                <a:lnTo>
                  <a:pt x="1252808" y="387232"/>
                </a:lnTo>
                <a:lnTo>
                  <a:pt x="0" y="3872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396745" y="500718"/>
            <a:ext cx="1252808" cy="387232"/>
          </a:xfrm>
          <a:custGeom>
            <a:avLst/>
            <a:gdLst/>
            <a:ahLst/>
            <a:cxnLst/>
            <a:rect r="r" b="b" t="t" l="l"/>
            <a:pathLst>
              <a:path h="387232" w="1252808">
                <a:moveTo>
                  <a:pt x="1252808" y="0"/>
                </a:moveTo>
                <a:lnTo>
                  <a:pt x="0" y="0"/>
                </a:lnTo>
                <a:lnTo>
                  <a:pt x="0" y="387232"/>
                </a:lnTo>
                <a:lnTo>
                  <a:pt x="1252808" y="387232"/>
                </a:lnTo>
                <a:lnTo>
                  <a:pt x="125280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3130365" y="3357986"/>
            <a:ext cx="12788535" cy="7988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Collect relevant vacation/trip-related websites like https://www.touristplaces.com.bd/, https://tourismbangla.com/, https://www.tripadvisor.in/, https://nijhoom.com/, etc.</a:t>
            </a:r>
          </a:p>
        </p:txBody>
      </p:sp>
      <p:sp>
        <p:nvSpPr>
          <p:cNvPr name="TextBox 15" id="15"/>
          <p:cNvSpPr txBox="true"/>
          <p:nvPr/>
        </p:nvSpPr>
        <p:spPr>
          <a:xfrm rot="0">
            <a:off x="3130365" y="5388354"/>
            <a:ext cx="12788535" cy="7988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After collecting and preprocessing travel-related data, we will train an AI model to generate personalized vacation itineraries for users.</a:t>
            </a:r>
          </a:p>
        </p:txBody>
      </p:sp>
      <p:sp>
        <p:nvSpPr>
          <p:cNvPr name="TextBox 16" id="16"/>
          <p:cNvSpPr txBox="true"/>
          <p:nvPr/>
        </p:nvSpPr>
        <p:spPr>
          <a:xfrm rot="0">
            <a:off x="3109425" y="7418722"/>
            <a:ext cx="12069149" cy="798830"/>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Poppins"/>
                <a:ea typeface="Poppins"/>
                <a:cs typeface="Poppins"/>
                <a:sym typeface="Poppins"/>
              </a:rPr>
              <a:t>With the trained model, we will integrate it into a mobile/web app, enabling users to easily access personalized vacation plans. </a:t>
            </a:r>
          </a:p>
        </p:txBody>
      </p:sp>
      <p:grpSp>
        <p:nvGrpSpPr>
          <p:cNvPr name="Group 17" id="17"/>
          <p:cNvGrpSpPr/>
          <p:nvPr/>
        </p:nvGrpSpPr>
        <p:grpSpPr>
          <a:xfrm rot="0">
            <a:off x="4575364" y="773797"/>
            <a:ext cx="9137273" cy="1030616"/>
            <a:chOff x="0" y="0"/>
            <a:chExt cx="12183031" cy="1374154"/>
          </a:xfrm>
        </p:grpSpPr>
        <p:grpSp>
          <p:nvGrpSpPr>
            <p:cNvPr name="Group 18" id="18"/>
            <p:cNvGrpSpPr/>
            <p:nvPr/>
          </p:nvGrpSpPr>
          <p:grpSpPr>
            <a:xfrm rot="0">
              <a:off x="408298" y="0"/>
              <a:ext cx="11345755" cy="1374154"/>
              <a:chOff x="0" y="0"/>
              <a:chExt cx="2560741" cy="310147"/>
            </a:xfrm>
          </p:grpSpPr>
          <p:sp>
            <p:nvSpPr>
              <p:cNvPr name="Freeform 19" id="19"/>
              <p:cNvSpPr/>
              <p:nvPr/>
            </p:nvSpPr>
            <p:spPr>
              <a:xfrm flipH="false" flipV="false" rot="0">
                <a:off x="0" y="0"/>
                <a:ext cx="2560741" cy="310147"/>
              </a:xfrm>
              <a:custGeom>
                <a:avLst/>
                <a:gdLst/>
                <a:ahLst/>
                <a:cxnLst/>
                <a:rect r="r" b="b" t="t" l="l"/>
                <a:pathLst>
                  <a:path h="310147" w="2560741">
                    <a:moveTo>
                      <a:pt x="0" y="0"/>
                    </a:moveTo>
                    <a:lnTo>
                      <a:pt x="2560741" y="0"/>
                    </a:lnTo>
                    <a:lnTo>
                      <a:pt x="2560741"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0" id="20"/>
              <p:cNvSpPr txBox="true"/>
              <p:nvPr/>
            </p:nvSpPr>
            <p:spPr>
              <a:xfrm>
                <a:off x="0" y="-57150"/>
                <a:ext cx="2560741" cy="367297"/>
              </a:xfrm>
              <a:prstGeom prst="rect">
                <a:avLst/>
              </a:prstGeom>
            </p:spPr>
            <p:txBody>
              <a:bodyPr anchor="ctr" rtlCol="false" tIns="50800" lIns="50800" bIns="50800" rIns="50800"/>
              <a:lstStyle/>
              <a:p>
                <a:pPr algn="ctr">
                  <a:lnSpc>
                    <a:spcPts val="3223"/>
                  </a:lnSpc>
                </a:pPr>
              </a:p>
            </p:txBody>
          </p:sp>
        </p:grpSp>
        <p:sp>
          <p:nvSpPr>
            <p:cNvPr name="TextBox 21" id="21"/>
            <p:cNvSpPr txBox="true"/>
            <p:nvPr/>
          </p:nvSpPr>
          <p:spPr>
            <a:xfrm rot="0">
              <a:off x="0" y="98148"/>
              <a:ext cx="12183031"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WHAT WE WANT TO DO</a:t>
              </a:r>
            </a:p>
          </p:txBody>
        </p:sp>
      </p:grpSp>
      <p:grpSp>
        <p:nvGrpSpPr>
          <p:cNvPr name="Group 22" id="22"/>
          <p:cNvGrpSpPr/>
          <p:nvPr/>
        </p:nvGrpSpPr>
        <p:grpSpPr>
          <a:xfrm rot="0">
            <a:off x="5279585" y="2073989"/>
            <a:ext cx="7728830" cy="1074447"/>
            <a:chOff x="0" y="0"/>
            <a:chExt cx="10305107" cy="1432596"/>
          </a:xfrm>
        </p:grpSpPr>
        <p:grpSp>
          <p:nvGrpSpPr>
            <p:cNvPr name="Group 23" id="23"/>
            <p:cNvGrpSpPr/>
            <p:nvPr/>
          </p:nvGrpSpPr>
          <p:grpSpPr>
            <a:xfrm rot="0">
              <a:off x="0" y="0"/>
              <a:ext cx="10305107" cy="1432596"/>
              <a:chOff x="0" y="0"/>
              <a:chExt cx="4520244" cy="628396"/>
            </a:xfrm>
          </p:grpSpPr>
          <p:sp>
            <p:nvSpPr>
              <p:cNvPr name="Freeform 24" id="24"/>
              <p:cNvSpPr/>
              <p:nvPr/>
            </p:nvSpPr>
            <p:spPr>
              <a:xfrm flipH="false" flipV="false" rot="0">
                <a:off x="0" y="0"/>
                <a:ext cx="4520244" cy="628396"/>
              </a:xfrm>
              <a:custGeom>
                <a:avLst/>
                <a:gdLst/>
                <a:ahLst/>
                <a:cxnLst/>
                <a:rect r="r" b="b" t="t" l="l"/>
                <a:pathLst>
                  <a:path h="628396" w="4520244">
                    <a:moveTo>
                      <a:pt x="0" y="0"/>
                    </a:moveTo>
                    <a:lnTo>
                      <a:pt x="4520244" y="0"/>
                    </a:lnTo>
                    <a:lnTo>
                      <a:pt x="4520244" y="628396"/>
                    </a:lnTo>
                    <a:lnTo>
                      <a:pt x="0" y="628396"/>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5" id="25"/>
              <p:cNvSpPr txBox="true"/>
              <p:nvPr/>
            </p:nvSpPr>
            <p:spPr>
              <a:xfrm>
                <a:off x="0" y="-57150"/>
                <a:ext cx="4520244" cy="685546"/>
              </a:xfrm>
              <a:prstGeom prst="rect">
                <a:avLst/>
              </a:prstGeom>
            </p:spPr>
            <p:txBody>
              <a:bodyPr anchor="ctr" rtlCol="false" tIns="50800" lIns="50800" bIns="50800" rIns="50800"/>
              <a:lstStyle/>
              <a:p>
                <a:pPr algn="ctr">
                  <a:lnSpc>
                    <a:spcPts val="3223"/>
                  </a:lnSpc>
                </a:pPr>
              </a:p>
            </p:txBody>
          </p:sp>
        </p:grpSp>
        <p:sp>
          <p:nvSpPr>
            <p:cNvPr name="TextBox 26" id="26"/>
            <p:cNvSpPr txBox="true"/>
            <p:nvPr/>
          </p:nvSpPr>
          <p:spPr>
            <a:xfrm rot="0">
              <a:off x="344156" y="50818"/>
              <a:ext cx="9616795" cy="1254760"/>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FFFFFF"/>
                  </a:solidFill>
                  <a:latin typeface="Poppins Bold"/>
                  <a:ea typeface="Poppins Bold"/>
                  <a:cs typeface="Poppins Bold"/>
                  <a:sym typeface="Poppins Bold"/>
                </a:rPr>
                <a:t>COLLECT DATA FROM WEBSITE BY WEB- SCRAPPING</a:t>
              </a:r>
            </a:p>
          </p:txBody>
        </p:sp>
      </p:grpSp>
      <p:grpSp>
        <p:nvGrpSpPr>
          <p:cNvPr name="Group 27" id="27"/>
          <p:cNvGrpSpPr/>
          <p:nvPr/>
        </p:nvGrpSpPr>
        <p:grpSpPr>
          <a:xfrm rot="0">
            <a:off x="5039600" y="6610975"/>
            <a:ext cx="8166921" cy="598197"/>
            <a:chOff x="0" y="0"/>
            <a:chExt cx="10889227" cy="797596"/>
          </a:xfrm>
        </p:grpSpPr>
        <p:grpSp>
          <p:nvGrpSpPr>
            <p:cNvPr name="Group 28" id="28"/>
            <p:cNvGrpSpPr/>
            <p:nvPr/>
          </p:nvGrpSpPr>
          <p:grpSpPr>
            <a:xfrm rot="0">
              <a:off x="0" y="0"/>
              <a:ext cx="10889227" cy="797596"/>
              <a:chOff x="0" y="0"/>
              <a:chExt cx="4776464" cy="349858"/>
            </a:xfrm>
          </p:grpSpPr>
          <p:sp>
            <p:nvSpPr>
              <p:cNvPr name="Freeform 29" id="29"/>
              <p:cNvSpPr/>
              <p:nvPr/>
            </p:nvSpPr>
            <p:spPr>
              <a:xfrm flipH="false" flipV="false" rot="0">
                <a:off x="0" y="0"/>
                <a:ext cx="4776464" cy="349858"/>
              </a:xfrm>
              <a:custGeom>
                <a:avLst/>
                <a:gdLst/>
                <a:ahLst/>
                <a:cxnLst/>
                <a:rect r="r" b="b" t="t" l="l"/>
                <a:pathLst>
                  <a:path h="349858" w="4776464">
                    <a:moveTo>
                      <a:pt x="0" y="0"/>
                    </a:moveTo>
                    <a:lnTo>
                      <a:pt x="4776464" y="0"/>
                    </a:lnTo>
                    <a:lnTo>
                      <a:pt x="4776464"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0" id="30"/>
              <p:cNvSpPr txBox="true"/>
              <p:nvPr/>
            </p:nvSpPr>
            <p:spPr>
              <a:xfrm>
                <a:off x="0" y="-57150"/>
                <a:ext cx="4776464" cy="407008"/>
              </a:xfrm>
              <a:prstGeom prst="rect">
                <a:avLst/>
              </a:prstGeom>
            </p:spPr>
            <p:txBody>
              <a:bodyPr anchor="ctr" rtlCol="false" tIns="50800" lIns="50800" bIns="50800" rIns="50800"/>
              <a:lstStyle/>
              <a:p>
                <a:pPr algn="ctr">
                  <a:lnSpc>
                    <a:spcPts val="3223"/>
                  </a:lnSpc>
                </a:pPr>
              </a:p>
            </p:txBody>
          </p:sp>
        </p:grpSp>
        <p:sp>
          <p:nvSpPr>
            <p:cNvPr name="TextBox 31" id="31"/>
            <p:cNvSpPr txBox="true"/>
            <p:nvPr/>
          </p:nvSpPr>
          <p:spPr>
            <a:xfrm rot="0">
              <a:off x="363664" y="50818"/>
              <a:ext cx="10161900" cy="619760"/>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FFFFFF"/>
                  </a:solidFill>
                  <a:latin typeface="Poppins Bold"/>
                  <a:ea typeface="Poppins Bold"/>
                  <a:cs typeface="Poppins Bold"/>
                  <a:sym typeface="Poppins Bold"/>
                </a:rPr>
                <a:t>CREATE AN APP DEMONSTRATION</a:t>
              </a:r>
            </a:p>
          </p:txBody>
        </p:sp>
      </p:grpSp>
      <p:grpSp>
        <p:nvGrpSpPr>
          <p:cNvPr name="Group 32" id="32"/>
          <p:cNvGrpSpPr/>
          <p:nvPr/>
        </p:nvGrpSpPr>
        <p:grpSpPr>
          <a:xfrm rot="0">
            <a:off x="5060540" y="4580607"/>
            <a:ext cx="8166921" cy="598197"/>
            <a:chOff x="0" y="0"/>
            <a:chExt cx="10889227" cy="797596"/>
          </a:xfrm>
        </p:grpSpPr>
        <p:grpSp>
          <p:nvGrpSpPr>
            <p:cNvPr name="Group 33" id="33"/>
            <p:cNvGrpSpPr/>
            <p:nvPr/>
          </p:nvGrpSpPr>
          <p:grpSpPr>
            <a:xfrm rot="0">
              <a:off x="0" y="0"/>
              <a:ext cx="10889227" cy="797596"/>
              <a:chOff x="0" y="0"/>
              <a:chExt cx="4776464" cy="349858"/>
            </a:xfrm>
          </p:grpSpPr>
          <p:sp>
            <p:nvSpPr>
              <p:cNvPr name="Freeform 34" id="34"/>
              <p:cNvSpPr/>
              <p:nvPr/>
            </p:nvSpPr>
            <p:spPr>
              <a:xfrm flipH="false" flipV="false" rot="0">
                <a:off x="0" y="0"/>
                <a:ext cx="4776464" cy="349858"/>
              </a:xfrm>
              <a:custGeom>
                <a:avLst/>
                <a:gdLst/>
                <a:ahLst/>
                <a:cxnLst/>
                <a:rect r="r" b="b" t="t" l="l"/>
                <a:pathLst>
                  <a:path h="349858" w="4776464">
                    <a:moveTo>
                      <a:pt x="0" y="0"/>
                    </a:moveTo>
                    <a:lnTo>
                      <a:pt x="4776464" y="0"/>
                    </a:lnTo>
                    <a:lnTo>
                      <a:pt x="4776464"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5" id="35"/>
              <p:cNvSpPr txBox="true"/>
              <p:nvPr/>
            </p:nvSpPr>
            <p:spPr>
              <a:xfrm>
                <a:off x="0" y="-57150"/>
                <a:ext cx="4776464" cy="407008"/>
              </a:xfrm>
              <a:prstGeom prst="rect">
                <a:avLst/>
              </a:prstGeom>
            </p:spPr>
            <p:txBody>
              <a:bodyPr anchor="ctr" rtlCol="false" tIns="50800" lIns="50800" bIns="50800" rIns="50800"/>
              <a:lstStyle/>
              <a:p>
                <a:pPr algn="ctr">
                  <a:lnSpc>
                    <a:spcPts val="3223"/>
                  </a:lnSpc>
                </a:pPr>
              </a:p>
            </p:txBody>
          </p:sp>
        </p:grpSp>
        <p:sp>
          <p:nvSpPr>
            <p:cNvPr name="TextBox 36" id="36"/>
            <p:cNvSpPr txBox="true"/>
            <p:nvPr/>
          </p:nvSpPr>
          <p:spPr>
            <a:xfrm rot="0">
              <a:off x="363664" y="50818"/>
              <a:ext cx="10161900" cy="619760"/>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FFFFFF"/>
                  </a:solidFill>
                  <a:latin typeface="Poppins Bold"/>
                  <a:ea typeface="Poppins Bold"/>
                  <a:cs typeface="Poppins Bold"/>
                  <a:sym typeface="Poppins Bold"/>
                </a:rPr>
                <a:t>TRAIN AN AI MODEL BASED ON THE DATA</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808291" y="7809967"/>
            <a:ext cx="2680266" cy="2680266"/>
          </a:xfrm>
          <a:custGeom>
            <a:avLst/>
            <a:gdLst/>
            <a:ahLst/>
            <a:cxnLst/>
            <a:rect r="r" b="b" t="t" l="l"/>
            <a:pathLst>
              <a:path h="2680266" w="2680266">
                <a:moveTo>
                  <a:pt x="0" y="0"/>
                </a:moveTo>
                <a:lnTo>
                  <a:pt x="2680266" y="0"/>
                </a:lnTo>
                <a:lnTo>
                  <a:pt x="2680266" y="2680266"/>
                </a:lnTo>
                <a:lnTo>
                  <a:pt x="0" y="2680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554937" y="-584617"/>
            <a:ext cx="3328479" cy="3328479"/>
          </a:xfrm>
          <a:custGeom>
            <a:avLst/>
            <a:gdLst/>
            <a:ahLst/>
            <a:cxnLst/>
            <a:rect r="r" b="b" t="t" l="l"/>
            <a:pathLst>
              <a:path h="3328479" w="3328479">
                <a:moveTo>
                  <a:pt x="0" y="0"/>
                </a:moveTo>
                <a:lnTo>
                  <a:pt x="3328478" y="0"/>
                </a:lnTo>
                <a:lnTo>
                  <a:pt x="3328478" y="3328478"/>
                </a:lnTo>
                <a:lnTo>
                  <a:pt x="0" y="3328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12961" y="8114637"/>
            <a:ext cx="2256463" cy="2256463"/>
          </a:xfrm>
          <a:custGeom>
            <a:avLst/>
            <a:gdLst/>
            <a:ahLst/>
            <a:cxnLst/>
            <a:rect r="r" b="b" t="t" l="l"/>
            <a:pathLst>
              <a:path h="2256463" w="2256463">
                <a:moveTo>
                  <a:pt x="0" y="0"/>
                </a:moveTo>
                <a:lnTo>
                  <a:pt x="2256463" y="0"/>
                </a:lnTo>
                <a:lnTo>
                  <a:pt x="2256463" y="2256463"/>
                </a:lnTo>
                <a:lnTo>
                  <a:pt x="0" y="2256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289332"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2773541" y="3726582"/>
            <a:ext cx="6102742" cy="3788180"/>
            <a:chOff x="0" y="0"/>
            <a:chExt cx="1509069" cy="936731"/>
          </a:xfrm>
        </p:grpSpPr>
        <p:sp>
          <p:nvSpPr>
            <p:cNvPr name="Freeform 15" id="15"/>
            <p:cNvSpPr/>
            <p:nvPr/>
          </p:nvSpPr>
          <p:spPr>
            <a:xfrm flipH="false" flipV="false" rot="0">
              <a:off x="0" y="0"/>
              <a:ext cx="1509069" cy="936731"/>
            </a:xfrm>
            <a:custGeom>
              <a:avLst/>
              <a:gdLst/>
              <a:ahLst/>
              <a:cxnLst/>
              <a:rect r="r" b="b" t="t" l="l"/>
              <a:pathLst>
                <a:path h="936731" w="1509069">
                  <a:moveTo>
                    <a:pt x="0" y="0"/>
                  </a:moveTo>
                  <a:lnTo>
                    <a:pt x="1509069" y="0"/>
                  </a:lnTo>
                  <a:lnTo>
                    <a:pt x="1509069" y="936731"/>
                  </a:lnTo>
                  <a:lnTo>
                    <a:pt x="0" y="936731"/>
                  </a:lnTo>
                  <a:close/>
                </a:path>
              </a:pathLst>
            </a:custGeom>
            <a:solidFill>
              <a:srgbClr val="000000">
                <a:alpha val="0"/>
              </a:srgbClr>
            </a:solidFill>
            <a:ln w="38100" cap="sq">
              <a:solidFill>
                <a:srgbClr val="000000"/>
              </a:solidFill>
              <a:prstDash val="solid"/>
              <a:miter/>
            </a:ln>
          </p:spPr>
        </p:sp>
        <p:sp>
          <p:nvSpPr>
            <p:cNvPr name="TextBox 16" id="16"/>
            <p:cNvSpPr txBox="true"/>
            <p:nvPr/>
          </p:nvSpPr>
          <p:spPr>
            <a:xfrm>
              <a:off x="0" y="-57150"/>
              <a:ext cx="1509069" cy="993881"/>
            </a:xfrm>
            <a:prstGeom prst="rect">
              <a:avLst/>
            </a:prstGeom>
          </p:spPr>
          <p:txBody>
            <a:bodyPr anchor="ctr" rtlCol="false" tIns="50800" lIns="50800" bIns="50800" rIns="50800"/>
            <a:lstStyle/>
            <a:p>
              <a:pPr algn="ctr">
                <a:lnSpc>
                  <a:spcPts val="3223"/>
                </a:lnSpc>
              </a:pPr>
            </a:p>
          </p:txBody>
        </p:sp>
      </p:grpSp>
      <p:grpSp>
        <p:nvGrpSpPr>
          <p:cNvPr name="Group 17" id="17"/>
          <p:cNvGrpSpPr/>
          <p:nvPr/>
        </p:nvGrpSpPr>
        <p:grpSpPr>
          <a:xfrm rot="0">
            <a:off x="9309845" y="3726582"/>
            <a:ext cx="6102742" cy="3788180"/>
            <a:chOff x="0" y="0"/>
            <a:chExt cx="1509069" cy="936731"/>
          </a:xfrm>
        </p:grpSpPr>
        <p:sp>
          <p:nvSpPr>
            <p:cNvPr name="Freeform 18" id="18"/>
            <p:cNvSpPr/>
            <p:nvPr/>
          </p:nvSpPr>
          <p:spPr>
            <a:xfrm flipH="false" flipV="false" rot="0">
              <a:off x="0" y="0"/>
              <a:ext cx="1509069" cy="936731"/>
            </a:xfrm>
            <a:custGeom>
              <a:avLst/>
              <a:gdLst/>
              <a:ahLst/>
              <a:cxnLst/>
              <a:rect r="r" b="b" t="t" l="l"/>
              <a:pathLst>
                <a:path h="936731" w="1509069">
                  <a:moveTo>
                    <a:pt x="0" y="0"/>
                  </a:moveTo>
                  <a:lnTo>
                    <a:pt x="1509069" y="0"/>
                  </a:lnTo>
                  <a:lnTo>
                    <a:pt x="1509069" y="936731"/>
                  </a:lnTo>
                  <a:lnTo>
                    <a:pt x="0" y="936731"/>
                  </a:lnTo>
                  <a:close/>
                </a:path>
              </a:pathLst>
            </a:custGeom>
            <a:solidFill>
              <a:srgbClr val="000000">
                <a:alpha val="0"/>
              </a:srgbClr>
            </a:solidFill>
            <a:ln w="38100" cap="sq">
              <a:solidFill>
                <a:srgbClr val="000000"/>
              </a:solidFill>
              <a:prstDash val="solid"/>
              <a:miter/>
            </a:ln>
          </p:spPr>
        </p:sp>
        <p:sp>
          <p:nvSpPr>
            <p:cNvPr name="TextBox 19" id="19"/>
            <p:cNvSpPr txBox="true"/>
            <p:nvPr/>
          </p:nvSpPr>
          <p:spPr>
            <a:xfrm>
              <a:off x="0" y="-57150"/>
              <a:ext cx="1509069" cy="993881"/>
            </a:xfrm>
            <a:prstGeom prst="rect">
              <a:avLst/>
            </a:prstGeom>
          </p:spPr>
          <p:txBody>
            <a:bodyPr anchor="ctr" rtlCol="false" tIns="50800" lIns="50800" bIns="50800" rIns="50800"/>
            <a:lstStyle/>
            <a:p>
              <a:pPr algn="ctr">
                <a:lnSpc>
                  <a:spcPts val="3223"/>
                </a:lnSpc>
              </a:pPr>
            </a:p>
          </p:txBody>
        </p:sp>
      </p:grpSp>
      <p:sp>
        <p:nvSpPr>
          <p:cNvPr name="TextBox 20" id="20"/>
          <p:cNvSpPr txBox="true"/>
          <p:nvPr/>
        </p:nvSpPr>
        <p:spPr>
          <a:xfrm rot="0">
            <a:off x="3185089" y="3968951"/>
            <a:ext cx="5279647" cy="3422716"/>
          </a:xfrm>
          <a:prstGeom prst="rect">
            <a:avLst/>
          </a:prstGeom>
        </p:spPr>
        <p:txBody>
          <a:bodyPr anchor="t" rtlCol="false" tIns="0" lIns="0" bIns="0" rIns="0">
            <a:spAutoFit/>
          </a:bodyPr>
          <a:lstStyle/>
          <a:p>
            <a:pPr algn="ctr">
              <a:lnSpc>
                <a:spcPts val="3429"/>
              </a:lnSpc>
              <a:spcBef>
                <a:spcPct val="0"/>
              </a:spcBef>
            </a:pPr>
            <a:r>
              <a:rPr lang="en-US" sz="2449">
                <a:solidFill>
                  <a:srgbClr val="000000"/>
                </a:solidFill>
                <a:latin typeface="Poppins"/>
                <a:ea typeface="Poppins"/>
                <a:cs typeface="Poppins"/>
                <a:sym typeface="Poppins"/>
              </a:rPr>
              <a:t>Collecting website data is challenging due to noise, inconsistencies, and irrelevant content. Proper filtering and preprocessing are crucial to ensure accuracy and improve dataset quality for effective AI training.</a:t>
            </a:r>
          </a:p>
        </p:txBody>
      </p:sp>
      <p:sp>
        <p:nvSpPr>
          <p:cNvPr name="TextBox 21" id="21"/>
          <p:cNvSpPr txBox="true"/>
          <p:nvPr/>
        </p:nvSpPr>
        <p:spPr>
          <a:xfrm rot="0">
            <a:off x="9721392" y="4181997"/>
            <a:ext cx="5279647" cy="2996624"/>
          </a:xfrm>
          <a:prstGeom prst="rect">
            <a:avLst/>
          </a:prstGeom>
        </p:spPr>
        <p:txBody>
          <a:bodyPr anchor="t" rtlCol="false" tIns="0" lIns="0" bIns="0" rIns="0">
            <a:spAutoFit/>
          </a:bodyPr>
          <a:lstStyle/>
          <a:p>
            <a:pPr algn="ctr">
              <a:lnSpc>
                <a:spcPts val="3429"/>
              </a:lnSpc>
              <a:spcBef>
                <a:spcPct val="0"/>
              </a:spcBef>
            </a:pPr>
            <a:r>
              <a:rPr lang="en-US" sz="2449">
                <a:solidFill>
                  <a:srgbClr val="000000"/>
                </a:solidFill>
                <a:latin typeface="Poppins"/>
                <a:ea typeface="Poppins"/>
                <a:cs typeface="Poppins"/>
                <a:sym typeface="Poppins"/>
              </a:rPr>
              <a:t>As tourism trends evolve rapidly, collected data can quickly become outdated. Using transfer learning, the AI model can adapt efficiently to new data without full retraining, ensuring accurate and up-to-date recommendations.</a:t>
            </a:r>
          </a:p>
        </p:txBody>
      </p:sp>
      <p:grpSp>
        <p:nvGrpSpPr>
          <p:cNvPr name="Group 22" id="22"/>
          <p:cNvGrpSpPr/>
          <p:nvPr/>
        </p:nvGrpSpPr>
        <p:grpSpPr>
          <a:xfrm rot="0">
            <a:off x="6366890" y="1241246"/>
            <a:ext cx="5538711" cy="1030616"/>
            <a:chOff x="0" y="0"/>
            <a:chExt cx="1666785" cy="310147"/>
          </a:xfrm>
        </p:grpSpPr>
        <p:sp>
          <p:nvSpPr>
            <p:cNvPr name="Freeform 23" id="23"/>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4" id="24"/>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25" id="25"/>
          <p:cNvSpPr txBox="true"/>
          <p:nvPr/>
        </p:nvSpPr>
        <p:spPr>
          <a:xfrm rot="0">
            <a:off x="7088112" y="1281534"/>
            <a:ext cx="4096267"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CHALLENGES</a:t>
            </a:r>
          </a:p>
        </p:txBody>
      </p:sp>
      <p:sp>
        <p:nvSpPr>
          <p:cNvPr name="AutoShape 26" id="26"/>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7" id="27"/>
          <p:cNvSpPr/>
          <p:nvPr/>
        </p:nvSpPr>
        <p:spPr>
          <a:xfrm>
            <a:off x="7884175" y="8323822"/>
            <a:ext cx="2504141" cy="0"/>
          </a:xfrm>
          <a:prstGeom prst="line">
            <a:avLst/>
          </a:prstGeom>
          <a:ln cap="rnd" w="114300">
            <a:solidFill>
              <a:srgbClr val="000000"/>
            </a:solidFill>
            <a:prstDash val="sysDot"/>
            <a:headEnd type="none" len="sm" w="sm"/>
            <a:tailEnd type="none" len="sm" w="sm"/>
          </a:ln>
        </p:spPr>
      </p:sp>
      <p:grpSp>
        <p:nvGrpSpPr>
          <p:cNvPr name="Group 28" id="28"/>
          <p:cNvGrpSpPr/>
          <p:nvPr/>
        </p:nvGrpSpPr>
        <p:grpSpPr>
          <a:xfrm rot="0">
            <a:off x="4672054" y="3354680"/>
            <a:ext cx="2305717" cy="598197"/>
            <a:chOff x="0" y="0"/>
            <a:chExt cx="1348510" cy="349858"/>
          </a:xfrm>
        </p:grpSpPr>
        <p:sp>
          <p:nvSpPr>
            <p:cNvPr name="Freeform 29" id="29"/>
            <p:cNvSpPr/>
            <p:nvPr/>
          </p:nvSpPr>
          <p:spPr>
            <a:xfrm flipH="false" flipV="false" rot="0">
              <a:off x="0" y="0"/>
              <a:ext cx="1348510" cy="349858"/>
            </a:xfrm>
            <a:custGeom>
              <a:avLst/>
              <a:gdLst/>
              <a:ahLst/>
              <a:cxnLst/>
              <a:rect r="r" b="b" t="t" l="l"/>
              <a:pathLst>
                <a:path h="349858" w="1348510">
                  <a:moveTo>
                    <a:pt x="0" y="0"/>
                  </a:moveTo>
                  <a:lnTo>
                    <a:pt x="1348510" y="0"/>
                  </a:lnTo>
                  <a:lnTo>
                    <a:pt x="1348510"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0" id="30"/>
            <p:cNvSpPr txBox="true"/>
            <p:nvPr/>
          </p:nvSpPr>
          <p:spPr>
            <a:xfrm>
              <a:off x="0" y="-57150"/>
              <a:ext cx="1348510" cy="407008"/>
            </a:xfrm>
            <a:prstGeom prst="rect">
              <a:avLst/>
            </a:prstGeom>
          </p:spPr>
          <p:txBody>
            <a:bodyPr anchor="ctr" rtlCol="false" tIns="50800" lIns="50800" bIns="50800" rIns="50800"/>
            <a:lstStyle/>
            <a:p>
              <a:pPr algn="ctr">
                <a:lnSpc>
                  <a:spcPts val="3223"/>
                </a:lnSpc>
              </a:pPr>
            </a:p>
          </p:txBody>
        </p:sp>
      </p:grpSp>
      <p:grpSp>
        <p:nvGrpSpPr>
          <p:cNvPr name="Group 31" id="31"/>
          <p:cNvGrpSpPr/>
          <p:nvPr/>
        </p:nvGrpSpPr>
        <p:grpSpPr>
          <a:xfrm rot="0">
            <a:off x="11050818" y="3354680"/>
            <a:ext cx="2305717" cy="598197"/>
            <a:chOff x="0" y="0"/>
            <a:chExt cx="1348510" cy="349858"/>
          </a:xfrm>
        </p:grpSpPr>
        <p:sp>
          <p:nvSpPr>
            <p:cNvPr name="Freeform 32" id="32"/>
            <p:cNvSpPr/>
            <p:nvPr/>
          </p:nvSpPr>
          <p:spPr>
            <a:xfrm flipH="false" flipV="false" rot="0">
              <a:off x="0" y="0"/>
              <a:ext cx="1348510" cy="349858"/>
            </a:xfrm>
            <a:custGeom>
              <a:avLst/>
              <a:gdLst/>
              <a:ahLst/>
              <a:cxnLst/>
              <a:rect r="r" b="b" t="t" l="l"/>
              <a:pathLst>
                <a:path h="349858" w="1348510">
                  <a:moveTo>
                    <a:pt x="0" y="0"/>
                  </a:moveTo>
                  <a:lnTo>
                    <a:pt x="1348510" y="0"/>
                  </a:lnTo>
                  <a:lnTo>
                    <a:pt x="1348510" y="349858"/>
                  </a:lnTo>
                  <a:lnTo>
                    <a:pt x="0" y="34985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33" id="33"/>
            <p:cNvSpPr txBox="true"/>
            <p:nvPr/>
          </p:nvSpPr>
          <p:spPr>
            <a:xfrm>
              <a:off x="0" y="-57150"/>
              <a:ext cx="1348510" cy="407008"/>
            </a:xfrm>
            <a:prstGeom prst="rect">
              <a:avLst/>
            </a:prstGeom>
          </p:spPr>
          <p:txBody>
            <a:bodyPr anchor="ctr" rtlCol="false" tIns="50800" lIns="50800" bIns="50800" rIns="50800"/>
            <a:lstStyle/>
            <a:p>
              <a:pPr algn="ctr">
                <a:lnSpc>
                  <a:spcPts val="3223"/>
                </a:lnSpc>
              </a:pPr>
            </a:p>
          </p:txBody>
        </p:sp>
      </p:grpSp>
      <p:sp>
        <p:nvSpPr>
          <p:cNvPr name="TextBox 34" id="34"/>
          <p:cNvSpPr txBox="true"/>
          <p:nvPr/>
        </p:nvSpPr>
        <p:spPr>
          <a:xfrm rot="0">
            <a:off x="4803691" y="3373744"/>
            <a:ext cx="2056052" cy="483870"/>
          </a:xfrm>
          <a:prstGeom prst="rect">
            <a:avLst/>
          </a:prstGeom>
        </p:spPr>
        <p:txBody>
          <a:bodyPr anchor="t" rtlCol="false" tIns="0" lIns="0" bIns="0" rIns="0">
            <a:spAutoFit/>
          </a:bodyPr>
          <a:lstStyle/>
          <a:p>
            <a:pPr algn="ctr" marL="0" indent="0" lvl="0">
              <a:lnSpc>
                <a:spcPts val="3779"/>
              </a:lnSpc>
              <a:spcBef>
                <a:spcPct val="0"/>
              </a:spcBef>
            </a:pPr>
            <a:r>
              <a:rPr lang="en-US" b="true" sz="2700" strike="noStrike" u="none">
                <a:solidFill>
                  <a:srgbClr val="FFFFFF"/>
                </a:solidFill>
                <a:latin typeface="Poppins Bold"/>
                <a:ea typeface="Poppins Bold"/>
                <a:cs typeface="Poppins Bold"/>
                <a:sym typeface="Poppins Bold"/>
              </a:rPr>
              <a:t>PROBLEM 1</a:t>
            </a:r>
          </a:p>
        </p:txBody>
      </p:sp>
      <p:sp>
        <p:nvSpPr>
          <p:cNvPr name="TextBox 35" id="35"/>
          <p:cNvSpPr txBox="true"/>
          <p:nvPr/>
        </p:nvSpPr>
        <p:spPr>
          <a:xfrm rot="0">
            <a:off x="11175650" y="3373744"/>
            <a:ext cx="2056052" cy="483870"/>
          </a:xfrm>
          <a:prstGeom prst="rect">
            <a:avLst/>
          </a:prstGeom>
        </p:spPr>
        <p:txBody>
          <a:bodyPr anchor="t" rtlCol="false" tIns="0" lIns="0" bIns="0" rIns="0">
            <a:spAutoFit/>
          </a:bodyPr>
          <a:lstStyle/>
          <a:p>
            <a:pPr algn="ctr" marL="0" indent="0" lvl="0">
              <a:lnSpc>
                <a:spcPts val="3779"/>
              </a:lnSpc>
              <a:spcBef>
                <a:spcPct val="0"/>
              </a:spcBef>
            </a:pPr>
            <a:r>
              <a:rPr lang="en-US" b="true" sz="2700" strike="noStrike" u="none">
                <a:solidFill>
                  <a:srgbClr val="FFFFFF"/>
                </a:solidFill>
                <a:latin typeface="Poppins Bold"/>
                <a:ea typeface="Poppins Bold"/>
                <a:cs typeface="Poppins Bold"/>
                <a:sym typeface="Poppins Bold"/>
              </a:rPr>
              <a:t>PROBLEM 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64239" y="1924527"/>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893129" y="3512567"/>
            <a:ext cx="8501743" cy="4631356"/>
          </a:xfrm>
          <a:prstGeom prst="rect">
            <a:avLst/>
          </a:prstGeom>
        </p:spPr>
        <p:txBody>
          <a:bodyPr anchor="t" rtlCol="false" tIns="0" lIns="0" bIns="0" rIns="0">
            <a:spAutoFit/>
          </a:bodyPr>
          <a:lstStyle/>
          <a:p>
            <a:pPr algn="just">
              <a:lnSpc>
                <a:spcPts val="4078"/>
              </a:lnSpc>
            </a:pPr>
          </a:p>
          <a:p>
            <a:pPr algn="just" marL="628951" indent="-314475" lvl="1">
              <a:lnSpc>
                <a:spcPts val="4078"/>
              </a:lnSpc>
              <a:buAutoNum type="arabicPeriod" startAt="1"/>
            </a:pPr>
            <a:r>
              <a:rPr lang="en-US" sz="2913">
                <a:solidFill>
                  <a:srgbClr val="000000"/>
                </a:solidFill>
                <a:latin typeface="Poppins"/>
                <a:ea typeface="Poppins"/>
                <a:cs typeface="Poppins"/>
                <a:sym typeface="Poppins"/>
              </a:rPr>
              <a:t> Rising Popularity of Personalized Travel</a:t>
            </a:r>
          </a:p>
          <a:p>
            <a:pPr algn="just">
              <a:lnSpc>
                <a:spcPts val="4078"/>
              </a:lnSpc>
            </a:pPr>
          </a:p>
          <a:p>
            <a:pPr algn="just">
              <a:lnSpc>
                <a:spcPts val="4078"/>
              </a:lnSpc>
            </a:pPr>
            <a:r>
              <a:rPr lang="en-US" sz="2913">
                <a:solidFill>
                  <a:srgbClr val="000000"/>
                </a:solidFill>
                <a:latin typeface="Poppins"/>
                <a:ea typeface="Poppins"/>
                <a:cs typeface="Poppins"/>
                <a:sym typeface="Poppins"/>
              </a:rPr>
              <a:t>   2. </a:t>
            </a:r>
            <a:r>
              <a:rPr lang="en-US" sz="2913">
                <a:solidFill>
                  <a:srgbClr val="000000"/>
                </a:solidFill>
                <a:latin typeface="Poppins"/>
                <a:ea typeface="Poppins"/>
                <a:cs typeface="Poppins"/>
                <a:sym typeface="Poppins"/>
              </a:rPr>
              <a:t>Data Overload</a:t>
            </a:r>
          </a:p>
          <a:p>
            <a:pPr algn="just">
              <a:lnSpc>
                <a:spcPts val="4078"/>
              </a:lnSpc>
            </a:pPr>
          </a:p>
          <a:p>
            <a:pPr algn="just">
              <a:lnSpc>
                <a:spcPts val="4078"/>
              </a:lnSpc>
            </a:pPr>
            <a:r>
              <a:rPr lang="en-US" sz="2913">
                <a:solidFill>
                  <a:srgbClr val="000000"/>
                </a:solidFill>
                <a:latin typeface="Poppins"/>
                <a:ea typeface="Poppins"/>
                <a:cs typeface="Poppins"/>
                <a:sym typeface="Poppins"/>
              </a:rPr>
              <a:t>   3. Practical Applications &amp; Industry Demand</a:t>
            </a:r>
          </a:p>
          <a:p>
            <a:pPr algn="just">
              <a:lnSpc>
                <a:spcPts val="4078"/>
              </a:lnSpc>
            </a:pPr>
          </a:p>
          <a:p>
            <a:pPr algn="just">
              <a:lnSpc>
                <a:spcPts val="4078"/>
              </a:lnSpc>
              <a:spcBef>
                <a:spcPct val="0"/>
              </a:spcBef>
            </a:pPr>
          </a:p>
          <a:p>
            <a:pPr algn="just">
              <a:lnSpc>
                <a:spcPts val="4078"/>
              </a:lnSpc>
              <a:spcBef>
                <a:spcPct val="0"/>
              </a:spcBef>
            </a:pPr>
          </a:p>
        </p:txBody>
      </p:sp>
      <p:grpSp>
        <p:nvGrpSpPr>
          <p:cNvPr name="Group 15" id="15"/>
          <p:cNvGrpSpPr/>
          <p:nvPr/>
        </p:nvGrpSpPr>
        <p:grpSpPr>
          <a:xfrm rot="0">
            <a:off x="6374644" y="1028700"/>
            <a:ext cx="5538711" cy="1030616"/>
            <a:chOff x="0" y="0"/>
            <a:chExt cx="1666785" cy="310147"/>
          </a:xfrm>
        </p:grpSpPr>
        <p:sp>
          <p:nvSpPr>
            <p:cNvPr name="Freeform 16" id="16"/>
            <p:cNvSpPr/>
            <p:nvPr/>
          </p:nvSpPr>
          <p:spPr>
            <a:xfrm flipH="false" flipV="false" rot="0">
              <a:off x="0" y="0"/>
              <a:ext cx="1666785" cy="310147"/>
            </a:xfrm>
            <a:custGeom>
              <a:avLst/>
              <a:gdLst/>
              <a:ahLst/>
              <a:cxnLst/>
              <a:rect r="r" b="b" t="t" l="l"/>
              <a:pathLst>
                <a:path h="310147" w="1666785">
                  <a:moveTo>
                    <a:pt x="0" y="0"/>
                  </a:moveTo>
                  <a:lnTo>
                    <a:pt x="1666785" y="0"/>
                  </a:lnTo>
                  <a:lnTo>
                    <a:pt x="1666785"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7" id="17"/>
            <p:cNvSpPr txBox="true"/>
            <p:nvPr/>
          </p:nvSpPr>
          <p:spPr>
            <a:xfrm>
              <a:off x="0" y="-57150"/>
              <a:ext cx="1666785" cy="367297"/>
            </a:xfrm>
            <a:prstGeom prst="rect">
              <a:avLst/>
            </a:prstGeom>
          </p:spPr>
          <p:txBody>
            <a:bodyPr anchor="ctr" rtlCol="false" tIns="50800" lIns="50800" bIns="50800" rIns="50800"/>
            <a:lstStyle/>
            <a:p>
              <a:pPr algn="ctr">
                <a:lnSpc>
                  <a:spcPts val="3223"/>
                </a:lnSpc>
              </a:pPr>
            </a:p>
          </p:txBody>
        </p:sp>
      </p:grpSp>
      <p:sp>
        <p:nvSpPr>
          <p:cNvPr name="TextBox 18" id="18"/>
          <p:cNvSpPr txBox="true"/>
          <p:nvPr/>
        </p:nvSpPr>
        <p:spPr>
          <a:xfrm rot="0">
            <a:off x="6568301" y="1068988"/>
            <a:ext cx="5151398"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WHY THIS TOPIC?</a:t>
            </a:r>
          </a:p>
        </p:txBody>
      </p:sp>
      <p:sp>
        <p:nvSpPr>
          <p:cNvPr name="AutoShape 19" id="19"/>
          <p:cNvSpPr/>
          <p:nvPr/>
        </p:nvSpPr>
        <p:spPr>
          <a:xfrm>
            <a:off x="7891929" y="2553970"/>
            <a:ext cx="2504141" cy="0"/>
          </a:xfrm>
          <a:prstGeom prst="line">
            <a:avLst/>
          </a:prstGeom>
          <a:ln cap="rnd" w="114300">
            <a:solidFill>
              <a:srgbClr val="000000"/>
            </a:solidFill>
            <a:prstDash val="sysDot"/>
            <a:headEnd type="none" len="sm" w="sm"/>
            <a:tailEnd type="none" len="sm" w="sm"/>
          </a:ln>
        </p:spPr>
      </p:sp>
      <p:sp>
        <p:nvSpPr>
          <p:cNvPr name="AutoShape 20" id="20"/>
          <p:cNvSpPr/>
          <p:nvPr/>
        </p:nvSpPr>
        <p:spPr>
          <a:xfrm>
            <a:off x="7891929" y="9517302"/>
            <a:ext cx="2504141" cy="0"/>
          </a:xfrm>
          <a:prstGeom prst="line">
            <a:avLst/>
          </a:prstGeom>
          <a:ln cap="rnd" w="114300">
            <a:solidFill>
              <a:srgbClr val="000000"/>
            </a:solidFill>
            <a:prstDash val="sysDot"/>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412587" y="7414263"/>
            <a:ext cx="3075969" cy="3075969"/>
          </a:xfrm>
          <a:custGeom>
            <a:avLst/>
            <a:gdLst/>
            <a:ahLst/>
            <a:cxnLst/>
            <a:rect r="r" b="b" t="t" l="l"/>
            <a:pathLst>
              <a:path h="3075969" w="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3328479" cy="3328479"/>
          </a:xfrm>
          <a:custGeom>
            <a:avLst/>
            <a:gdLst/>
            <a:ahLst/>
            <a:cxnLst/>
            <a:rect r="r" b="b" t="t" l="l"/>
            <a:pathLst>
              <a:path h="3328479" w="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18901" y="7920577"/>
            <a:ext cx="2450523" cy="2450523"/>
          </a:xfrm>
          <a:custGeom>
            <a:avLst/>
            <a:gdLst/>
            <a:ahLst/>
            <a:cxnLst/>
            <a:rect r="r" b="b" t="t" l="l"/>
            <a:pathLst>
              <a:path h="2450523" w="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651689" cy="2651689"/>
          </a:xfrm>
          <a:custGeom>
            <a:avLst/>
            <a:gdLst/>
            <a:ahLst/>
            <a:cxnLst/>
            <a:rect r="r" b="b" t="t" l="l"/>
            <a:pathLst>
              <a:path h="2651689" w="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6750015" y="5360938"/>
            <a:ext cx="3075969" cy="3075969"/>
          </a:xfrm>
          <a:custGeom>
            <a:avLst/>
            <a:gdLst/>
            <a:ahLst/>
            <a:cxnLst/>
            <a:rect r="r" b="b" t="t" l="l"/>
            <a:pathLst>
              <a:path h="3075969" w="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647968" y="1934032"/>
            <a:ext cx="3374371" cy="3374371"/>
          </a:xfrm>
          <a:custGeom>
            <a:avLst/>
            <a:gdLst/>
            <a:ahLst/>
            <a:cxnLst/>
            <a:rect r="r" b="b" t="t" l="l"/>
            <a:pathLst>
              <a:path h="3374371" w="3374371">
                <a:moveTo>
                  <a:pt x="0" y="0"/>
                </a:moveTo>
                <a:lnTo>
                  <a:pt x="3374372" y="0"/>
                </a:lnTo>
                <a:lnTo>
                  <a:pt x="3374372" y="3374372"/>
                </a:lnTo>
                <a:lnTo>
                  <a:pt x="0" y="3374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2749732" y="1235177"/>
            <a:ext cx="12788535" cy="1030616"/>
            <a:chOff x="0" y="0"/>
            <a:chExt cx="17051380" cy="1374154"/>
          </a:xfrm>
        </p:grpSpPr>
        <p:grpSp>
          <p:nvGrpSpPr>
            <p:cNvPr name="Group 15" id="15"/>
            <p:cNvGrpSpPr/>
            <p:nvPr/>
          </p:nvGrpSpPr>
          <p:grpSpPr>
            <a:xfrm rot="0">
              <a:off x="0" y="0"/>
              <a:ext cx="17051380" cy="1374154"/>
              <a:chOff x="0" y="0"/>
              <a:chExt cx="3848502" cy="310147"/>
            </a:xfrm>
          </p:grpSpPr>
          <p:sp>
            <p:nvSpPr>
              <p:cNvPr name="Freeform 16" id="16"/>
              <p:cNvSpPr/>
              <p:nvPr/>
            </p:nvSpPr>
            <p:spPr>
              <a:xfrm flipH="false" flipV="false" rot="0">
                <a:off x="0" y="0"/>
                <a:ext cx="3848502" cy="310147"/>
              </a:xfrm>
              <a:custGeom>
                <a:avLst/>
                <a:gdLst/>
                <a:ahLst/>
                <a:cxnLst/>
                <a:rect r="r" b="b" t="t" l="l"/>
                <a:pathLst>
                  <a:path h="310147" w="3848502">
                    <a:moveTo>
                      <a:pt x="0" y="0"/>
                    </a:moveTo>
                    <a:lnTo>
                      <a:pt x="3848502" y="0"/>
                    </a:lnTo>
                    <a:lnTo>
                      <a:pt x="3848502"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7" id="17"/>
              <p:cNvSpPr txBox="true"/>
              <p:nvPr/>
            </p:nvSpPr>
            <p:spPr>
              <a:xfrm>
                <a:off x="0" y="-57150"/>
                <a:ext cx="3848502" cy="367297"/>
              </a:xfrm>
              <a:prstGeom prst="rect">
                <a:avLst/>
              </a:prstGeom>
            </p:spPr>
            <p:txBody>
              <a:bodyPr anchor="ctr" rtlCol="false" tIns="50800" lIns="50800" bIns="50800" rIns="50800"/>
              <a:lstStyle/>
              <a:p>
                <a:pPr algn="ctr">
                  <a:lnSpc>
                    <a:spcPts val="3223"/>
                  </a:lnSpc>
                </a:pPr>
              </a:p>
            </p:txBody>
          </p:sp>
        </p:grpSp>
        <p:sp>
          <p:nvSpPr>
            <p:cNvPr name="TextBox 18" id="18"/>
            <p:cNvSpPr txBox="true"/>
            <p:nvPr/>
          </p:nvSpPr>
          <p:spPr>
            <a:xfrm rot="0">
              <a:off x="1359703" y="98148"/>
              <a:ext cx="14331975" cy="104450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WHAT MAKES OUR PROPOSAL UNIQUE</a:t>
              </a:r>
            </a:p>
          </p:txBody>
        </p:sp>
      </p:grpSp>
      <p:sp>
        <p:nvSpPr>
          <p:cNvPr name="AutoShape 19" id="19"/>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20" id="20"/>
          <p:cNvSpPr/>
          <p:nvPr/>
        </p:nvSpPr>
        <p:spPr>
          <a:xfrm>
            <a:off x="7884175" y="8323822"/>
            <a:ext cx="2504141" cy="0"/>
          </a:xfrm>
          <a:prstGeom prst="line">
            <a:avLst/>
          </a:prstGeom>
          <a:ln cap="rnd" w="114300">
            <a:solidFill>
              <a:srgbClr val="000000"/>
            </a:solidFill>
            <a:prstDash val="sysDot"/>
            <a:headEnd type="none" len="sm" w="sm"/>
            <a:tailEnd type="none" len="sm" w="sm"/>
          </a:ln>
        </p:spPr>
      </p:sp>
      <p:sp>
        <p:nvSpPr>
          <p:cNvPr name="TextBox 21" id="21"/>
          <p:cNvSpPr txBox="true"/>
          <p:nvPr/>
        </p:nvSpPr>
        <p:spPr>
          <a:xfrm rot="0">
            <a:off x="4084840" y="3370180"/>
            <a:ext cx="10118321" cy="4359910"/>
          </a:xfrm>
          <a:prstGeom prst="rect">
            <a:avLst/>
          </a:prstGeom>
        </p:spPr>
        <p:txBody>
          <a:bodyPr anchor="t" rtlCol="false" tIns="0" lIns="0" bIns="0" rIns="0">
            <a:spAutoFit/>
          </a:bodyPr>
          <a:lstStyle/>
          <a:p>
            <a:pPr algn="ctr">
              <a:lnSpc>
                <a:spcPts val="4339"/>
              </a:lnSpc>
            </a:pPr>
            <a:r>
              <a:rPr lang="en-US" sz="3099" b="true">
                <a:solidFill>
                  <a:srgbClr val="000000"/>
                </a:solidFill>
                <a:latin typeface="Poppins Bold"/>
                <a:ea typeface="Poppins Bold"/>
                <a:cs typeface="Poppins Bold"/>
                <a:sym typeface="Poppins Bold"/>
              </a:rPr>
              <a:t>Personalized Vacation </a:t>
            </a:r>
            <a:r>
              <a:rPr lang="en-US" sz="3099">
                <a:solidFill>
                  <a:srgbClr val="000000"/>
                </a:solidFill>
                <a:latin typeface="Poppins"/>
                <a:ea typeface="Poppins"/>
                <a:cs typeface="Poppins"/>
                <a:sym typeface="Poppins"/>
              </a:rPr>
              <a:t>– Planned trip based on user preferences, whether they seek adventure in the hills of Bandarban or relaxation on the beaches of Cox’s Bazar.</a:t>
            </a:r>
          </a:p>
          <a:p>
            <a:pPr algn="ctr">
              <a:lnSpc>
                <a:spcPts val="4339"/>
              </a:lnSpc>
            </a:pPr>
          </a:p>
          <a:p>
            <a:pPr algn="ctr">
              <a:lnSpc>
                <a:spcPts val="4339"/>
              </a:lnSpc>
              <a:spcBef>
                <a:spcPct val="0"/>
              </a:spcBef>
            </a:pPr>
            <a:r>
              <a:rPr lang="en-US" b="true" sz="3099">
                <a:solidFill>
                  <a:srgbClr val="000000"/>
                </a:solidFill>
                <a:latin typeface="Poppins Bold"/>
                <a:ea typeface="Poppins Bold"/>
                <a:cs typeface="Poppins Bold"/>
                <a:sym typeface="Poppins Bold"/>
              </a:rPr>
              <a:t>Budget-Conscious Planning</a:t>
            </a:r>
            <a:r>
              <a:rPr lang="en-US" sz="3099">
                <a:solidFill>
                  <a:srgbClr val="000000"/>
                </a:solidFill>
                <a:latin typeface="Poppins"/>
                <a:ea typeface="Poppins"/>
                <a:cs typeface="Poppins"/>
                <a:sym typeface="Poppins"/>
              </a:rPr>
              <a:t> – Provides options for every budget, from luxurious resorts to budget-friendly stays and dining recommendations.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5998652" y="8000328"/>
            <a:ext cx="2489905" cy="2489905"/>
          </a:xfrm>
          <a:custGeom>
            <a:avLst/>
            <a:gdLst/>
            <a:ahLst/>
            <a:cxnLst/>
            <a:rect r="r" b="b" t="t" l="l"/>
            <a:pathLst>
              <a:path h="2489905" w="2489905">
                <a:moveTo>
                  <a:pt x="0" y="0"/>
                </a:moveTo>
                <a:lnTo>
                  <a:pt x="2489905" y="0"/>
                </a:lnTo>
                <a:lnTo>
                  <a:pt x="2489905" y="2489905"/>
                </a:lnTo>
                <a:lnTo>
                  <a:pt x="0" y="2489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646997" cy="2646997"/>
          </a:xfrm>
          <a:custGeom>
            <a:avLst/>
            <a:gdLst/>
            <a:ahLst/>
            <a:cxnLst/>
            <a:rect r="r" b="b" t="t" l="l"/>
            <a:pathLst>
              <a:path h="2646997" w="2646997">
                <a:moveTo>
                  <a:pt x="0" y="0"/>
                </a:moveTo>
                <a:lnTo>
                  <a:pt x="2646997" y="0"/>
                </a:lnTo>
                <a:lnTo>
                  <a:pt x="2646997" y="2646997"/>
                </a:lnTo>
                <a:lnTo>
                  <a:pt x="0" y="264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16852" y="8218528"/>
            <a:ext cx="2152572" cy="2152572"/>
          </a:xfrm>
          <a:custGeom>
            <a:avLst/>
            <a:gdLst/>
            <a:ahLst/>
            <a:cxnLst/>
            <a:rect r="r" b="b" t="t" l="l"/>
            <a:pathLst>
              <a:path h="2152572" w="2152572">
                <a:moveTo>
                  <a:pt x="0" y="0"/>
                </a:moveTo>
                <a:lnTo>
                  <a:pt x="2152572" y="0"/>
                </a:lnTo>
                <a:lnTo>
                  <a:pt x="2152572" y="2152572"/>
                </a:lnTo>
                <a:lnTo>
                  <a:pt x="0" y="2152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344475" cy="2344475"/>
          </a:xfrm>
          <a:custGeom>
            <a:avLst/>
            <a:gdLst/>
            <a:ahLst/>
            <a:cxnLst/>
            <a:rect r="r" b="b" t="t" l="l"/>
            <a:pathLst>
              <a:path h="2344475" w="2344475">
                <a:moveTo>
                  <a:pt x="0" y="0"/>
                </a:moveTo>
                <a:lnTo>
                  <a:pt x="2344475" y="0"/>
                </a:lnTo>
                <a:lnTo>
                  <a:pt x="2344475" y="2344474"/>
                </a:lnTo>
                <a:lnTo>
                  <a:pt x="0" y="234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7109921" y="5510016"/>
            <a:ext cx="2777814" cy="2777814"/>
          </a:xfrm>
          <a:custGeom>
            <a:avLst/>
            <a:gdLst/>
            <a:ahLst/>
            <a:cxnLst/>
            <a:rect r="r" b="b" t="t" l="l"/>
            <a:pathLst>
              <a:path h="2777814" w="2777814">
                <a:moveTo>
                  <a:pt x="0" y="0"/>
                </a:moveTo>
                <a:lnTo>
                  <a:pt x="2777814" y="0"/>
                </a:lnTo>
                <a:lnTo>
                  <a:pt x="2777814" y="2777813"/>
                </a:lnTo>
                <a:lnTo>
                  <a:pt x="0" y="2777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752716" y="2138129"/>
            <a:ext cx="2901275" cy="2901275"/>
          </a:xfrm>
          <a:custGeom>
            <a:avLst/>
            <a:gdLst/>
            <a:ahLst/>
            <a:cxnLst/>
            <a:rect r="r" b="b" t="t" l="l"/>
            <a:pathLst>
              <a:path h="2901275" w="2901275">
                <a:moveTo>
                  <a:pt x="0" y="0"/>
                </a:moveTo>
                <a:lnTo>
                  <a:pt x="2901274" y="0"/>
                </a:lnTo>
                <a:lnTo>
                  <a:pt x="2901274" y="2901275"/>
                </a:lnTo>
                <a:lnTo>
                  <a:pt x="0" y="29012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442886"/>
            <a:ext cx="1110986" cy="343396"/>
          </a:xfrm>
          <a:custGeom>
            <a:avLst/>
            <a:gdLst/>
            <a:ahLst/>
            <a:cxnLst/>
            <a:rect r="r" b="b" t="t" l="l"/>
            <a:pathLst>
              <a:path h="343396" w="1110986">
                <a:moveTo>
                  <a:pt x="0" y="0"/>
                </a:moveTo>
                <a:lnTo>
                  <a:pt x="1110985" y="0"/>
                </a:lnTo>
                <a:lnTo>
                  <a:pt x="1110985" y="343396"/>
                </a:lnTo>
                <a:lnTo>
                  <a:pt x="0" y="3433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534617" y="500718"/>
            <a:ext cx="1114937" cy="344617"/>
          </a:xfrm>
          <a:custGeom>
            <a:avLst/>
            <a:gdLst/>
            <a:ahLst/>
            <a:cxnLst/>
            <a:rect r="r" b="b" t="t" l="l"/>
            <a:pathLst>
              <a:path h="344617" w="1114937">
                <a:moveTo>
                  <a:pt x="1114936" y="0"/>
                </a:moveTo>
                <a:lnTo>
                  <a:pt x="0" y="0"/>
                </a:lnTo>
                <a:lnTo>
                  <a:pt x="0" y="344617"/>
                </a:lnTo>
                <a:lnTo>
                  <a:pt x="1114936" y="344617"/>
                </a:lnTo>
                <a:lnTo>
                  <a:pt x="111493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5827296" y="1241246"/>
            <a:ext cx="6617899" cy="1030616"/>
            <a:chOff x="0" y="0"/>
            <a:chExt cx="1991549" cy="310147"/>
          </a:xfrm>
        </p:grpSpPr>
        <p:sp>
          <p:nvSpPr>
            <p:cNvPr name="Freeform 15" id="15"/>
            <p:cNvSpPr/>
            <p:nvPr/>
          </p:nvSpPr>
          <p:spPr>
            <a:xfrm flipH="false" flipV="false" rot="0">
              <a:off x="0" y="0"/>
              <a:ext cx="1991550" cy="310147"/>
            </a:xfrm>
            <a:custGeom>
              <a:avLst/>
              <a:gdLst/>
              <a:ahLst/>
              <a:cxnLst/>
              <a:rect r="r" b="b" t="t" l="l"/>
              <a:pathLst>
                <a:path h="310147" w="1991550">
                  <a:moveTo>
                    <a:pt x="0" y="0"/>
                  </a:moveTo>
                  <a:lnTo>
                    <a:pt x="1991550" y="0"/>
                  </a:lnTo>
                  <a:lnTo>
                    <a:pt x="1991550"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6" id="16"/>
            <p:cNvSpPr txBox="true"/>
            <p:nvPr/>
          </p:nvSpPr>
          <p:spPr>
            <a:xfrm>
              <a:off x="0" y="-57150"/>
              <a:ext cx="1991549" cy="367297"/>
            </a:xfrm>
            <a:prstGeom prst="rect">
              <a:avLst/>
            </a:prstGeom>
          </p:spPr>
          <p:txBody>
            <a:bodyPr anchor="ctr" rtlCol="false" tIns="50800" lIns="50800" bIns="50800" rIns="50800"/>
            <a:lstStyle/>
            <a:p>
              <a:pPr algn="ctr">
                <a:lnSpc>
                  <a:spcPts val="3223"/>
                </a:lnSpc>
              </a:pPr>
            </a:p>
          </p:txBody>
        </p:sp>
      </p:grpSp>
      <p:sp>
        <p:nvSpPr>
          <p:cNvPr name="TextBox 17" id="17"/>
          <p:cNvSpPr txBox="true"/>
          <p:nvPr/>
        </p:nvSpPr>
        <p:spPr>
          <a:xfrm rot="0">
            <a:off x="5827296" y="1281534"/>
            <a:ext cx="6617899"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REFERENCES</a:t>
            </a:r>
          </a:p>
        </p:txBody>
      </p:sp>
      <p:sp>
        <p:nvSpPr>
          <p:cNvPr name="AutoShape 18" id="18"/>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19" id="19"/>
          <p:cNvSpPr/>
          <p:nvPr/>
        </p:nvSpPr>
        <p:spPr>
          <a:xfrm>
            <a:off x="7884175" y="8590878"/>
            <a:ext cx="2504141" cy="0"/>
          </a:xfrm>
          <a:prstGeom prst="line">
            <a:avLst/>
          </a:prstGeom>
          <a:ln cap="rnd" w="114300">
            <a:solidFill>
              <a:srgbClr val="000000"/>
            </a:solidFill>
            <a:prstDash val="sysDot"/>
            <a:headEnd type="none" len="sm" w="sm"/>
            <a:tailEnd type="none" len="sm" w="sm"/>
          </a:ln>
        </p:spPr>
      </p:sp>
      <p:grpSp>
        <p:nvGrpSpPr>
          <p:cNvPr name="Group 20" id="20"/>
          <p:cNvGrpSpPr/>
          <p:nvPr/>
        </p:nvGrpSpPr>
        <p:grpSpPr>
          <a:xfrm rot="0">
            <a:off x="7022881" y="3317305"/>
            <a:ext cx="4242237" cy="640577"/>
            <a:chOff x="0" y="0"/>
            <a:chExt cx="2087009" cy="315138"/>
          </a:xfrm>
        </p:grpSpPr>
        <p:sp>
          <p:nvSpPr>
            <p:cNvPr name="Freeform 21" id="21"/>
            <p:cNvSpPr/>
            <p:nvPr/>
          </p:nvSpPr>
          <p:spPr>
            <a:xfrm flipH="false" flipV="false" rot="0">
              <a:off x="0" y="0"/>
              <a:ext cx="2087009" cy="315138"/>
            </a:xfrm>
            <a:custGeom>
              <a:avLst/>
              <a:gdLst/>
              <a:ahLst/>
              <a:cxnLst/>
              <a:rect r="r" b="b" t="t" l="l"/>
              <a:pathLst>
                <a:path h="315138" w="2087009">
                  <a:moveTo>
                    <a:pt x="0" y="0"/>
                  </a:moveTo>
                  <a:lnTo>
                    <a:pt x="2087009" y="0"/>
                  </a:lnTo>
                  <a:lnTo>
                    <a:pt x="2087009" y="315138"/>
                  </a:lnTo>
                  <a:lnTo>
                    <a:pt x="0" y="31513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2" id="22"/>
            <p:cNvSpPr txBox="true"/>
            <p:nvPr/>
          </p:nvSpPr>
          <p:spPr>
            <a:xfrm>
              <a:off x="0" y="-57150"/>
              <a:ext cx="2087009" cy="372288"/>
            </a:xfrm>
            <a:prstGeom prst="rect">
              <a:avLst/>
            </a:prstGeom>
          </p:spPr>
          <p:txBody>
            <a:bodyPr anchor="ctr" rtlCol="false" tIns="50800" lIns="50800" bIns="50800" rIns="50800"/>
            <a:lstStyle/>
            <a:p>
              <a:pPr algn="ctr">
                <a:lnSpc>
                  <a:spcPts val="3223"/>
                </a:lnSpc>
              </a:pPr>
              <a:r>
                <a:rPr lang="en-US" sz="2302">
                  <a:solidFill>
                    <a:srgbClr val="FFFFFF"/>
                  </a:solidFill>
                  <a:latin typeface="Poppins"/>
                  <a:ea typeface="Poppins"/>
                  <a:cs typeface="Poppins"/>
                  <a:sym typeface="Poppins"/>
                </a:rPr>
                <a:t>TOPIC-1 Related References</a:t>
              </a:r>
            </a:p>
          </p:txBody>
        </p:sp>
      </p:grpSp>
      <p:sp>
        <p:nvSpPr>
          <p:cNvPr name="TextBox 23" id="23"/>
          <p:cNvSpPr txBox="true"/>
          <p:nvPr/>
        </p:nvSpPr>
        <p:spPr>
          <a:xfrm rot="0">
            <a:off x="2359032" y="4295531"/>
            <a:ext cx="13569936" cy="3704797"/>
          </a:xfrm>
          <a:prstGeom prst="rect">
            <a:avLst/>
          </a:prstGeom>
        </p:spPr>
        <p:txBody>
          <a:bodyPr anchor="t" rtlCol="false" tIns="0" lIns="0" bIns="0" rIns="0">
            <a:spAutoFit/>
          </a:bodyPr>
          <a:lstStyle/>
          <a:p>
            <a:pPr algn="ctr">
              <a:lnSpc>
                <a:spcPts val="2982"/>
              </a:lnSpc>
            </a:pPr>
            <a:r>
              <a:rPr lang="en-US" sz="2130">
                <a:solidFill>
                  <a:srgbClr val="000000"/>
                </a:solidFill>
                <a:latin typeface="Poppins"/>
                <a:ea typeface="Poppins"/>
                <a:cs typeface="Poppins"/>
                <a:sym typeface="Poppins"/>
              </a:rPr>
              <a:t>1. Explainable AI &amp; Law : An Evidential Survey</a:t>
            </a:r>
          </a:p>
          <a:p>
            <a:pPr algn="ctr">
              <a:lnSpc>
                <a:spcPts val="2982"/>
              </a:lnSpc>
            </a:pPr>
            <a:r>
              <a:rPr lang="en-US" sz="2130">
                <a:solidFill>
                  <a:srgbClr val="000000"/>
                </a:solidFill>
                <a:latin typeface="Poppins"/>
                <a:ea typeface="Poppins"/>
                <a:cs typeface="Poppins"/>
                <a:sym typeface="Poppins"/>
              </a:rPr>
              <a:t>Link: https://link.springer.com/article/10.1007/s44206-023-00081-z</a:t>
            </a:r>
          </a:p>
          <a:p>
            <a:pPr algn="ctr">
              <a:lnSpc>
                <a:spcPts val="2982"/>
              </a:lnSpc>
            </a:pPr>
          </a:p>
          <a:p>
            <a:pPr algn="ctr">
              <a:lnSpc>
                <a:spcPts val="2982"/>
              </a:lnSpc>
            </a:pPr>
            <a:r>
              <a:rPr lang="en-US" sz="2130">
                <a:solidFill>
                  <a:srgbClr val="000000"/>
                </a:solidFill>
                <a:latin typeface="Poppins"/>
                <a:ea typeface="Poppins"/>
                <a:cs typeface="Poppins"/>
                <a:sym typeface="Poppins"/>
              </a:rPr>
              <a:t>2. Explainable AI tools for legal reasoning about cases: A study on the European Court of Human Rights</a:t>
            </a:r>
          </a:p>
          <a:p>
            <a:pPr algn="ctr">
              <a:lnSpc>
                <a:spcPts val="2982"/>
              </a:lnSpc>
            </a:pPr>
            <a:r>
              <a:rPr lang="en-US" sz="2130">
                <a:solidFill>
                  <a:srgbClr val="000000"/>
                </a:solidFill>
                <a:latin typeface="Poppins"/>
                <a:ea typeface="Poppins"/>
                <a:cs typeface="Poppins"/>
                <a:sym typeface="Poppins"/>
              </a:rPr>
              <a:t>Link: https://www.sciencedirect.com/science/article/pii/S0004370223000073</a:t>
            </a:r>
          </a:p>
          <a:p>
            <a:pPr algn="ctr">
              <a:lnSpc>
                <a:spcPts val="2982"/>
              </a:lnSpc>
            </a:pPr>
          </a:p>
          <a:p>
            <a:pPr algn="ctr">
              <a:lnSpc>
                <a:spcPts val="2982"/>
              </a:lnSpc>
            </a:pPr>
            <a:r>
              <a:rPr lang="en-US" sz="2130">
                <a:solidFill>
                  <a:srgbClr val="000000"/>
                </a:solidFill>
                <a:latin typeface="Poppins"/>
                <a:ea typeface="Poppins"/>
                <a:cs typeface="Poppins"/>
                <a:sym typeface="Poppins"/>
              </a:rPr>
              <a:t>3. The black box problem revisited. Real and imaginary challenges for automated legal decision making</a:t>
            </a:r>
          </a:p>
          <a:p>
            <a:pPr algn="ctr">
              <a:lnSpc>
                <a:spcPts val="2982"/>
              </a:lnSpc>
              <a:spcBef>
                <a:spcPct val="0"/>
              </a:spcBef>
            </a:pPr>
            <a:r>
              <a:rPr lang="en-US" sz="2130">
                <a:solidFill>
                  <a:srgbClr val="000000"/>
                </a:solidFill>
                <a:latin typeface="Poppins"/>
                <a:ea typeface="Poppins"/>
                <a:cs typeface="Poppins"/>
                <a:sym typeface="Poppins"/>
              </a:rPr>
              <a:t>Link: https://link.springer.com/article/10.1007/s10506-023-09356-9</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6034529" y="8036205"/>
            <a:ext cx="2454027" cy="2454027"/>
          </a:xfrm>
          <a:custGeom>
            <a:avLst/>
            <a:gdLst/>
            <a:ahLst/>
            <a:cxnLst/>
            <a:rect r="r" b="b" t="t" l="l"/>
            <a:pathLst>
              <a:path h="2454027" w="2454027">
                <a:moveTo>
                  <a:pt x="0" y="0"/>
                </a:moveTo>
                <a:lnTo>
                  <a:pt x="2454028" y="0"/>
                </a:lnTo>
                <a:lnTo>
                  <a:pt x="2454028" y="2454028"/>
                </a:lnTo>
                <a:lnTo>
                  <a:pt x="0" y="2454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98113" y="-375135"/>
            <a:ext cx="2646997" cy="2646997"/>
          </a:xfrm>
          <a:custGeom>
            <a:avLst/>
            <a:gdLst/>
            <a:ahLst/>
            <a:cxnLst/>
            <a:rect r="r" b="b" t="t" l="l"/>
            <a:pathLst>
              <a:path h="2646997" w="2646997">
                <a:moveTo>
                  <a:pt x="0" y="0"/>
                </a:moveTo>
                <a:lnTo>
                  <a:pt x="2646997" y="0"/>
                </a:lnTo>
                <a:lnTo>
                  <a:pt x="2646997" y="2646997"/>
                </a:lnTo>
                <a:lnTo>
                  <a:pt x="0" y="264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98566" y="8200242"/>
            <a:ext cx="2170858" cy="2170858"/>
          </a:xfrm>
          <a:custGeom>
            <a:avLst/>
            <a:gdLst/>
            <a:ahLst/>
            <a:cxnLst/>
            <a:rect r="r" b="b" t="t" l="l"/>
            <a:pathLst>
              <a:path h="2170858" w="2170858">
                <a:moveTo>
                  <a:pt x="0" y="0"/>
                </a:moveTo>
                <a:lnTo>
                  <a:pt x="2170858" y="0"/>
                </a:lnTo>
                <a:lnTo>
                  <a:pt x="2170858" y="2170858"/>
                </a:lnTo>
                <a:lnTo>
                  <a:pt x="0" y="21708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69201" y="-246222"/>
            <a:ext cx="2344475" cy="2344475"/>
          </a:xfrm>
          <a:custGeom>
            <a:avLst/>
            <a:gdLst/>
            <a:ahLst/>
            <a:cxnLst/>
            <a:rect r="r" b="b" t="t" l="l"/>
            <a:pathLst>
              <a:path h="2344475" w="2344475">
                <a:moveTo>
                  <a:pt x="0" y="0"/>
                </a:moveTo>
                <a:lnTo>
                  <a:pt x="2344475" y="0"/>
                </a:lnTo>
                <a:lnTo>
                  <a:pt x="2344475" y="2344474"/>
                </a:lnTo>
                <a:lnTo>
                  <a:pt x="0" y="234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7181902" y="5539831"/>
            <a:ext cx="2718183" cy="2718183"/>
          </a:xfrm>
          <a:custGeom>
            <a:avLst/>
            <a:gdLst/>
            <a:ahLst/>
            <a:cxnLst/>
            <a:rect r="r" b="b" t="t" l="l"/>
            <a:pathLst>
              <a:path h="2718183" w="2718183">
                <a:moveTo>
                  <a:pt x="0" y="0"/>
                </a:moveTo>
                <a:lnTo>
                  <a:pt x="2718183" y="0"/>
                </a:lnTo>
                <a:lnTo>
                  <a:pt x="2718183" y="2718183"/>
                </a:lnTo>
                <a:lnTo>
                  <a:pt x="0" y="2718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00000">
            <a:off x="-1763619" y="2164451"/>
            <a:ext cx="2848632" cy="2848632"/>
          </a:xfrm>
          <a:custGeom>
            <a:avLst/>
            <a:gdLst/>
            <a:ahLst/>
            <a:cxnLst/>
            <a:rect r="r" b="b" t="t" l="l"/>
            <a:pathLst>
              <a:path h="2848632" w="2848632">
                <a:moveTo>
                  <a:pt x="0" y="0"/>
                </a:moveTo>
                <a:lnTo>
                  <a:pt x="2848633" y="0"/>
                </a:lnTo>
                <a:lnTo>
                  <a:pt x="2848633" y="2848632"/>
                </a:lnTo>
                <a:lnTo>
                  <a:pt x="0" y="2848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440198" y="9460152"/>
            <a:ext cx="1658065" cy="1639977"/>
          </a:xfrm>
          <a:custGeom>
            <a:avLst/>
            <a:gdLst/>
            <a:ahLst/>
            <a:cxnLst/>
            <a:rect r="r" b="b" t="t" l="l"/>
            <a:pathLst>
              <a:path h="1639977" w="1658065">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800000">
            <a:off x="-857871" y="-1035099"/>
            <a:ext cx="1794177" cy="1774605"/>
          </a:xfrm>
          <a:custGeom>
            <a:avLst/>
            <a:gdLst/>
            <a:ahLst/>
            <a:cxnLst/>
            <a:rect r="r" b="b" t="t" l="l"/>
            <a:pathLst>
              <a:path h="1774605" w="1794177">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757558" y="9002084"/>
            <a:ext cx="1180071" cy="143754"/>
          </a:xfrm>
          <a:custGeom>
            <a:avLst/>
            <a:gdLst/>
            <a:ahLst/>
            <a:cxnLst/>
            <a:rect r="r" b="b" t="t" l="l"/>
            <a:pathLst>
              <a:path h="143754" w="1180071">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0800000">
            <a:off x="398041" y="1079622"/>
            <a:ext cx="1276944" cy="155555"/>
          </a:xfrm>
          <a:custGeom>
            <a:avLst/>
            <a:gdLst/>
            <a:ahLst/>
            <a:cxnLst/>
            <a:rect r="r" b="b" t="t" l="l"/>
            <a:pathLst>
              <a:path h="155555" w="1276944">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38447" y="9343447"/>
            <a:ext cx="1432702" cy="442835"/>
          </a:xfrm>
          <a:custGeom>
            <a:avLst/>
            <a:gdLst/>
            <a:ahLst/>
            <a:cxnLst/>
            <a:rect r="r" b="b" t="t" l="l"/>
            <a:pathLst>
              <a:path h="442835" w="1432702">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6216852" y="500718"/>
            <a:ext cx="1432702" cy="442835"/>
          </a:xfrm>
          <a:custGeom>
            <a:avLst/>
            <a:gdLst/>
            <a:ahLst/>
            <a:cxnLst/>
            <a:rect r="r" b="b" t="t" l="l"/>
            <a:pathLst>
              <a:path h="442835" w="1432702">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5827296" y="1241246"/>
            <a:ext cx="6617899" cy="1030616"/>
            <a:chOff x="0" y="0"/>
            <a:chExt cx="1991549" cy="310147"/>
          </a:xfrm>
        </p:grpSpPr>
        <p:sp>
          <p:nvSpPr>
            <p:cNvPr name="Freeform 15" id="15"/>
            <p:cNvSpPr/>
            <p:nvPr/>
          </p:nvSpPr>
          <p:spPr>
            <a:xfrm flipH="false" flipV="false" rot="0">
              <a:off x="0" y="0"/>
              <a:ext cx="1991550" cy="310147"/>
            </a:xfrm>
            <a:custGeom>
              <a:avLst/>
              <a:gdLst/>
              <a:ahLst/>
              <a:cxnLst/>
              <a:rect r="r" b="b" t="t" l="l"/>
              <a:pathLst>
                <a:path h="310147" w="1991550">
                  <a:moveTo>
                    <a:pt x="0" y="0"/>
                  </a:moveTo>
                  <a:lnTo>
                    <a:pt x="1991550" y="0"/>
                  </a:lnTo>
                  <a:lnTo>
                    <a:pt x="1991550" y="310147"/>
                  </a:lnTo>
                  <a:lnTo>
                    <a:pt x="0" y="310147"/>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16" id="16"/>
            <p:cNvSpPr txBox="true"/>
            <p:nvPr/>
          </p:nvSpPr>
          <p:spPr>
            <a:xfrm>
              <a:off x="0" y="-57150"/>
              <a:ext cx="1991549" cy="367297"/>
            </a:xfrm>
            <a:prstGeom prst="rect">
              <a:avLst/>
            </a:prstGeom>
          </p:spPr>
          <p:txBody>
            <a:bodyPr anchor="ctr" rtlCol="false" tIns="50800" lIns="50800" bIns="50800" rIns="50800"/>
            <a:lstStyle/>
            <a:p>
              <a:pPr algn="ctr">
                <a:lnSpc>
                  <a:spcPts val="3223"/>
                </a:lnSpc>
              </a:pPr>
            </a:p>
          </p:txBody>
        </p:sp>
      </p:grpSp>
      <p:sp>
        <p:nvSpPr>
          <p:cNvPr name="TextBox 17" id="17"/>
          <p:cNvSpPr txBox="true"/>
          <p:nvPr/>
        </p:nvSpPr>
        <p:spPr>
          <a:xfrm rot="0">
            <a:off x="5827296" y="1281534"/>
            <a:ext cx="6617899" cy="816718"/>
          </a:xfrm>
          <a:prstGeom prst="rect">
            <a:avLst/>
          </a:prstGeom>
        </p:spPr>
        <p:txBody>
          <a:bodyPr anchor="t" rtlCol="false" tIns="0" lIns="0" bIns="0" rIns="0">
            <a:spAutoFit/>
          </a:bodyPr>
          <a:lstStyle/>
          <a:p>
            <a:pPr algn="ctr">
              <a:lnSpc>
                <a:spcPts val="6320"/>
              </a:lnSpc>
              <a:spcBef>
                <a:spcPct val="0"/>
              </a:spcBef>
            </a:pPr>
            <a:r>
              <a:rPr lang="en-US" b="true" sz="4514">
                <a:solidFill>
                  <a:srgbClr val="FFFFFF"/>
                </a:solidFill>
                <a:latin typeface="Poppins Bold"/>
                <a:ea typeface="Poppins Bold"/>
                <a:cs typeface="Poppins Bold"/>
                <a:sym typeface="Poppins Bold"/>
              </a:rPr>
              <a:t>REFERENCES</a:t>
            </a:r>
          </a:p>
        </p:txBody>
      </p:sp>
      <p:sp>
        <p:nvSpPr>
          <p:cNvPr name="AutoShape 18" id="18"/>
          <p:cNvSpPr/>
          <p:nvPr/>
        </p:nvSpPr>
        <p:spPr>
          <a:xfrm>
            <a:off x="7891929" y="2865355"/>
            <a:ext cx="2504141" cy="0"/>
          </a:xfrm>
          <a:prstGeom prst="line">
            <a:avLst/>
          </a:prstGeom>
          <a:ln cap="rnd" w="114300">
            <a:solidFill>
              <a:srgbClr val="000000"/>
            </a:solidFill>
            <a:prstDash val="sysDot"/>
            <a:headEnd type="none" len="sm" w="sm"/>
            <a:tailEnd type="none" len="sm" w="sm"/>
          </a:ln>
        </p:spPr>
      </p:sp>
      <p:sp>
        <p:nvSpPr>
          <p:cNvPr name="AutoShape 19" id="19"/>
          <p:cNvSpPr/>
          <p:nvPr/>
        </p:nvSpPr>
        <p:spPr>
          <a:xfrm>
            <a:off x="7884175" y="8590878"/>
            <a:ext cx="2504141" cy="0"/>
          </a:xfrm>
          <a:prstGeom prst="line">
            <a:avLst/>
          </a:prstGeom>
          <a:ln cap="rnd" w="114300">
            <a:solidFill>
              <a:srgbClr val="000000"/>
            </a:solidFill>
            <a:prstDash val="sysDot"/>
            <a:headEnd type="none" len="sm" w="sm"/>
            <a:tailEnd type="none" len="sm" w="sm"/>
          </a:ln>
        </p:spPr>
      </p:sp>
      <p:grpSp>
        <p:nvGrpSpPr>
          <p:cNvPr name="Group 20" id="20"/>
          <p:cNvGrpSpPr/>
          <p:nvPr/>
        </p:nvGrpSpPr>
        <p:grpSpPr>
          <a:xfrm rot="0">
            <a:off x="7022881" y="3268478"/>
            <a:ext cx="4242237" cy="640577"/>
            <a:chOff x="0" y="0"/>
            <a:chExt cx="2087009" cy="315138"/>
          </a:xfrm>
        </p:grpSpPr>
        <p:sp>
          <p:nvSpPr>
            <p:cNvPr name="Freeform 21" id="21"/>
            <p:cNvSpPr/>
            <p:nvPr/>
          </p:nvSpPr>
          <p:spPr>
            <a:xfrm flipH="false" flipV="false" rot="0">
              <a:off x="0" y="0"/>
              <a:ext cx="2087009" cy="315138"/>
            </a:xfrm>
            <a:custGeom>
              <a:avLst/>
              <a:gdLst/>
              <a:ahLst/>
              <a:cxnLst/>
              <a:rect r="r" b="b" t="t" l="l"/>
              <a:pathLst>
                <a:path h="315138" w="2087009">
                  <a:moveTo>
                    <a:pt x="0" y="0"/>
                  </a:moveTo>
                  <a:lnTo>
                    <a:pt x="2087009" y="0"/>
                  </a:lnTo>
                  <a:lnTo>
                    <a:pt x="2087009" y="315138"/>
                  </a:lnTo>
                  <a:lnTo>
                    <a:pt x="0" y="315138"/>
                  </a:lnTo>
                  <a:close/>
                </a:path>
              </a:pathLst>
            </a:custGeom>
            <a:gradFill rotWithShape="true">
              <a:gsLst>
                <a:gs pos="0">
                  <a:srgbClr val="000000">
                    <a:alpha val="100000"/>
                  </a:srgbClr>
                </a:gs>
                <a:gs pos="100000">
                  <a:srgbClr val="555555">
                    <a:alpha val="100000"/>
                  </a:srgbClr>
                </a:gs>
              </a:gsLst>
              <a:path path="circle">
                <a:fillToRect l="0" r="100000" t="0" b="100000"/>
              </a:path>
              <a:tileRect r="0" l="-100000" b="0" t="-100000"/>
            </a:gradFill>
          </p:spPr>
        </p:sp>
        <p:sp>
          <p:nvSpPr>
            <p:cNvPr name="TextBox 22" id="22"/>
            <p:cNvSpPr txBox="true"/>
            <p:nvPr/>
          </p:nvSpPr>
          <p:spPr>
            <a:xfrm>
              <a:off x="0" y="-57150"/>
              <a:ext cx="2087009" cy="372288"/>
            </a:xfrm>
            <a:prstGeom prst="rect">
              <a:avLst/>
            </a:prstGeom>
          </p:spPr>
          <p:txBody>
            <a:bodyPr anchor="ctr" rtlCol="false" tIns="50800" lIns="50800" bIns="50800" rIns="50800"/>
            <a:lstStyle/>
            <a:p>
              <a:pPr algn="ctr">
                <a:lnSpc>
                  <a:spcPts val="3223"/>
                </a:lnSpc>
              </a:pPr>
              <a:r>
                <a:rPr lang="en-US" sz="2302">
                  <a:solidFill>
                    <a:srgbClr val="FFFFFF"/>
                  </a:solidFill>
                  <a:latin typeface="Poppins"/>
                  <a:ea typeface="Poppins"/>
                  <a:cs typeface="Poppins"/>
                  <a:sym typeface="Poppins"/>
                </a:rPr>
                <a:t>TOPIC-2 Related References</a:t>
              </a:r>
            </a:p>
          </p:txBody>
        </p:sp>
      </p:grpSp>
      <p:sp>
        <p:nvSpPr>
          <p:cNvPr name="TextBox 23" id="23"/>
          <p:cNvSpPr txBox="true"/>
          <p:nvPr/>
        </p:nvSpPr>
        <p:spPr>
          <a:xfrm rot="0">
            <a:off x="1650865" y="4286006"/>
            <a:ext cx="14986269" cy="3149813"/>
          </a:xfrm>
          <a:prstGeom prst="rect">
            <a:avLst/>
          </a:prstGeom>
        </p:spPr>
        <p:txBody>
          <a:bodyPr anchor="t" rtlCol="false" tIns="0" lIns="0" bIns="0" rIns="0">
            <a:spAutoFit/>
          </a:bodyPr>
          <a:lstStyle/>
          <a:p>
            <a:pPr algn="ctr">
              <a:lnSpc>
                <a:spcPts val="3151"/>
              </a:lnSpc>
            </a:pPr>
            <a:r>
              <a:rPr lang="en-US" sz="2251">
                <a:solidFill>
                  <a:srgbClr val="000000"/>
                </a:solidFill>
                <a:latin typeface="Poppins"/>
                <a:ea typeface="Poppins"/>
                <a:cs typeface="Poppins"/>
                <a:sym typeface="Poppins"/>
              </a:rPr>
              <a:t>1. Genetic Algorithm Based Personalized Travel Recommendation System</a:t>
            </a:r>
          </a:p>
          <a:p>
            <a:pPr algn="ctr">
              <a:lnSpc>
                <a:spcPts val="3151"/>
              </a:lnSpc>
            </a:pPr>
            <a:r>
              <a:rPr lang="en-US" sz="2251">
                <a:solidFill>
                  <a:srgbClr val="000000"/>
                </a:solidFill>
                <a:latin typeface="Poppins"/>
                <a:ea typeface="Poppins"/>
                <a:cs typeface="Poppins"/>
                <a:sym typeface="Poppins"/>
              </a:rPr>
              <a:t>Link: </a:t>
            </a:r>
            <a:r>
              <a:rPr lang="en-US" sz="2251" u="sng">
                <a:solidFill>
                  <a:srgbClr val="000000"/>
                </a:solidFill>
                <a:latin typeface="Poppins"/>
                <a:ea typeface="Poppins"/>
                <a:cs typeface="Poppins"/>
                <a:sym typeface="Poppins"/>
                <a:hlinkClick r:id="rId12" tooltip="https://ieeexplore.ieee.org/abstract/document/10467470"/>
              </a:rPr>
              <a:t>https://link.springer.com/article/10.1007/s44206-023-00081-z</a:t>
            </a:r>
          </a:p>
          <a:p>
            <a:pPr algn="ctr">
              <a:lnSpc>
                <a:spcPts val="3151"/>
              </a:lnSpc>
            </a:pPr>
          </a:p>
          <a:p>
            <a:pPr algn="ctr">
              <a:lnSpc>
                <a:spcPts val="3151"/>
              </a:lnSpc>
            </a:pPr>
            <a:r>
              <a:rPr lang="en-US" sz="2251">
                <a:solidFill>
                  <a:srgbClr val="000000"/>
                </a:solidFill>
                <a:latin typeface="Poppins"/>
                <a:ea typeface="Poppins"/>
                <a:cs typeface="Poppins"/>
                <a:sym typeface="Poppins"/>
              </a:rPr>
              <a:t>2. A systematic review and research perspective on recommender systems</a:t>
            </a:r>
          </a:p>
          <a:p>
            <a:pPr algn="ctr">
              <a:lnSpc>
                <a:spcPts val="3151"/>
              </a:lnSpc>
            </a:pPr>
            <a:r>
              <a:rPr lang="en-US" sz="2251">
                <a:solidFill>
                  <a:srgbClr val="000000"/>
                </a:solidFill>
                <a:latin typeface="Poppins"/>
                <a:ea typeface="Poppins"/>
                <a:cs typeface="Poppins"/>
                <a:sym typeface="Poppins"/>
              </a:rPr>
              <a:t>Link: https://journalofbigdata.springeropen.com/articles/10.1186/s40537-022-00592-5?utm_</a:t>
            </a:r>
          </a:p>
          <a:p>
            <a:pPr algn="ctr">
              <a:lnSpc>
                <a:spcPts val="3151"/>
              </a:lnSpc>
            </a:pPr>
          </a:p>
          <a:p>
            <a:pPr algn="ctr">
              <a:lnSpc>
                <a:spcPts val="3151"/>
              </a:lnSpc>
            </a:pPr>
            <a:r>
              <a:rPr lang="en-US" sz="2251">
                <a:solidFill>
                  <a:srgbClr val="000000"/>
                </a:solidFill>
                <a:latin typeface="Poppins"/>
                <a:ea typeface="Poppins"/>
                <a:cs typeface="Poppins"/>
                <a:sym typeface="Poppins"/>
              </a:rPr>
              <a:t>3. Personalized tourism recommendation model based on temporal multilayer sequential neural network</a:t>
            </a:r>
          </a:p>
          <a:p>
            <a:pPr algn="ctr">
              <a:lnSpc>
                <a:spcPts val="3151"/>
              </a:lnSpc>
              <a:spcBef>
                <a:spcPct val="0"/>
              </a:spcBef>
            </a:pPr>
            <a:r>
              <a:rPr lang="en-US" sz="2251" u="sng">
                <a:solidFill>
                  <a:srgbClr val="000000"/>
                </a:solidFill>
                <a:latin typeface="Poppins"/>
                <a:ea typeface="Poppins"/>
                <a:cs typeface="Poppins"/>
                <a:sym typeface="Poppins"/>
                <a:hlinkClick r:id="rId13" tooltip="https://www.nature.com/articles/s41598-024-84581-z?utm_"/>
              </a:rPr>
              <a:t>Link: https://www.nature.com/articles/s41598-024-84581-z?utm_</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CECEC"/>
        </a:solidFill>
      </p:bgPr>
    </p:bg>
    <p:spTree>
      <p:nvGrpSpPr>
        <p:cNvPr id="1" name=""/>
        <p:cNvGrpSpPr/>
        <p:nvPr/>
      </p:nvGrpSpPr>
      <p:grpSpPr>
        <a:xfrm>
          <a:off x="0" y="0"/>
          <a:ext cx="0" cy="0"/>
          <a:chOff x="0" y="0"/>
          <a:chExt cx="0" cy="0"/>
        </a:xfrm>
      </p:grpSpPr>
      <p:sp>
        <p:nvSpPr>
          <p:cNvPr name="Freeform 2" id="2"/>
          <p:cNvSpPr/>
          <p:nvPr/>
        </p:nvSpPr>
        <p:spPr>
          <a:xfrm flipH="false" flipV="false" rot="0">
            <a:off x="13497684" y="5496684"/>
            <a:ext cx="4983320" cy="4983320"/>
          </a:xfrm>
          <a:custGeom>
            <a:avLst/>
            <a:gdLst/>
            <a:ahLst/>
            <a:cxnLst/>
            <a:rect r="r" b="b" t="t" l="l"/>
            <a:pathLst>
              <a:path h="4983320" w="4983320">
                <a:moveTo>
                  <a:pt x="0" y="0"/>
                </a:moveTo>
                <a:lnTo>
                  <a:pt x="4983321" y="0"/>
                </a:lnTo>
                <a:lnTo>
                  <a:pt x="4983321"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212305" y="-193005"/>
            <a:ext cx="4983320" cy="4983320"/>
          </a:xfrm>
          <a:custGeom>
            <a:avLst/>
            <a:gdLst/>
            <a:ahLst/>
            <a:cxnLst/>
            <a:rect r="r" b="b" t="t" l="l"/>
            <a:pathLst>
              <a:path h="4983320" w="4983320">
                <a:moveTo>
                  <a:pt x="0" y="0"/>
                </a:moveTo>
                <a:lnTo>
                  <a:pt x="4983320" y="0"/>
                </a:lnTo>
                <a:lnTo>
                  <a:pt x="4983320"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64260" y="6763260"/>
            <a:ext cx="3523740" cy="3523740"/>
          </a:xfrm>
          <a:custGeom>
            <a:avLst/>
            <a:gdLst/>
            <a:ahLst/>
            <a:cxnLst/>
            <a:rect r="r" b="b" t="t" l="l"/>
            <a:pathLst>
              <a:path h="3523740" w="3523740">
                <a:moveTo>
                  <a:pt x="0" y="0"/>
                </a:moveTo>
                <a:lnTo>
                  <a:pt x="3523740" y="0"/>
                </a:lnTo>
                <a:lnTo>
                  <a:pt x="3523740" y="3523740"/>
                </a:lnTo>
                <a:lnTo>
                  <a:pt x="0" y="35237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5796340" y="2286577"/>
            <a:ext cx="4983320" cy="4983320"/>
          </a:xfrm>
          <a:custGeom>
            <a:avLst/>
            <a:gdLst/>
            <a:ahLst/>
            <a:cxnLst/>
            <a:rect r="r" b="b" t="t" l="l"/>
            <a:pathLst>
              <a:path h="4983320" w="4983320">
                <a:moveTo>
                  <a:pt x="0" y="0"/>
                </a:moveTo>
                <a:lnTo>
                  <a:pt x="4983320" y="0"/>
                </a:lnTo>
                <a:lnTo>
                  <a:pt x="4983320" y="4983320"/>
                </a:lnTo>
                <a:lnTo>
                  <a:pt x="0" y="4983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0" y="0"/>
            <a:ext cx="3671722" cy="3671722"/>
          </a:xfrm>
          <a:custGeom>
            <a:avLst/>
            <a:gdLst/>
            <a:ahLst/>
            <a:cxnLst/>
            <a:rect r="r" b="b" t="t" l="l"/>
            <a:pathLst>
              <a:path h="3671722" w="3671722">
                <a:moveTo>
                  <a:pt x="0" y="0"/>
                </a:moveTo>
                <a:lnTo>
                  <a:pt x="3671722" y="0"/>
                </a:lnTo>
                <a:lnTo>
                  <a:pt x="3671722" y="3671722"/>
                </a:lnTo>
                <a:lnTo>
                  <a:pt x="0" y="36717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2700000">
            <a:off x="-2491660" y="2930197"/>
            <a:ext cx="4983320" cy="4983320"/>
          </a:xfrm>
          <a:custGeom>
            <a:avLst/>
            <a:gdLst/>
            <a:ahLst/>
            <a:cxnLst/>
            <a:rect r="r" b="b" t="t" l="l"/>
            <a:pathLst>
              <a:path h="4983320" w="4983320">
                <a:moveTo>
                  <a:pt x="4983320" y="4983320"/>
                </a:moveTo>
                <a:lnTo>
                  <a:pt x="0" y="4983320"/>
                </a:lnTo>
                <a:lnTo>
                  <a:pt x="0" y="0"/>
                </a:lnTo>
                <a:lnTo>
                  <a:pt x="4983320" y="0"/>
                </a:lnTo>
                <a:lnTo>
                  <a:pt x="4983320" y="49833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43100" y="-1328448"/>
            <a:ext cx="2686201" cy="2656897"/>
          </a:xfrm>
          <a:custGeom>
            <a:avLst/>
            <a:gdLst/>
            <a:ahLst/>
            <a:cxnLst/>
            <a:rect r="r" b="b" t="t" l="l"/>
            <a:pathLst>
              <a:path h="2656897" w="2686201">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944900" y="8958552"/>
            <a:ext cx="2686201" cy="2656897"/>
          </a:xfrm>
          <a:custGeom>
            <a:avLst/>
            <a:gdLst/>
            <a:ahLst/>
            <a:cxnLst/>
            <a:rect r="r" b="b" t="t" l="l"/>
            <a:pathLst>
              <a:path h="2656897" w="2686201">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34599" y="1985023"/>
            <a:ext cx="1911810" cy="232893"/>
          </a:xfrm>
          <a:custGeom>
            <a:avLst/>
            <a:gdLst/>
            <a:ahLst/>
            <a:cxnLst/>
            <a:rect r="r" b="b" t="t" l="l"/>
            <a:pathLst>
              <a:path h="232893" w="1911810">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676646" y="8069083"/>
            <a:ext cx="1911810" cy="232893"/>
          </a:xfrm>
          <a:custGeom>
            <a:avLst/>
            <a:gdLst/>
            <a:ahLst/>
            <a:cxnLst/>
            <a:rect r="r" b="b" t="t" l="l"/>
            <a:pathLst>
              <a:path h="232893" w="1911810">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28700" y="8792994"/>
            <a:ext cx="3010803" cy="930612"/>
          </a:xfrm>
          <a:custGeom>
            <a:avLst/>
            <a:gdLst/>
            <a:ahLst/>
            <a:cxnLst/>
            <a:rect r="r" b="b" t="t" l="l"/>
            <a:pathLst>
              <a:path h="930612" w="3010803">
                <a:moveTo>
                  <a:pt x="0" y="0"/>
                </a:moveTo>
                <a:lnTo>
                  <a:pt x="3010803" y="0"/>
                </a:lnTo>
                <a:lnTo>
                  <a:pt x="3010803" y="930612"/>
                </a:lnTo>
                <a:lnTo>
                  <a:pt x="0" y="93061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4248497" y="563394"/>
            <a:ext cx="3010803" cy="930612"/>
          </a:xfrm>
          <a:custGeom>
            <a:avLst/>
            <a:gdLst/>
            <a:ahLst/>
            <a:cxnLst/>
            <a:rect r="r" b="b" t="t" l="l"/>
            <a:pathLst>
              <a:path h="930612" w="3010803">
                <a:moveTo>
                  <a:pt x="3010803" y="0"/>
                </a:moveTo>
                <a:lnTo>
                  <a:pt x="0" y="0"/>
                </a:lnTo>
                <a:lnTo>
                  <a:pt x="0" y="930612"/>
                </a:lnTo>
                <a:lnTo>
                  <a:pt x="3010803" y="930612"/>
                </a:lnTo>
                <a:lnTo>
                  <a:pt x="3010803"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3671722" y="4141370"/>
            <a:ext cx="10944556" cy="1728035"/>
          </a:xfrm>
          <a:prstGeom prst="rect">
            <a:avLst/>
          </a:prstGeom>
        </p:spPr>
        <p:txBody>
          <a:bodyPr anchor="t" rtlCol="false" tIns="0" lIns="0" bIns="0" rIns="0">
            <a:spAutoFit/>
          </a:bodyPr>
          <a:lstStyle/>
          <a:p>
            <a:pPr algn="ctr">
              <a:lnSpc>
                <a:spcPts val="13427"/>
              </a:lnSpc>
              <a:spcBef>
                <a:spcPct val="0"/>
              </a:spcBef>
            </a:pPr>
            <a:r>
              <a:rPr lang="en-US" b="true" sz="9591">
                <a:solidFill>
                  <a:srgbClr val="000000"/>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DAGd-Z5SH1c</dc:identifier>
  <dcterms:modified xsi:type="dcterms:W3CDTF">2011-08-01T06:04:30Z</dcterms:modified>
  <cp:revision>1</cp:revision>
  <dc:title>Project TOPIC Proposal</dc:title>
</cp:coreProperties>
</file>