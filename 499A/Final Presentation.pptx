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Maven Pro" charset="1" panose="00000500000000000000"/>
      <p:regular r:id="rId19"/>
    </p:embeddedFont>
    <p:embeddedFont>
      <p:font typeface="Poppins" charset="1" panose="00000500000000000000"/>
      <p:regular r:id="rId20"/>
    </p:embeddedFont>
    <p:embeddedFont>
      <p:font typeface="TT Bluescreens Bold Italics" charset="1" panose="02000806040000090004"/>
      <p:regular r:id="rId21"/>
    </p:embeddedFont>
    <p:embeddedFont>
      <p:font typeface="Heading Now 61-68 Bold Italics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https://www.supremecourt.gov.bd/web/indexn.php?page=judgments.php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16" Target="../media/image30.png" Type="http://schemas.openxmlformats.org/officeDocument/2006/relationships/image"/><Relationship Id="rId17" Target="../media/image31.svg" Type="http://schemas.openxmlformats.org/officeDocument/2006/relationships/image"/><Relationship Id="rId18" Target="../media/image32.png" Type="http://schemas.openxmlformats.org/officeDocument/2006/relationships/image"/><Relationship Id="rId19" Target="../media/image3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38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3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40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17097" y="6905253"/>
            <a:ext cx="4146846" cy="4146846"/>
          </a:xfrm>
          <a:custGeom>
            <a:avLst/>
            <a:gdLst/>
            <a:ahLst/>
            <a:cxnLst/>
            <a:rect r="r" b="b" t="t" l="l"/>
            <a:pathLst>
              <a:path h="4146846" w="4146846">
                <a:moveTo>
                  <a:pt x="0" y="0"/>
                </a:moveTo>
                <a:lnTo>
                  <a:pt x="4146846" y="0"/>
                </a:lnTo>
                <a:lnTo>
                  <a:pt x="4146846" y="4146846"/>
                </a:lnTo>
                <a:lnTo>
                  <a:pt x="0" y="4146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777330" y="-997654"/>
            <a:ext cx="4203660" cy="4203660"/>
          </a:xfrm>
          <a:custGeom>
            <a:avLst/>
            <a:gdLst/>
            <a:ahLst/>
            <a:cxnLst/>
            <a:rect r="r" b="b" t="t" l="l"/>
            <a:pathLst>
              <a:path h="4203660" w="4203660">
                <a:moveTo>
                  <a:pt x="0" y="0"/>
                </a:moveTo>
                <a:lnTo>
                  <a:pt x="4203660" y="0"/>
                </a:lnTo>
                <a:lnTo>
                  <a:pt x="4203660" y="4203659"/>
                </a:lnTo>
                <a:lnTo>
                  <a:pt x="0" y="4203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00000">
            <a:off x="16572282" y="228657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41923" y="-607464"/>
            <a:ext cx="3575078" cy="3575078"/>
          </a:xfrm>
          <a:custGeom>
            <a:avLst/>
            <a:gdLst/>
            <a:ahLst/>
            <a:cxnLst/>
            <a:rect r="r" b="b" t="t" l="l"/>
            <a:pathLst>
              <a:path h="3575078" w="3575078">
                <a:moveTo>
                  <a:pt x="0" y="0"/>
                </a:moveTo>
                <a:lnTo>
                  <a:pt x="3575077" y="0"/>
                </a:lnTo>
                <a:lnTo>
                  <a:pt x="3575077" y="3575078"/>
                </a:lnTo>
                <a:lnTo>
                  <a:pt x="0" y="3575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700000">
            <a:off x="-3268990" y="293019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57501" y="-171861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1" y="0"/>
                </a:lnTo>
                <a:lnTo>
                  <a:pt x="2686201" y="2656897"/>
                </a:lnTo>
                <a:lnTo>
                  <a:pt x="0" y="2656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28479" y="9239037"/>
            <a:ext cx="2119043" cy="2095926"/>
          </a:xfrm>
          <a:custGeom>
            <a:avLst/>
            <a:gdLst/>
            <a:ahLst/>
            <a:cxnLst/>
            <a:rect r="r" b="b" t="t" l="l"/>
            <a:pathLst>
              <a:path h="2095926" w="2119043">
                <a:moveTo>
                  <a:pt x="0" y="0"/>
                </a:moveTo>
                <a:lnTo>
                  <a:pt x="2119042" y="0"/>
                </a:lnTo>
                <a:lnTo>
                  <a:pt x="2119042" y="2095926"/>
                </a:lnTo>
                <a:lnTo>
                  <a:pt x="0" y="2095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4084" y="1314448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0" y="0"/>
                </a:lnTo>
                <a:lnTo>
                  <a:pt x="1911810" y="232893"/>
                </a:lnTo>
                <a:lnTo>
                  <a:pt x="0" y="232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61055" y="8576182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0" y="0"/>
                </a:lnTo>
                <a:lnTo>
                  <a:pt x="1911810" y="232893"/>
                </a:lnTo>
                <a:lnTo>
                  <a:pt x="0" y="232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83024" y="284053"/>
            <a:ext cx="2921953" cy="2921953"/>
          </a:xfrm>
          <a:custGeom>
            <a:avLst/>
            <a:gdLst/>
            <a:ahLst/>
            <a:cxnLst/>
            <a:rect r="r" b="b" t="t" l="l"/>
            <a:pathLst>
              <a:path h="2921953" w="2921953">
                <a:moveTo>
                  <a:pt x="0" y="0"/>
                </a:moveTo>
                <a:lnTo>
                  <a:pt x="2921952" y="0"/>
                </a:lnTo>
                <a:lnTo>
                  <a:pt x="2921952" y="2921952"/>
                </a:lnTo>
                <a:lnTo>
                  <a:pt x="0" y="2921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34748" y="3867827"/>
            <a:ext cx="14861670" cy="198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0"/>
              </a:lnSpc>
              <a:spcBef>
                <a:spcPct val="0"/>
              </a:spcBef>
            </a:pPr>
            <a:r>
              <a:rPr lang="en-US" b="true" sz="556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MULTI-AGENT RAG SYSTEM FOR LEGAL INFORMATION RETRIEVAL IN BANGLADESH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790911" y="6425273"/>
            <a:ext cx="8706178" cy="2406971"/>
            <a:chOff x="0" y="0"/>
            <a:chExt cx="11608237" cy="320929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38100"/>
              <a:ext cx="11572662" cy="53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Presented by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29075"/>
              <a:ext cx="11572662" cy="53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ABDULLAH AL RAIYAN - 2212712042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820051"/>
              <a:ext cx="11572662" cy="498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4"/>
                </a:lnSpc>
              </a:pPr>
              <a:r>
                <a:rPr lang="en-US" sz="2644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MD. SIFAT HAQUE ZIDAN - 2212768042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575" y="2674877"/>
              <a:ext cx="11572662" cy="53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RAHIL MEHNAZ - 2121843042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060856" y="9134262"/>
            <a:ext cx="6196459" cy="63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  <a:spcBef>
                <a:spcPct val="0"/>
              </a:spcBef>
            </a:pPr>
            <a:r>
              <a:rPr lang="en-US" sz="35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Date of presentation: 10.8.25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063654" y="417351"/>
            <a:ext cx="3473014" cy="2961533"/>
          </a:xfrm>
          <a:custGeom>
            <a:avLst/>
            <a:gdLst/>
            <a:ahLst/>
            <a:cxnLst/>
            <a:rect r="r" b="b" t="t" l="l"/>
            <a:pathLst>
              <a:path h="2961533" w="3473014">
                <a:moveTo>
                  <a:pt x="0" y="0"/>
                </a:moveTo>
                <a:lnTo>
                  <a:pt x="3473014" y="0"/>
                </a:lnTo>
                <a:lnTo>
                  <a:pt x="3473014" y="2961533"/>
                </a:lnTo>
                <a:lnTo>
                  <a:pt x="0" y="29615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37083" y="6945431"/>
            <a:ext cx="3172777" cy="2823772"/>
          </a:xfrm>
          <a:custGeom>
            <a:avLst/>
            <a:gdLst/>
            <a:ahLst/>
            <a:cxnLst/>
            <a:rect r="r" b="b" t="t" l="l"/>
            <a:pathLst>
              <a:path h="2823772" w="3172777">
                <a:moveTo>
                  <a:pt x="0" y="0"/>
                </a:moveTo>
                <a:lnTo>
                  <a:pt x="3172778" y="0"/>
                </a:lnTo>
                <a:lnTo>
                  <a:pt x="3172778" y="2823772"/>
                </a:lnTo>
                <a:lnTo>
                  <a:pt x="0" y="28237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56369" y="350105"/>
            <a:ext cx="2459933" cy="3096025"/>
          </a:xfrm>
          <a:custGeom>
            <a:avLst/>
            <a:gdLst/>
            <a:ahLst/>
            <a:cxnLst/>
            <a:rect r="r" b="b" t="t" l="l"/>
            <a:pathLst>
              <a:path h="3096025" w="2459933">
                <a:moveTo>
                  <a:pt x="0" y="0"/>
                </a:moveTo>
                <a:lnTo>
                  <a:pt x="2459933" y="0"/>
                </a:lnTo>
                <a:lnTo>
                  <a:pt x="2459933" y="3096025"/>
                </a:lnTo>
                <a:lnTo>
                  <a:pt x="0" y="3096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279520" y="6425273"/>
            <a:ext cx="3288094" cy="3288094"/>
          </a:xfrm>
          <a:custGeom>
            <a:avLst/>
            <a:gdLst/>
            <a:ahLst/>
            <a:cxnLst/>
            <a:rect r="r" b="b" t="t" l="l"/>
            <a:pathLst>
              <a:path h="3288094" w="3288094">
                <a:moveTo>
                  <a:pt x="0" y="0"/>
                </a:moveTo>
                <a:lnTo>
                  <a:pt x="3288094" y="0"/>
                </a:lnTo>
                <a:lnTo>
                  <a:pt x="3288094" y="3288094"/>
                </a:lnTo>
                <a:lnTo>
                  <a:pt x="0" y="32880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2293" y="7720315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407596" y="-429062"/>
            <a:ext cx="2961054" cy="2961054"/>
          </a:xfrm>
          <a:custGeom>
            <a:avLst/>
            <a:gdLst/>
            <a:ahLst/>
            <a:cxnLst/>
            <a:rect r="r" b="b" t="t" l="l"/>
            <a:pathLst>
              <a:path h="2961054" w="2961054">
                <a:moveTo>
                  <a:pt x="0" y="0"/>
                </a:moveTo>
                <a:lnTo>
                  <a:pt x="2961054" y="0"/>
                </a:lnTo>
                <a:lnTo>
                  <a:pt x="2961054" y="2961053"/>
                </a:lnTo>
                <a:lnTo>
                  <a:pt x="0" y="2961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12733" y="8130835"/>
            <a:ext cx="2352726" cy="2352726"/>
          </a:xfrm>
          <a:custGeom>
            <a:avLst/>
            <a:gdLst/>
            <a:ahLst/>
            <a:cxnLst/>
            <a:rect r="r" b="b" t="t" l="l"/>
            <a:pathLst>
              <a:path h="2352726" w="2352726">
                <a:moveTo>
                  <a:pt x="0" y="0"/>
                </a:moveTo>
                <a:lnTo>
                  <a:pt x="2352726" y="0"/>
                </a:lnTo>
                <a:lnTo>
                  <a:pt x="2352726" y="2352727"/>
                </a:lnTo>
                <a:lnTo>
                  <a:pt x="0" y="2352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251753" y="-323579"/>
            <a:ext cx="2376120" cy="2376120"/>
          </a:xfrm>
          <a:custGeom>
            <a:avLst/>
            <a:gdLst/>
            <a:ahLst/>
            <a:cxnLst/>
            <a:rect r="r" b="b" t="t" l="l"/>
            <a:pathLst>
              <a:path h="2376120" w="2376120">
                <a:moveTo>
                  <a:pt x="0" y="0"/>
                </a:moveTo>
                <a:lnTo>
                  <a:pt x="2376120" y="0"/>
                </a:lnTo>
                <a:lnTo>
                  <a:pt x="2376120" y="2376120"/>
                </a:lnTo>
                <a:lnTo>
                  <a:pt x="0" y="2376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40404" y="5432815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8467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70243" y="9114546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297835" y="1001845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4"/>
                </a:lnTo>
                <a:lnTo>
                  <a:pt x="0" y="155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729935" y="1001845"/>
            <a:ext cx="10082192" cy="819320"/>
            <a:chOff x="0" y="0"/>
            <a:chExt cx="13442923" cy="109242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3442923" cy="1092427"/>
              <a:chOff x="0" y="0"/>
              <a:chExt cx="3370336" cy="27388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370336" cy="273887"/>
              </a:xfrm>
              <a:custGeom>
                <a:avLst/>
                <a:gdLst/>
                <a:ahLst/>
                <a:cxnLst/>
                <a:rect r="r" b="b" t="t" l="l"/>
                <a:pathLst>
                  <a:path h="273887" w="3370336">
                    <a:moveTo>
                      <a:pt x="0" y="0"/>
                    </a:moveTo>
                    <a:lnTo>
                      <a:pt x="3370336" y="0"/>
                    </a:lnTo>
                    <a:lnTo>
                      <a:pt x="3370336" y="273887"/>
                    </a:lnTo>
                    <a:lnTo>
                      <a:pt x="0" y="27388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370336" cy="321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3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9204" y="113151"/>
              <a:ext cx="12624515" cy="7708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1"/>
                </a:lnSpc>
                <a:spcBef>
                  <a:spcPct val="0"/>
                </a:spcBef>
              </a:pPr>
              <a:r>
                <a:rPr lang="en-US" b="true" sz="3343">
                  <a:solidFill>
                    <a:srgbClr val="EB9AC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STATEMENT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29935" y="4733840"/>
            <a:ext cx="10082192" cy="819320"/>
            <a:chOff x="0" y="0"/>
            <a:chExt cx="13442923" cy="109242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3442923" cy="1092427"/>
              <a:chOff x="0" y="0"/>
              <a:chExt cx="3370336" cy="27388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370336" cy="273887"/>
              </a:xfrm>
              <a:custGeom>
                <a:avLst/>
                <a:gdLst/>
                <a:ahLst/>
                <a:cxnLst/>
                <a:rect r="r" b="b" t="t" l="l"/>
                <a:pathLst>
                  <a:path h="273887" w="3370336">
                    <a:moveTo>
                      <a:pt x="0" y="0"/>
                    </a:moveTo>
                    <a:lnTo>
                      <a:pt x="3370336" y="0"/>
                    </a:lnTo>
                    <a:lnTo>
                      <a:pt x="3370336" y="273887"/>
                    </a:lnTo>
                    <a:lnTo>
                      <a:pt x="0" y="27388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3370336" cy="321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3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09204" y="113151"/>
              <a:ext cx="12624515" cy="7708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1"/>
                </a:lnSpc>
                <a:spcBef>
                  <a:spcPct val="0"/>
                </a:spcBef>
              </a:pPr>
              <a:r>
                <a:rPr lang="en-US" b="true" sz="3343">
                  <a:solidFill>
                    <a:srgbClr val="EB9AC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OUR SOLUTION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74779" y="1776402"/>
            <a:ext cx="2622804" cy="2957438"/>
          </a:xfrm>
          <a:custGeom>
            <a:avLst/>
            <a:gdLst/>
            <a:ahLst/>
            <a:cxnLst/>
            <a:rect r="r" b="b" t="t" l="l"/>
            <a:pathLst>
              <a:path h="2957438" w="2622804">
                <a:moveTo>
                  <a:pt x="0" y="0"/>
                </a:moveTo>
                <a:lnTo>
                  <a:pt x="2622804" y="0"/>
                </a:lnTo>
                <a:lnTo>
                  <a:pt x="2622804" y="2957438"/>
                </a:lnTo>
                <a:lnTo>
                  <a:pt x="0" y="2957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911975" y="2531991"/>
            <a:ext cx="2801515" cy="1711471"/>
          </a:xfrm>
          <a:custGeom>
            <a:avLst/>
            <a:gdLst/>
            <a:ahLst/>
            <a:cxnLst/>
            <a:rect r="r" b="b" t="t" l="l"/>
            <a:pathLst>
              <a:path h="1711471" w="2801515">
                <a:moveTo>
                  <a:pt x="0" y="0"/>
                </a:moveTo>
                <a:lnTo>
                  <a:pt x="2801515" y="0"/>
                </a:lnTo>
                <a:lnTo>
                  <a:pt x="2801515" y="1711471"/>
                </a:lnTo>
                <a:lnTo>
                  <a:pt x="0" y="17114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264346" y="7163158"/>
            <a:ext cx="1461972" cy="910512"/>
          </a:xfrm>
          <a:custGeom>
            <a:avLst/>
            <a:gdLst/>
            <a:ahLst/>
            <a:cxnLst/>
            <a:rect r="r" b="b" t="t" l="l"/>
            <a:pathLst>
              <a:path h="910512" w="1461972">
                <a:moveTo>
                  <a:pt x="0" y="0"/>
                </a:moveTo>
                <a:lnTo>
                  <a:pt x="1461972" y="0"/>
                </a:lnTo>
                <a:lnTo>
                  <a:pt x="1461972" y="910512"/>
                </a:lnTo>
                <a:lnTo>
                  <a:pt x="0" y="9105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6549" t="-54814" r="-11877" b="-51395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135128" y="2039924"/>
            <a:ext cx="9311273" cy="233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746" indent="-357873" lvl="1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Legal access gap</a:t>
            </a:r>
          </a:p>
          <a:p>
            <a:pPr algn="l" marL="715746" indent="-357873" lvl="1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Scattered Information/data barrier</a:t>
            </a:r>
          </a:p>
          <a:p>
            <a:pPr algn="l" marL="715746" indent="-357873" lvl="1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Generic Ai limit &amp; hallucination</a:t>
            </a:r>
          </a:p>
          <a:p>
            <a:pPr algn="l" marL="715746" indent="-357873" lvl="1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Lack of accuracy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40671" y="6137787"/>
            <a:ext cx="12262679" cy="222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31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2-Agent architecture(built with LangChain):</a:t>
            </a:r>
          </a:p>
          <a:p>
            <a:pPr algn="l" marL="672567" indent="-336283" lvl="1">
              <a:lnSpc>
                <a:spcPts val="4361"/>
              </a:lnSpc>
              <a:buFont typeface="Arial"/>
              <a:buChar char="•"/>
            </a:pPr>
            <a:r>
              <a:rPr lang="en-US" sz="31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Clarification agent to check query clarity &amp; ask follow-up questions</a:t>
            </a:r>
          </a:p>
          <a:p>
            <a:pPr algn="l" marL="672567" indent="-336283" lvl="1">
              <a:lnSpc>
                <a:spcPts val="4361"/>
              </a:lnSpc>
              <a:buFont typeface="Arial"/>
              <a:buChar char="•"/>
            </a:pPr>
            <a:r>
              <a:rPr lang="en-US" sz="31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RAG agent to retrieve from legal corpus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2785" y="8764704"/>
            <a:ext cx="6772915" cy="89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b="true" sz="1683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Colab link w/o link: https://colab.research.google.com/drive/1DlJUUKCwpnZsKG4CqZF3jKz-gT4JNWjm#scrollTo=vKKvaOehbCE-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2013" y="8755121"/>
            <a:ext cx="6466229" cy="92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  <a:spcBef>
                <a:spcPct val="0"/>
              </a:spcBef>
            </a:pPr>
            <a:r>
              <a:rPr lang="en-US" b="true" sz="176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Basic LangGraph Colab:</a:t>
            </a:r>
            <a:r>
              <a:rPr lang="en-US" sz="1760">
                <a:solidFill>
                  <a:srgbClr val="00BF63"/>
                </a:solidFill>
                <a:latin typeface="Poppins"/>
                <a:ea typeface="Poppins"/>
                <a:cs typeface="Poppins"/>
                <a:sym typeface="Poppins"/>
              </a:rPr>
              <a:t> https://colab.research.google.com/drive/1eI63Xu_d7HrrBrs7iiIqkzkFXgopk1SF?usp=sharing</a:t>
            </a:r>
          </a:p>
        </p:txBody>
      </p:sp>
    </p:spTree>
  </p:cSld>
  <p:clrMapOvr>
    <a:masterClrMapping/>
  </p:clrMapOvr>
  <p:transition spd="fast">
    <p:cover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75973" y="8377649"/>
            <a:ext cx="2112584" cy="2112584"/>
          </a:xfrm>
          <a:custGeom>
            <a:avLst/>
            <a:gdLst/>
            <a:ahLst/>
            <a:cxnLst/>
            <a:rect r="r" b="b" t="t" l="l"/>
            <a:pathLst>
              <a:path h="2112584" w="2112584">
                <a:moveTo>
                  <a:pt x="0" y="0"/>
                </a:moveTo>
                <a:lnTo>
                  <a:pt x="2112584" y="0"/>
                </a:lnTo>
                <a:lnTo>
                  <a:pt x="2112584" y="2112584"/>
                </a:lnTo>
                <a:lnTo>
                  <a:pt x="0" y="2112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7618" cy="2557618"/>
          </a:xfrm>
          <a:custGeom>
            <a:avLst/>
            <a:gdLst/>
            <a:ahLst/>
            <a:cxnLst/>
            <a:rect r="r" b="b" t="t" l="l"/>
            <a:pathLst>
              <a:path h="2557618" w="2557618">
                <a:moveTo>
                  <a:pt x="0" y="0"/>
                </a:moveTo>
                <a:lnTo>
                  <a:pt x="2557618" y="0"/>
                </a:lnTo>
                <a:lnTo>
                  <a:pt x="2557618" y="2557618"/>
                </a:lnTo>
                <a:lnTo>
                  <a:pt x="0" y="25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9387" y="8541062"/>
            <a:ext cx="1830038" cy="1830038"/>
          </a:xfrm>
          <a:custGeom>
            <a:avLst/>
            <a:gdLst/>
            <a:ahLst/>
            <a:cxnLst/>
            <a:rect r="r" b="b" t="t" l="l"/>
            <a:pathLst>
              <a:path h="1830038" w="1830038">
                <a:moveTo>
                  <a:pt x="0" y="0"/>
                </a:moveTo>
                <a:lnTo>
                  <a:pt x="1830037" y="0"/>
                </a:lnTo>
                <a:lnTo>
                  <a:pt x="1830037" y="1830038"/>
                </a:lnTo>
                <a:lnTo>
                  <a:pt x="0" y="1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59133" cy="2059133"/>
          </a:xfrm>
          <a:custGeom>
            <a:avLst/>
            <a:gdLst/>
            <a:ahLst/>
            <a:cxnLst/>
            <a:rect r="r" b="b" t="t" l="l"/>
            <a:pathLst>
              <a:path h="2059133" w="2059133">
                <a:moveTo>
                  <a:pt x="0" y="0"/>
                </a:moveTo>
                <a:lnTo>
                  <a:pt x="2059133" y="0"/>
                </a:lnTo>
                <a:lnTo>
                  <a:pt x="2059133" y="2059133"/>
                </a:lnTo>
                <a:lnTo>
                  <a:pt x="0" y="2059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0366" y="5524691"/>
            <a:ext cx="4207360" cy="2509908"/>
          </a:xfrm>
          <a:custGeom>
            <a:avLst/>
            <a:gdLst/>
            <a:ahLst/>
            <a:cxnLst/>
            <a:rect r="r" b="b" t="t" l="l"/>
            <a:pathLst>
              <a:path h="2509908" w="4207360">
                <a:moveTo>
                  <a:pt x="0" y="0"/>
                </a:moveTo>
                <a:lnTo>
                  <a:pt x="4207360" y="0"/>
                </a:lnTo>
                <a:lnTo>
                  <a:pt x="4207360" y="2509908"/>
                </a:lnTo>
                <a:lnTo>
                  <a:pt x="0" y="250990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479280" y="4905566"/>
            <a:ext cx="7506612" cy="2117736"/>
          </a:xfrm>
          <a:custGeom>
            <a:avLst/>
            <a:gdLst/>
            <a:ahLst/>
            <a:cxnLst/>
            <a:rect r="r" b="b" t="t" l="l"/>
            <a:pathLst>
              <a:path h="2117736" w="7506612">
                <a:moveTo>
                  <a:pt x="0" y="0"/>
                </a:moveTo>
                <a:lnTo>
                  <a:pt x="7506612" y="0"/>
                </a:lnTo>
                <a:lnTo>
                  <a:pt x="7506612" y="2117736"/>
                </a:lnTo>
                <a:lnTo>
                  <a:pt x="0" y="211773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-48118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241833" y="799890"/>
            <a:ext cx="7804334" cy="105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92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Dataset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42597" y="2962584"/>
            <a:ext cx="13533376" cy="78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  <a:spcBef>
                <a:spcPct val="0"/>
              </a:spcBef>
            </a:pPr>
            <a:r>
              <a:rPr lang="en-US" b="true" sz="22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Appellate division Case &amp; Judgement</a:t>
            </a:r>
            <a:r>
              <a:rPr lang="en-US" sz="2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202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4" tooltip="https://www.supremecourt.gov.bd/web/indexn.php?page=judgments.php"/>
              </a:rPr>
              <a:t>https://www.supremecourt.gov.bd/web/indexn.php?page=judgments.php&amp;menu=00&amp;div_id=1&amp;lang=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54035" y="2321013"/>
            <a:ext cx="12250489" cy="3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Official Website for all Bangladeshi Laws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http://bdlaws.minlaw.gov.bd/act-20.html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66376" y="5564284"/>
            <a:ext cx="9107835" cy="233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PDF scraped</a:t>
            </a:r>
          </a:p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chunked</a:t>
            </a:r>
          </a:p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embedded</a:t>
            </a:r>
          </a:p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stored using ChromaDB for fast retrieval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54035" y="3982970"/>
            <a:ext cx="12250489" cy="3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BD Law Articles: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https://www.bdlawpost.com/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75973" y="8377649"/>
            <a:ext cx="2112584" cy="2112584"/>
          </a:xfrm>
          <a:custGeom>
            <a:avLst/>
            <a:gdLst/>
            <a:ahLst/>
            <a:cxnLst/>
            <a:rect r="r" b="b" t="t" l="l"/>
            <a:pathLst>
              <a:path h="2112584" w="2112584">
                <a:moveTo>
                  <a:pt x="0" y="0"/>
                </a:moveTo>
                <a:lnTo>
                  <a:pt x="2112584" y="0"/>
                </a:lnTo>
                <a:lnTo>
                  <a:pt x="2112584" y="2112584"/>
                </a:lnTo>
                <a:lnTo>
                  <a:pt x="0" y="2112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7618" cy="2557618"/>
          </a:xfrm>
          <a:custGeom>
            <a:avLst/>
            <a:gdLst/>
            <a:ahLst/>
            <a:cxnLst/>
            <a:rect r="r" b="b" t="t" l="l"/>
            <a:pathLst>
              <a:path h="2557618" w="2557618">
                <a:moveTo>
                  <a:pt x="0" y="0"/>
                </a:moveTo>
                <a:lnTo>
                  <a:pt x="2557618" y="0"/>
                </a:lnTo>
                <a:lnTo>
                  <a:pt x="2557618" y="2557618"/>
                </a:lnTo>
                <a:lnTo>
                  <a:pt x="0" y="25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7558" y="8759234"/>
            <a:ext cx="1611866" cy="1611866"/>
          </a:xfrm>
          <a:custGeom>
            <a:avLst/>
            <a:gdLst/>
            <a:ahLst/>
            <a:cxnLst/>
            <a:rect r="r" b="b" t="t" l="l"/>
            <a:pathLst>
              <a:path h="1611866" w="1611866">
                <a:moveTo>
                  <a:pt x="0" y="0"/>
                </a:moveTo>
                <a:lnTo>
                  <a:pt x="1611866" y="0"/>
                </a:lnTo>
                <a:lnTo>
                  <a:pt x="1611866" y="1611866"/>
                </a:lnTo>
                <a:lnTo>
                  <a:pt x="0" y="1611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59133" cy="2059133"/>
          </a:xfrm>
          <a:custGeom>
            <a:avLst/>
            <a:gdLst/>
            <a:ahLst/>
            <a:cxnLst/>
            <a:rect r="r" b="b" t="t" l="l"/>
            <a:pathLst>
              <a:path h="2059133" w="2059133">
                <a:moveTo>
                  <a:pt x="0" y="0"/>
                </a:moveTo>
                <a:lnTo>
                  <a:pt x="2059133" y="0"/>
                </a:lnTo>
                <a:lnTo>
                  <a:pt x="2059133" y="2059133"/>
                </a:lnTo>
                <a:lnTo>
                  <a:pt x="0" y="2059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06947" y="1579383"/>
            <a:ext cx="5921584" cy="8312993"/>
          </a:xfrm>
          <a:custGeom>
            <a:avLst/>
            <a:gdLst/>
            <a:ahLst/>
            <a:cxnLst/>
            <a:rect r="r" b="b" t="t" l="l"/>
            <a:pathLst>
              <a:path h="8312993" w="5921584">
                <a:moveTo>
                  <a:pt x="0" y="0"/>
                </a:moveTo>
                <a:lnTo>
                  <a:pt x="5921584" y="0"/>
                </a:lnTo>
                <a:lnTo>
                  <a:pt x="5921584" y="8312993"/>
                </a:lnTo>
                <a:lnTo>
                  <a:pt x="0" y="831299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2907" t="-3783" r="-83749" b="-3061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-10800000">
            <a:off x="10106912" y="4881395"/>
            <a:ext cx="1340715" cy="834595"/>
          </a:xfrm>
          <a:custGeom>
            <a:avLst/>
            <a:gdLst/>
            <a:ahLst/>
            <a:cxnLst/>
            <a:rect r="r" b="b" t="t" l="l"/>
            <a:pathLst>
              <a:path h="834595" w="1340715">
                <a:moveTo>
                  <a:pt x="1340714" y="0"/>
                </a:moveTo>
                <a:lnTo>
                  <a:pt x="0" y="0"/>
                </a:lnTo>
                <a:lnTo>
                  <a:pt x="0" y="834595"/>
                </a:lnTo>
                <a:lnTo>
                  <a:pt x="1340714" y="834595"/>
                </a:lnTo>
                <a:lnTo>
                  <a:pt x="1340714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3980870">
            <a:off x="6654044" y="5370381"/>
            <a:ext cx="822134" cy="1899889"/>
          </a:xfrm>
          <a:custGeom>
            <a:avLst/>
            <a:gdLst/>
            <a:ahLst/>
            <a:cxnLst/>
            <a:rect r="r" b="b" t="t" l="l"/>
            <a:pathLst>
              <a:path h="1899889" w="822134">
                <a:moveTo>
                  <a:pt x="0" y="0"/>
                </a:moveTo>
                <a:lnTo>
                  <a:pt x="822134" y="0"/>
                </a:lnTo>
                <a:lnTo>
                  <a:pt x="822134" y="1899888"/>
                </a:lnTo>
                <a:lnTo>
                  <a:pt x="0" y="18998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133768">
            <a:off x="10245917" y="9343447"/>
            <a:ext cx="2082614" cy="588339"/>
          </a:xfrm>
          <a:custGeom>
            <a:avLst/>
            <a:gdLst/>
            <a:ahLst/>
            <a:cxnLst/>
            <a:rect r="r" b="b" t="t" l="l"/>
            <a:pathLst>
              <a:path h="588339" w="2082614">
                <a:moveTo>
                  <a:pt x="0" y="0"/>
                </a:moveTo>
                <a:lnTo>
                  <a:pt x="2082614" y="0"/>
                </a:lnTo>
                <a:lnTo>
                  <a:pt x="2082614" y="588338"/>
                </a:lnTo>
                <a:lnTo>
                  <a:pt x="0" y="58833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382457" y="541719"/>
            <a:ext cx="5811443" cy="104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90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System Workflow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05277" y="1936768"/>
            <a:ext cx="6148199" cy="42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Q</a:t>
            </a: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uery received by Clarification Agent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3311345">
            <a:off x="6053311" y="1768663"/>
            <a:ext cx="1017056" cy="3040114"/>
          </a:xfrm>
          <a:custGeom>
            <a:avLst/>
            <a:gdLst/>
            <a:ahLst/>
            <a:cxnLst/>
            <a:rect r="r" b="b" t="t" l="l"/>
            <a:pathLst>
              <a:path h="3040114" w="1017056">
                <a:moveTo>
                  <a:pt x="0" y="0"/>
                </a:moveTo>
                <a:lnTo>
                  <a:pt x="1017056" y="0"/>
                </a:lnTo>
                <a:lnTo>
                  <a:pt x="1017056" y="3040114"/>
                </a:lnTo>
                <a:lnTo>
                  <a:pt x="0" y="30401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770397" y="5669205"/>
            <a:ext cx="7167232" cy="42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Relevant doc</a:t>
            </a: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uments retrieved from vector DB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8041" y="6653207"/>
            <a:ext cx="7943638" cy="42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Conditional w</a:t>
            </a: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eb search if corpus is insufficient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00419" y="8690573"/>
            <a:ext cx="5832784" cy="84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Final answ</a:t>
            </a:r>
            <a:r>
              <a:rPr lang="en-US" b="true" sz="2402">
                <a:solidFill>
                  <a:srgbClr val="5B1C28"/>
                </a:solidFill>
                <a:latin typeface="Poppins Bold"/>
                <a:ea typeface="Poppins Bold"/>
                <a:cs typeface="Poppins Bold"/>
                <a:sym typeface="Poppins Bold"/>
              </a:rPr>
              <a:t>er synthesized using retrieved context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45076" y="8032451"/>
            <a:ext cx="2651372" cy="2651372"/>
          </a:xfrm>
          <a:custGeom>
            <a:avLst/>
            <a:gdLst/>
            <a:ahLst/>
            <a:cxnLst/>
            <a:rect r="r" b="b" t="t" l="l"/>
            <a:pathLst>
              <a:path h="2651372" w="2651372">
                <a:moveTo>
                  <a:pt x="0" y="0"/>
                </a:moveTo>
                <a:lnTo>
                  <a:pt x="2651373" y="0"/>
                </a:lnTo>
                <a:lnTo>
                  <a:pt x="2651373" y="2651372"/>
                </a:lnTo>
                <a:lnTo>
                  <a:pt x="0" y="265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176984" cy="2176984"/>
          </a:xfrm>
          <a:custGeom>
            <a:avLst/>
            <a:gdLst/>
            <a:ahLst/>
            <a:cxnLst/>
            <a:rect r="r" b="b" t="t" l="l"/>
            <a:pathLst>
              <a:path h="2176984" w="2176984">
                <a:moveTo>
                  <a:pt x="0" y="0"/>
                </a:moveTo>
                <a:lnTo>
                  <a:pt x="2176984" y="0"/>
                </a:lnTo>
                <a:lnTo>
                  <a:pt x="2176984" y="2176984"/>
                </a:lnTo>
                <a:lnTo>
                  <a:pt x="0" y="217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47594" y="8454100"/>
            <a:ext cx="2036132" cy="2036132"/>
          </a:xfrm>
          <a:custGeom>
            <a:avLst/>
            <a:gdLst/>
            <a:ahLst/>
            <a:cxnLst/>
            <a:rect r="r" b="b" t="t" l="l"/>
            <a:pathLst>
              <a:path h="2036132" w="2036132">
                <a:moveTo>
                  <a:pt x="0" y="0"/>
                </a:moveTo>
                <a:lnTo>
                  <a:pt x="2036132" y="0"/>
                </a:lnTo>
                <a:lnTo>
                  <a:pt x="2036132" y="2036133"/>
                </a:lnTo>
                <a:lnTo>
                  <a:pt x="0" y="20361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1744392" cy="1744392"/>
          </a:xfrm>
          <a:custGeom>
            <a:avLst/>
            <a:gdLst/>
            <a:ahLst/>
            <a:cxnLst/>
            <a:rect r="r" b="b" t="t" l="l"/>
            <a:pathLst>
              <a:path h="1744392" w="1744392">
                <a:moveTo>
                  <a:pt x="0" y="0"/>
                </a:moveTo>
                <a:lnTo>
                  <a:pt x="1744392" y="0"/>
                </a:lnTo>
                <a:lnTo>
                  <a:pt x="1744392" y="1744392"/>
                </a:lnTo>
                <a:lnTo>
                  <a:pt x="0" y="1744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649553" y="9667224"/>
            <a:ext cx="1448709" cy="1432905"/>
          </a:xfrm>
          <a:custGeom>
            <a:avLst/>
            <a:gdLst/>
            <a:ahLst/>
            <a:cxnLst/>
            <a:rect r="r" b="b" t="t" l="l"/>
            <a:pathLst>
              <a:path h="1432905" w="1448709">
                <a:moveTo>
                  <a:pt x="0" y="0"/>
                </a:moveTo>
                <a:lnTo>
                  <a:pt x="1448710" y="0"/>
                </a:lnTo>
                <a:lnTo>
                  <a:pt x="1448710" y="1432905"/>
                </a:lnTo>
                <a:lnTo>
                  <a:pt x="0" y="1432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98731" y="1729109"/>
            <a:ext cx="8441467" cy="3751763"/>
          </a:xfrm>
          <a:custGeom>
            <a:avLst/>
            <a:gdLst/>
            <a:ahLst/>
            <a:cxnLst/>
            <a:rect r="r" b="b" t="t" l="l"/>
            <a:pathLst>
              <a:path h="3751763" w="8441467">
                <a:moveTo>
                  <a:pt x="0" y="0"/>
                </a:moveTo>
                <a:lnTo>
                  <a:pt x="8441467" y="0"/>
                </a:lnTo>
                <a:lnTo>
                  <a:pt x="8441467" y="3751763"/>
                </a:lnTo>
                <a:lnTo>
                  <a:pt x="0" y="37517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17082" y="7325486"/>
            <a:ext cx="10516121" cy="2528266"/>
          </a:xfrm>
          <a:custGeom>
            <a:avLst/>
            <a:gdLst/>
            <a:ahLst/>
            <a:cxnLst/>
            <a:rect r="r" b="b" t="t" l="l"/>
            <a:pathLst>
              <a:path h="2528266" w="10516121">
                <a:moveTo>
                  <a:pt x="0" y="0"/>
                </a:moveTo>
                <a:lnTo>
                  <a:pt x="10516121" y="0"/>
                </a:lnTo>
                <a:lnTo>
                  <a:pt x="10516121" y="2528266"/>
                </a:lnTo>
                <a:lnTo>
                  <a:pt x="0" y="2528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761455" y="671191"/>
            <a:ext cx="6765090" cy="105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92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The Agents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8991" y="2049499"/>
            <a:ext cx="7719566" cy="175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12969" indent="-356484" lvl="1">
              <a:lnSpc>
                <a:spcPts val="4623"/>
              </a:lnSpc>
              <a:spcBef>
                <a:spcPct val="0"/>
              </a:spcBef>
              <a:buAutoNum type="arabicPeriod" startAt="1"/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Clarification Agent:</a:t>
            </a:r>
          </a:p>
          <a:p>
            <a:pPr algn="ctr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Assesses query clarity using LLM</a:t>
            </a:r>
          </a:p>
          <a:p>
            <a:pPr algn="ctr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Asks follow-up questions if vague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8041" y="5385622"/>
            <a:ext cx="9635430" cy="175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2. </a:t>
            </a: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RAG Agent:</a:t>
            </a:r>
          </a:p>
          <a:p>
            <a:pPr algn="ctr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Retrieves and ranks chunks from vector DB</a:t>
            </a:r>
          </a:p>
          <a:p>
            <a:pPr algn="ctr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Synthesizes answer with source citations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5856" y="8607532"/>
            <a:ext cx="1882701" cy="1882701"/>
          </a:xfrm>
          <a:custGeom>
            <a:avLst/>
            <a:gdLst/>
            <a:ahLst/>
            <a:cxnLst/>
            <a:rect r="r" b="b" t="t" l="l"/>
            <a:pathLst>
              <a:path h="1882701" w="1882701">
                <a:moveTo>
                  <a:pt x="0" y="0"/>
                </a:moveTo>
                <a:lnTo>
                  <a:pt x="1882701" y="0"/>
                </a:lnTo>
                <a:lnTo>
                  <a:pt x="1882701" y="1882701"/>
                </a:lnTo>
                <a:lnTo>
                  <a:pt x="0" y="1882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268610" cy="2268610"/>
          </a:xfrm>
          <a:custGeom>
            <a:avLst/>
            <a:gdLst/>
            <a:ahLst/>
            <a:cxnLst/>
            <a:rect r="r" b="b" t="t" l="l"/>
            <a:pathLst>
              <a:path h="2268610" w="2268610">
                <a:moveTo>
                  <a:pt x="0" y="0"/>
                </a:moveTo>
                <a:lnTo>
                  <a:pt x="2268610" y="0"/>
                </a:lnTo>
                <a:lnTo>
                  <a:pt x="2268610" y="2268610"/>
                </a:lnTo>
                <a:lnTo>
                  <a:pt x="0" y="2268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21240" y="8822916"/>
            <a:ext cx="1548184" cy="1548184"/>
          </a:xfrm>
          <a:custGeom>
            <a:avLst/>
            <a:gdLst/>
            <a:ahLst/>
            <a:cxnLst/>
            <a:rect r="r" b="b" t="t" l="l"/>
            <a:pathLst>
              <a:path h="1548184" w="1548184">
                <a:moveTo>
                  <a:pt x="0" y="0"/>
                </a:moveTo>
                <a:lnTo>
                  <a:pt x="1548184" y="0"/>
                </a:lnTo>
                <a:lnTo>
                  <a:pt x="1548184" y="1548184"/>
                </a:lnTo>
                <a:lnTo>
                  <a:pt x="0" y="1548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1782995" cy="1782995"/>
          </a:xfrm>
          <a:custGeom>
            <a:avLst/>
            <a:gdLst/>
            <a:ahLst/>
            <a:cxnLst/>
            <a:rect r="r" b="b" t="t" l="l"/>
            <a:pathLst>
              <a:path h="1782995" w="1782995">
                <a:moveTo>
                  <a:pt x="0" y="0"/>
                </a:moveTo>
                <a:lnTo>
                  <a:pt x="1782996" y="0"/>
                </a:lnTo>
                <a:lnTo>
                  <a:pt x="1782996" y="1782995"/>
                </a:lnTo>
                <a:lnTo>
                  <a:pt x="0" y="1782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78576" y="5538453"/>
            <a:ext cx="2720938" cy="2720938"/>
          </a:xfrm>
          <a:custGeom>
            <a:avLst/>
            <a:gdLst/>
            <a:ahLst/>
            <a:cxnLst/>
            <a:rect r="r" b="b" t="t" l="l"/>
            <a:pathLst>
              <a:path h="2720938" w="2720938">
                <a:moveTo>
                  <a:pt x="0" y="0"/>
                </a:moveTo>
                <a:lnTo>
                  <a:pt x="2720938" y="0"/>
                </a:lnTo>
                <a:lnTo>
                  <a:pt x="2720938" y="2720939"/>
                </a:lnTo>
                <a:lnTo>
                  <a:pt x="0" y="2720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947332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16195" y="4496957"/>
            <a:ext cx="8697151" cy="4369722"/>
          </a:xfrm>
          <a:custGeom>
            <a:avLst/>
            <a:gdLst/>
            <a:ahLst/>
            <a:cxnLst/>
            <a:rect r="r" b="b" t="t" l="l"/>
            <a:pathLst>
              <a:path h="4369722" w="8697151">
                <a:moveTo>
                  <a:pt x="0" y="0"/>
                </a:moveTo>
                <a:lnTo>
                  <a:pt x="8697151" y="0"/>
                </a:lnTo>
                <a:lnTo>
                  <a:pt x="8697151" y="4369721"/>
                </a:lnTo>
                <a:lnTo>
                  <a:pt x="0" y="436972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75" t="0" r="-875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96001" y="4496957"/>
            <a:ext cx="8906226" cy="4369722"/>
          </a:xfrm>
          <a:custGeom>
            <a:avLst/>
            <a:gdLst/>
            <a:ahLst/>
            <a:cxnLst/>
            <a:rect r="r" b="b" t="t" l="l"/>
            <a:pathLst>
              <a:path h="4369722" w="8906226">
                <a:moveTo>
                  <a:pt x="0" y="0"/>
                </a:moveTo>
                <a:lnTo>
                  <a:pt x="8906226" y="0"/>
                </a:lnTo>
                <a:lnTo>
                  <a:pt x="8906226" y="4369721"/>
                </a:lnTo>
                <a:lnTo>
                  <a:pt x="0" y="436972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083522" y="819281"/>
            <a:ext cx="8142303" cy="138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3"/>
              </a:lnSpc>
              <a:spcBef>
                <a:spcPct val="0"/>
              </a:spcBef>
            </a:pPr>
            <a:r>
              <a:rPr lang="en-US" b="true" sz="39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&amp; Results</a:t>
            </a:r>
          </a:p>
          <a:p>
            <a:pPr algn="ctr">
              <a:lnSpc>
                <a:spcPts val="5463"/>
              </a:lnSpc>
              <a:spcBef>
                <a:spcPct val="0"/>
              </a:spcBef>
            </a:pPr>
            <a:r>
              <a:rPr lang="en-US" b="true" sz="39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(comparing with existing tech)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32324" y="2380560"/>
            <a:ext cx="11823353" cy="175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 BD legal queries evaluated</a:t>
            </a:r>
          </a:p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Agentic RAG outperformed GPT-4o and Gemma3-4b</a:t>
            </a:r>
          </a:p>
          <a:p>
            <a:pPr algn="l" marL="712969" indent="-356484" lvl="1">
              <a:lnSpc>
                <a:spcPts val="4623"/>
              </a:lnSpc>
              <a:buFont typeface="Arial"/>
              <a:buChar char="•"/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runs offline on Gemma 3B via ollama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476243" y="2499267"/>
            <a:ext cx="11335513" cy="6960885"/>
          </a:xfrm>
          <a:custGeom>
            <a:avLst/>
            <a:gdLst/>
            <a:ahLst/>
            <a:cxnLst/>
            <a:rect r="r" b="b" t="t" l="l"/>
            <a:pathLst>
              <a:path h="6960885" w="11335513">
                <a:moveTo>
                  <a:pt x="0" y="0"/>
                </a:moveTo>
                <a:lnTo>
                  <a:pt x="11335514" y="0"/>
                </a:lnTo>
                <a:lnTo>
                  <a:pt x="11335514" y="6960885"/>
                </a:lnTo>
                <a:lnTo>
                  <a:pt x="0" y="69608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625403" y="933450"/>
            <a:ext cx="13037195" cy="117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GPT-4o</a:t>
            </a: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general, mainly US LAW focused &amp; lacks BD focus</a:t>
            </a:r>
          </a:p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b="true" sz="3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Agentic RAG</a:t>
            </a: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domain-specific, offline-ready, low hallucination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16852" y="8218528"/>
            <a:ext cx="2271705" cy="2271705"/>
          </a:xfrm>
          <a:custGeom>
            <a:avLst/>
            <a:gdLst/>
            <a:ahLst/>
            <a:cxnLst/>
            <a:rect r="r" b="b" t="t" l="l"/>
            <a:pathLst>
              <a:path h="2271705" w="2271705">
                <a:moveTo>
                  <a:pt x="0" y="0"/>
                </a:moveTo>
                <a:lnTo>
                  <a:pt x="2271705" y="0"/>
                </a:lnTo>
                <a:lnTo>
                  <a:pt x="2271705" y="2271705"/>
                </a:lnTo>
                <a:lnTo>
                  <a:pt x="0" y="22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1703" cy="2551703"/>
          </a:xfrm>
          <a:custGeom>
            <a:avLst/>
            <a:gdLst/>
            <a:ahLst/>
            <a:cxnLst/>
            <a:rect r="r" b="b" t="t" l="l"/>
            <a:pathLst>
              <a:path h="2551703" w="2551703">
                <a:moveTo>
                  <a:pt x="0" y="0"/>
                </a:moveTo>
                <a:lnTo>
                  <a:pt x="2551703" y="0"/>
                </a:lnTo>
                <a:lnTo>
                  <a:pt x="2551703" y="2551703"/>
                </a:lnTo>
                <a:lnTo>
                  <a:pt x="0" y="2551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7599" y="8539275"/>
            <a:ext cx="1831825" cy="1831825"/>
          </a:xfrm>
          <a:custGeom>
            <a:avLst/>
            <a:gdLst/>
            <a:ahLst/>
            <a:cxnLst/>
            <a:rect r="r" b="b" t="t" l="l"/>
            <a:pathLst>
              <a:path h="1831825" w="1831825">
                <a:moveTo>
                  <a:pt x="0" y="0"/>
                </a:moveTo>
                <a:lnTo>
                  <a:pt x="1831825" y="0"/>
                </a:lnTo>
                <a:lnTo>
                  <a:pt x="1831825" y="1831825"/>
                </a:lnTo>
                <a:lnTo>
                  <a:pt x="0" y="1831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76723" cy="2076723"/>
          </a:xfrm>
          <a:custGeom>
            <a:avLst/>
            <a:gdLst/>
            <a:ahLst/>
            <a:cxnLst/>
            <a:rect r="r" b="b" t="t" l="l"/>
            <a:pathLst>
              <a:path h="2076723" w="2076723">
                <a:moveTo>
                  <a:pt x="0" y="0"/>
                </a:moveTo>
                <a:lnTo>
                  <a:pt x="2076723" y="0"/>
                </a:lnTo>
                <a:lnTo>
                  <a:pt x="2076723" y="2076722"/>
                </a:lnTo>
                <a:lnTo>
                  <a:pt x="0" y="2076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12467" y="5511070"/>
            <a:ext cx="2775705" cy="2775705"/>
          </a:xfrm>
          <a:custGeom>
            <a:avLst/>
            <a:gdLst/>
            <a:ahLst/>
            <a:cxnLst/>
            <a:rect r="r" b="b" t="t" l="l"/>
            <a:pathLst>
              <a:path h="2775705" w="2775705">
                <a:moveTo>
                  <a:pt x="0" y="0"/>
                </a:moveTo>
                <a:lnTo>
                  <a:pt x="2775705" y="0"/>
                </a:lnTo>
                <a:lnTo>
                  <a:pt x="2775705" y="2775705"/>
                </a:lnTo>
                <a:lnTo>
                  <a:pt x="0" y="2775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021298" y="1770208"/>
            <a:ext cx="2968196" cy="2968196"/>
          </a:xfrm>
          <a:custGeom>
            <a:avLst/>
            <a:gdLst/>
            <a:ahLst/>
            <a:cxnLst/>
            <a:rect r="r" b="b" t="t" l="l"/>
            <a:pathLst>
              <a:path h="2968196" w="2968196">
                <a:moveTo>
                  <a:pt x="0" y="0"/>
                </a:moveTo>
                <a:lnTo>
                  <a:pt x="2968196" y="0"/>
                </a:lnTo>
                <a:lnTo>
                  <a:pt x="2968196" y="2968196"/>
                </a:lnTo>
                <a:lnTo>
                  <a:pt x="0" y="29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50572" y="9178297"/>
            <a:ext cx="1318658" cy="160637"/>
          </a:xfrm>
          <a:custGeom>
            <a:avLst/>
            <a:gdLst/>
            <a:ahLst/>
            <a:cxnLst/>
            <a:rect r="r" b="b" t="t" l="l"/>
            <a:pathLst>
              <a:path h="160637" w="1318658">
                <a:moveTo>
                  <a:pt x="0" y="0"/>
                </a:moveTo>
                <a:lnTo>
                  <a:pt x="1318658" y="0"/>
                </a:lnTo>
                <a:lnTo>
                  <a:pt x="1318658" y="160637"/>
                </a:lnTo>
                <a:lnTo>
                  <a:pt x="0" y="160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77854" y="1028700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3" y="0"/>
                </a:lnTo>
                <a:lnTo>
                  <a:pt x="1276943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565412" y="1405385"/>
            <a:ext cx="13157175" cy="6257950"/>
          </a:xfrm>
          <a:custGeom>
            <a:avLst/>
            <a:gdLst/>
            <a:ahLst/>
            <a:cxnLst/>
            <a:rect r="r" b="b" t="t" l="l"/>
            <a:pathLst>
              <a:path h="6257950" w="13157175">
                <a:moveTo>
                  <a:pt x="0" y="0"/>
                </a:moveTo>
                <a:lnTo>
                  <a:pt x="13157176" y="0"/>
                </a:lnTo>
                <a:lnTo>
                  <a:pt x="13157176" y="6257951"/>
                </a:lnTo>
                <a:lnTo>
                  <a:pt x="0" y="62579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7786481"/>
            <a:ext cx="16230600" cy="117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3"/>
              </a:lnSpc>
              <a:spcBef>
                <a:spcPct val="0"/>
              </a:spcBef>
            </a:pPr>
            <a:r>
              <a:rPr lang="en-US" sz="3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Performance comparison of the proposed RAG system using Gemma34b against the Vanilla RAG using Gemma3-4b.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16852" y="8218528"/>
            <a:ext cx="2271705" cy="2271705"/>
          </a:xfrm>
          <a:custGeom>
            <a:avLst/>
            <a:gdLst/>
            <a:ahLst/>
            <a:cxnLst/>
            <a:rect r="r" b="b" t="t" l="l"/>
            <a:pathLst>
              <a:path h="2271705" w="2271705">
                <a:moveTo>
                  <a:pt x="0" y="0"/>
                </a:moveTo>
                <a:lnTo>
                  <a:pt x="2271705" y="0"/>
                </a:lnTo>
                <a:lnTo>
                  <a:pt x="2271705" y="2271705"/>
                </a:lnTo>
                <a:lnTo>
                  <a:pt x="0" y="227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551703" cy="2551703"/>
          </a:xfrm>
          <a:custGeom>
            <a:avLst/>
            <a:gdLst/>
            <a:ahLst/>
            <a:cxnLst/>
            <a:rect r="r" b="b" t="t" l="l"/>
            <a:pathLst>
              <a:path h="2551703" w="2551703">
                <a:moveTo>
                  <a:pt x="0" y="0"/>
                </a:moveTo>
                <a:lnTo>
                  <a:pt x="2551703" y="0"/>
                </a:lnTo>
                <a:lnTo>
                  <a:pt x="2551703" y="2551703"/>
                </a:lnTo>
                <a:lnTo>
                  <a:pt x="0" y="2551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7599" y="8539275"/>
            <a:ext cx="1831825" cy="1831825"/>
          </a:xfrm>
          <a:custGeom>
            <a:avLst/>
            <a:gdLst/>
            <a:ahLst/>
            <a:cxnLst/>
            <a:rect r="r" b="b" t="t" l="l"/>
            <a:pathLst>
              <a:path h="1831825" w="1831825">
                <a:moveTo>
                  <a:pt x="0" y="0"/>
                </a:moveTo>
                <a:lnTo>
                  <a:pt x="1831825" y="0"/>
                </a:lnTo>
                <a:lnTo>
                  <a:pt x="1831825" y="1831825"/>
                </a:lnTo>
                <a:lnTo>
                  <a:pt x="0" y="1831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076723" cy="2076723"/>
          </a:xfrm>
          <a:custGeom>
            <a:avLst/>
            <a:gdLst/>
            <a:ahLst/>
            <a:cxnLst/>
            <a:rect r="r" b="b" t="t" l="l"/>
            <a:pathLst>
              <a:path h="2076723" w="2076723">
                <a:moveTo>
                  <a:pt x="0" y="0"/>
                </a:moveTo>
                <a:lnTo>
                  <a:pt x="2076723" y="0"/>
                </a:lnTo>
                <a:lnTo>
                  <a:pt x="2076723" y="2076722"/>
                </a:lnTo>
                <a:lnTo>
                  <a:pt x="0" y="2076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12467" y="5511070"/>
            <a:ext cx="2775705" cy="2775705"/>
          </a:xfrm>
          <a:custGeom>
            <a:avLst/>
            <a:gdLst/>
            <a:ahLst/>
            <a:cxnLst/>
            <a:rect r="r" b="b" t="t" l="l"/>
            <a:pathLst>
              <a:path h="2775705" w="2775705">
                <a:moveTo>
                  <a:pt x="0" y="0"/>
                </a:moveTo>
                <a:lnTo>
                  <a:pt x="2775705" y="0"/>
                </a:lnTo>
                <a:lnTo>
                  <a:pt x="2775705" y="2775705"/>
                </a:lnTo>
                <a:lnTo>
                  <a:pt x="0" y="2775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021298" y="1770208"/>
            <a:ext cx="2968196" cy="2968196"/>
          </a:xfrm>
          <a:custGeom>
            <a:avLst/>
            <a:gdLst/>
            <a:ahLst/>
            <a:cxnLst/>
            <a:rect r="r" b="b" t="t" l="l"/>
            <a:pathLst>
              <a:path h="2968196" w="2968196">
                <a:moveTo>
                  <a:pt x="0" y="0"/>
                </a:moveTo>
                <a:lnTo>
                  <a:pt x="2968196" y="0"/>
                </a:lnTo>
                <a:lnTo>
                  <a:pt x="2968196" y="2968196"/>
                </a:lnTo>
                <a:lnTo>
                  <a:pt x="0" y="29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50572" y="9178297"/>
            <a:ext cx="1318658" cy="160637"/>
          </a:xfrm>
          <a:custGeom>
            <a:avLst/>
            <a:gdLst/>
            <a:ahLst/>
            <a:cxnLst/>
            <a:rect r="r" b="b" t="t" l="l"/>
            <a:pathLst>
              <a:path h="160637" w="1318658">
                <a:moveTo>
                  <a:pt x="0" y="0"/>
                </a:moveTo>
                <a:lnTo>
                  <a:pt x="1318658" y="0"/>
                </a:lnTo>
                <a:lnTo>
                  <a:pt x="1318658" y="160637"/>
                </a:lnTo>
                <a:lnTo>
                  <a:pt x="0" y="160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77854" y="1028700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3" y="0"/>
                </a:lnTo>
                <a:lnTo>
                  <a:pt x="1276943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5291" y="1367049"/>
            <a:ext cx="15057419" cy="7252150"/>
          </a:xfrm>
          <a:custGeom>
            <a:avLst/>
            <a:gdLst/>
            <a:ahLst/>
            <a:cxnLst/>
            <a:rect r="r" b="b" t="t" l="l"/>
            <a:pathLst>
              <a:path h="7252150" w="15057419">
                <a:moveTo>
                  <a:pt x="0" y="0"/>
                </a:moveTo>
                <a:lnTo>
                  <a:pt x="15057418" y="0"/>
                </a:lnTo>
                <a:lnTo>
                  <a:pt x="15057418" y="7252150"/>
                </a:lnTo>
                <a:lnTo>
                  <a:pt x="0" y="7252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810" b="-3085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8730" y="7800406"/>
            <a:ext cx="2689827" cy="2689827"/>
          </a:xfrm>
          <a:custGeom>
            <a:avLst/>
            <a:gdLst/>
            <a:ahLst/>
            <a:cxnLst/>
            <a:rect r="r" b="b" t="t" l="l"/>
            <a:pathLst>
              <a:path h="2689827" w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845015" cy="2845015"/>
          </a:xfrm>
          <a:custGeom>
            <a:avLst/>
            <a:gdLst/>
            <a:ahLst/>
            <a:cxnLst/>
            <a:rect r="r" b="b" t="t" l="l"/>
            <a:pathLst>
              <a:path h="2845015" w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2961" y="8114637"/>
            <a:ext cx="2256463" cy="2256463"/>
          </a:xfrm>
          <a:custGeom>
            <a:avLst/>
            <a:gdLst/>
            <a:ahLst/>
            <a:cxnLst/>
            <a:rect r="r" b="b" t="t" l="l"/>
            <a:pathLst>
              <a:path h="2256463" w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422791" cy="2422791"/>
          </a:xfrm>
          <a:custGeom>
            <a:avLst/>
            <a:gdLst/>
            <a:ahLst/>
            <a:cxnLst/>
            <a:rect r="r" b="b" t="t" l="l"/>
            <a:pathLst>
              <a:path h="2422791" w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33887" y="5519943"/>
            <a:ext cx="2757960" cy="2757960"/>
          </a:xfrm>
          <a:custGeom>
            <a:avLst/>
            <a:gdLst/>
            <a:ahLst/>
            <a:cxnLst/>
            <a:rect r="r" b="b" t="t" l="l"/>
            <a:pathLst>
              <a:path h="2757960" w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113973" y="158820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3618958" y="965173"/>
            <a:ext cx="11050084" cy="1030616"/>
            <a:chOff x="0" y="0"/>
            <a:chExt cx="14733445" cy="137415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4733445" cy="1374154"/>
              <a:chOff x="0" y="0"/>
              <a:chExt cx="3325344" cy="31014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325344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3325344">
                    <a:moveTo>
                      <a:pt x="0" y="0"/>
                    </a:moveTo>
                    <a:lnTo>
                      <a:pt x="3325344" y="0"/>
                    </a:lnTo>
                    <a:lnTo>
                      <a:pt x="3325344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3325344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8488" y="98148"/>
              <a:ext cx="13836469" cy="104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SUMMARY OF KEY ACHIEVEMENTS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845099" y="2804559"/>
            <a:ext cx="15468659" cy="571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Progressed fr</a:t>
            </a: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 understanding basic RAG to building a sophisticated Multi-Agent system.</a:t>
            </a:r>
          </a:p>
          <a:p>
            <a:pPr algn="l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Successfully customized RAG for the niche domain of Bangladeshi Law.</a:t>
            </a:r>
          </a:p>
          <a:p>
            <a:pPr algn="l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Explored &amp; implemented Agentic RAG concepts.</a:t>
            </a:r>
          </a:p>
          <a:p>
            <a:pPr algn="l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Integrated advanced features: Conditional Web Search, Relevance Checking, and Clarification Questions.</a:t>
            </a:r>
          </a:p>
          <a:p>
            <a:pPr algn="l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Developed a functional Streamlit UI for user interaction.</a:t>
            </a:r>
          </a:p>
          <a:p>
            <a:pPr algn="l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Helps underserved populations access justice</a:t>
            </a:r>
          </a:p>
          <a:p>
            <a:pPr algn="l" marL="699403" indent="-349701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2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Cost effective</a:t>
            </a:r>
          </a:p>
          <a:p>
            <a:pPr algn="l">
              <a:lnSpc>
                <a:spcPts val="45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8730" y="7800406"/>
            <a:ext cx="2689827" cy="2689827"/>
          </a:xfrm>
          <a:custGeom>
            <a:avLst/>
            <a:gdLst/>
            <a:ahLst/>
            <a:cxnLst/>
            <a:rect r="r" b="b" t="t" l="l"/>
            <a:pathLst>
              <a:path h="2689827" w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845015" cy="2845015"/>
          </a:xfrm>
          <a:custGeom>
            <a:avLst/>
            <a:gdLst/>
            <a:ahLst/>
            <a:cxnLst/>
            <a:rect r="r" b="b" t="t" l="l"/>
            <a:pathLst>
              <a:path h="2845015" w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2961" y="8114637"/>
            <a:ext cx="2256463" cy="2256463"/>
          </a:xfrm>
          <a:custGeom>
            <a:avLst/>
            <a:gdLst/>
            <a:ahLst/>
            <a:cxnLst/>
            <a:rect r="r" b="b" t="t" l="l"/>
            <a:pathLst>
              <a:path h="2256463" w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422791" cy="2422791"/>
          </a:xfrm>
          <a:custGeom>
            <a:avLst/>
            <a:gdLst/>
            <a:ahLst/>
            <a:cxnLst/>
            <a:rect r="r" b="b" t="t" l="l"/>
            <a:pathLst>
              <a:path h="2422791" w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33887" y="5519943"/>
            <a:ext cx="2757960" cy="2757960"/>
          </a:xfrm>
          <a:custGeom>
            <a:avLst/>
            <a:gdLst/>
            <a:ahLst/>
            <a:cxnLst/>
            <a:rect r="r" b="b" t="t" l="l"/>
            <a:pathLst>
              <a:path h="2757960" w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113973" y="158820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3723841" y="1235177"/>
            <a:ext cx="11018869" cy="1030616"/>
            <a:chOff x="0" y="0"/>
            <a:chExt cx="14691826" cy="137415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4691826" cy="1374154"/>
              <a:chOff x="0" y="0"/>
              <a:chExt cx="3315950" cy="31014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315950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3315950">
                    <a:moveTo>
                      <a:pt x="0" y="0"/>
                    </a:moveTo>
                    <a:lnTo>
                      <a:pt x="3315950" y="0"/>
                    </a:lnTo>
                    <a:lnTo>
                      <a:pt x="3315950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3315950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7221" y="98148"/>
              <a:ext cx="13797384" cy="104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EBAAD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FUTURE WORK 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304909" y="2846526"/>
            <a:ext cx="12190519" cy="275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2952" indent="-416476" lvl="1">
              <a:lnSpc>
                <a:spcPts val="5401"/>
              </a:lnSpc>
              <a:buFont typeface="Arial"/>
              <a:buChar char="•"/>
            </a:pP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More extensive dataset c</a:t>
            </a: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ollection integration</a:t>
            </a:r>
          </a:p>
          <a:p>
            <a:pPr algn="l" marL="832952" indent="-416476" lvl="1">
              <a:lnSpc>
                <a:spcPts val="5401"/>
              </a:lnSpc>
              <a:spcBef>
                <a:spcPct val="0"/>
              </a:spcBef>
              <a:buFont typeface="Arial"/>
              <a:buChar char="•"/>
            </a:pP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</a:t>
            </a: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oring different agent roles/specializations</a:t>
            </a:r>
          </a:p>
          <a:p>
            <a:pPr algn="l">
              <a:lnSpc>
                <a:spcPts val="5401"/>
              </a:lnSpc>
              <a:spcBef>
                <a:spcPct val="0"/>
              </a:spcBef>
            </a:pPr>
          </a:p>
          <a:p>
            <a:pPr algn="l">
              <a:lnSpc>
                <a:spcPts val="5401"/>
              </a:lnSpc>
              <a:spcBef>
                <a:spcPct val="0"/>
              </a:spcBef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3723841" y="5143500"/>
            <a:ext cx="11018869" cy="1030616"/>
            <a:chOff x="0" y="0"/>
            <a:chExt cx="14691826" cy="137415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4691826" cy="1374154"/>
              <a:chOff x="0" y="0"/>
              <a:chExt cx="3315950" cy="31014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315950" cy="310147"/>
              </a:xfrm>
              <a:custGeom>
                <a:avLst/>
                <a:gdLst/>
                <a:ahLst/>
                <a:cxnLst/>
                <a:rect r="r" b="b" t="t" l="l"/>
                <a:pathLst>
                  <a:path h="310147" w="3315950">
                    <a:moveTo>
                      <a:pt x="0" y="0"/>
                    </a:moveTo>
                    <a:lnTo>
                      <a:pt x="3315950" y="0"/>
                    </a:lnTo>
                    <a:lnTo>
                      <a:pt x="3315950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3315950" cy="367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47221" y="98148"/>
              <a:ext cx="13797384" cy="104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EBAAD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608211" y="6784622"/>
            <a:ext cx="12190519" cy="2073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1"/>
              </a:lnSpc>
              <a:spcBef>
                <a:spcPct val="0"/>
              </a:spcBef>
            </a:pPr>
            <a:r>
              <a:rPr lang="en-US" sz="38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working chatbot was built, tested &amp; validated on both GPT-4o &amp; Gemma3. The evaluation confirms accuracy &amp; relevance.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7684" y="5496684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12305" y="-193005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64260" y="6763260"/>
            <a:ext cx="3523740" cy="3523740"/>
          </a:xfrm>
          <a:custGeom>
            <a:avLst/>
            <a:gdLst/>
            <a:ahLst/>
            <a:cxnLst/>
            <a:rect r="r" b="b" t="t" l="l"/>
            <a:pathLst>
              <a:path h="3523740" w="3523740">
                <a:moveTo>
                  <a:pt x="0" y="0"/>
                </a:moveTo>
                <a:lnTo>
                  <a:pt x="3523740" y="0"/>
                </a:lnTo>
                <a:lnTo>
                  <a:pt x="3523740" y="3523740"/>
                </a:lnTo>
                <a:lnTo>
                  <a:pt x="0" y="3523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5796340" y="228657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0" y="0"/>
            <a:ext cx="3671722" cy="3671722"/>
          </a:xfrm>
          <a:custGeom>
            <a:avLst/>
            <a:gdLst/>
            <a:ahLst/>
            <a:cxnLst/>
            <a:rect r="r" b="b" t="t" l="l"/>
            <a:pathLst>
              <a:path h="3671722" w="3671722">
                <a:moveTo>
                  <a:pt x="0" y="0"/>
                </a:moveTo>
                <a:lnTo>
                  <a:pt x="3671722" y="0"/>
                </a:lnTo>
                <a:lnTo>
                  <a:pt x="3671722" y="3671722"/>
                </a:lnTo>
                <a:lnTo>
                  <a:pt x="0" y="3671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700000">
            <a:off x="-2491660" y="293019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43100" y="-1328448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44900" y="895855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4599" y="198502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76646" y="806908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7929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0" y="0"/>
                </a:moveTo>
                <a:lnTo>
                  <a:pt x="3010803" y="0"/>
                </a:lnTo>
                <a:lnTo>
                  <a:pt x="3010803" y="930612"/>
                </a:lnTo>
                <a:lnTo>
                  <a:pt x="0" y="930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4248497" y="5633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3010803" y="0"/>
                </a:moveTo>
                <a:lnTo>
                  <a:pt x="0" y="0"/>
                </a:lnTo>
                <a:lnTo>
                  <a:pt x="0" y="930612"/>
                </a:lnTo>
                <a:lnTo>
                  <a:pt x="3010803" y="930612"/>
                </a:lnTo>
                <a:lnTo>
                  <a:pt x="3010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73985" y="3514819"/>
            <a:ext cx="15540031" cy="3812596"/>
            <a:chOff x="0" y="0"/>
            <a:chExt cx="20720041" cy="508346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42900"/>
              <a:ext cx="20720041" cy="3706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32"/>
                </a:lnSpc>
              </a:pPr>
              <a:r>
                <a:rPr lang="en-US" b="true" sz="16579" i="true" spc="-1160">
                  <a:solidFill>
                    <a:srgbClr val="EB9ACB"/>
                  </a:solidFill>
                  <a:latin typeface="Heading Now 61-68 Bold Italics"/>
                  <a:ea typeface="Heading Now 61-68 Bold Italics"/>
                  <a:cs typeface="Heading Now 61-68 Bold Italics"/>
                  <a:sym typeface="Heading Now 61-68 Bold Italics"/>
                </a:rPr>
                <a:t>THANK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123323"/>
              <a:ext cx="19888281" cy="296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3"/>
                </a:lnSpc>
              </a:pPr>
              <a:r>
                <a:rPr lang="en-US" b="true" sz="13278" i="true" spc="-929">
                  <a:solidFill>
                    <a:srgbClr val="D395FF"/>
                  </a:solidFill>
                  <a:latin typeface="Heading Now 61-68 Bold Italics"/>
                  <a:ea typeface="Heading Now 61-68 Bold Italics"/>
                  <a:cs typeface="Heading Now 61-68 Bold Italics"/>
                  <a:sym typeface="Heading Now 61-68 Bold Italics"/>
                </a:rPr>
                <a:t>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DAGvb0efoq0</dc:identifier>
  <dcterms:modified xsi:type="dcterms:W3CDTF">2011-08-01T06:04:30Z</dcterms:modified>
  <cp:revision>1</cp:revision>
  <dc:title>499B final</dc:title>
</cp:coreProperties>
</file>