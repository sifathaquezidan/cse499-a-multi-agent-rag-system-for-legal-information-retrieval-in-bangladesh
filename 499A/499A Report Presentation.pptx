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 Bold" charset="1" panose="00000800000000000000"/>
      <p:regular r:id="rId21"/>
    </p:embeddedFont>
    <p:embeddedFont>
      <p:font typeface="Maven Pro" charset="1" panose="00000500000000000000"/>
      <p:regular r:id="rId22"/>
    </p:embeddedFont>
    <p:embeddedFont>
      <p:font typeface="Poppins" charset="1" panose="00000500000000000000"/>
      <p:regular r:id="rId23"/>
    </p:embeddedFont>
    <p:embeddedFont>
      <p:font typeface="TT Bluescreens Bold Italics" charset="1" panose="02000806040000090004"/>
      <p:regular r:id="rId24"/>
    </p:embeddedFont>
    <p:embeddedFont>
      <p:font typeface="Montserrat" charset="1" panose="00000500000000000000"/>
      <p:regular r:id="rId25"/>
    </p:embeddedFont>
    <p:embeddedFont>
      <p:font typeface="Canva Sans Bold" charset="1" panose="020B0803030501040103"/>
      <p:regular r:id="rId26"/>
    </p:embeddedFont>
    <p:embeddedFont>
      <p:font typeface="Heading Now 61-68 Bold Italics" charset="1" panose="000008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https://www.supremecourt.gov.bd/web/indexn.php?page=judgments.php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6.png" Type="http://schemas.openxmlformats.org/officeDocument/2006/relationships/image"/><Relationship Id="rId13" Target="../media/image2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17097" y="6905253"/>
            <a:ext cx="4146846" cy="4146846"/>
          </a:xfrm>
          <a:custGeom>
            <a:avLst/>
            <a:gdLst/>
            <a:ahLst/>
            <a:cxnLst/>
            <a:rect r="r" b="b" t="t" l="l"/>
            <a:pathLst>
              <a:path h="4146846" w="4146846">
                <a:moveTo>
                  <a:pt x="0" y="0"/>
                </a:moveTo>
                <a:lnTo>
                  <a:pt x="4146846" y="0"/>
                </a:lnTo>
                <a:lnTo>
                  <a:pt x="4146846" y="4146846"/>
                </a:lnTo>
                <a:lnTo>
                  <a:pt x="0" y="4146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777330" y="-997654"/>
            <a:ext cx="4203660" cy="4203660"/>
          </a:xfrm>
          <a:custGeom>
            <a:avLst/>
            <a:gdLst/>
            <a:ahLst/>
            <a:cxnLst/>
            <a:rect r="r" b="b" t="t" l="l"/>
            <a:pathLst>
              <a:path h="4203660" w="4203660">
                <a:moveTo>
                  <a:pt x="0" y="0"/>
                </a:moveTo>
                <a:lnTo>
                  <a:pt x="4203660" y="0"/>
                </a:lnTo>
                <a:lnTo>
                  <a:pt x="4203660" y="4203659"/>
                </a:lnTo>
                <a:lnTo>
                  <a:pt x="0" y="4203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700000">
            <a:off x="16572282" y="228657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1" y="0"/>
                </a:lnTo>
                <a:lnTo>
                  <a:pt x="4983321" y="4983320"/>
                </a:lnTo>
                <a:lnTo>
                  <a:pt x="0" y="498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41923" y="-607464"/>
            <a:ext cx="3575078" cy="3575078"/>
          </a:xfrm>
          <a:custGeom>
            <a:avLst/>
            <a:gdLst/>
            <a:ahLst/>
            <a:cxnLst/>
            <a:rect r="r" b="b" t="t" l="l"/>
            <a:pathLst>
              <a:path h="3575078" w="3575078">
                <a:moveTo>
                  <a:pt x="0" y="0"/>
                </a:moveTo>
                <a:lnTo>
                  <a:pt x="3575077" y="0"/>
                </a:lnTo>
                <a:lnTo>
                  <a:pt x="3575077" y="3575078"/>
                </a:lnTo>
                <a:lnTo>
                  <a:pt x="0" y="3575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2700000">
            <a:off x="-3268990" y="293019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4983320" y="4983320"/>
                </a:moveTo>
                <a:lnTo>
                  <a:pt x="0" y="4983320"/>
                </a:lnTo>
                <a:lnTo>
                  <a:pt x="0" y="0"/>
                </a:lnTo>
                <a:lnTo>
                  <a:pt x="4983320" y="0"/>
                </a:lnTo>
                <a:lnTo>
                  <a:pt x="4983320" y="49833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657501" y="-1718612"/>
            <a:ext cx="2686201" cy="2656897"/>
          </a:xfrm>
          <a:custGeom>
            <a:avLst/>
            <a:gdLst/>
            <a:ahLst/>
            <a:cxnLst/>
            <a:rect r="r" b="b" t="t" l="l"/>
            <a:pathLst>
              <a:path h="2656897" w="2686201">
                <a:moveTo>
                  <a:pt x="0" y="0"/>
                </a:moveTo>
                <a:lnTo>
                  <a:pt x="2686201" y="0"/>
                </a:lnTo>
                <a:lnTo>
                  <a:pt x="2686201" y="2656897"/>
                </a:lnTo>
                <a:lnTo>
                  <a:pt x="0" y="2656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228479" y="9239037"/>
            <a:ext cx="2119043" cy="2095926"/>
          </a:xfrm>
          <a:custGeom>
            <a:avLst/>
            <a:gdLst/>
            <a:ahLst/>
            <a:cxnLst/>
            <a:rect r="r" b="b" t="t" l="l"/>
            <a:pathLst>
              <a:path h="2095926" w="2119043">
                <a:moveTo>
                  <a:pt x="0" y="0"/>
                </a:moveTo>
                <a:lnTo>
                  <a:pt x="2119042" y="0"/>
                </a:lnTo>
                <a:lnTo>
                  <a:pt x="2119042" y="2095926"/>
                </a:lnTo>
                <a:lnTo>
                  <a:pt x="0" y="20959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4084" y="1314448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0" y="0"/>
                </a:lnTo>
                <a:lnTo>
                  <a:pt x="1911810" y="232893"/>
                </a:lnTo>
                <a:lnTo>
                  <a:pt x="0" y="2328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061055" y="8576182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0" y="0"/>
                </a:lnTo>
                <a:lnTo>
                  <a:pt x="1911810" y="232893"/>
                </a:lnTo>
                <a:lnTo>
                  <a:pt x="0" y="2328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683024" y="284053"/>
            <a:ext cx="2921953" cy="2921953"/>
          </a:xfrm>
          <a:custGeom>
            <a:avLst/>
            <a:gdLst/>
            <a:ahLst/>
            <a:cxnLst/>
            <a:rect r="r" b="b" t="t" l="l"/>
            <a:pathLst>
              <a:path h="2921953" w="2921953">
                <a:moveTo>
                  <a:pt x="0" y="0"/>
                </a:moveTo>
                <a:lnTo>
                  <a:pt x="2921952" y="0"/>
                </a:lnTo>
                <a:lnTo>
                  <a:pt x="2921952" y="2921952"/>
                </a:lnTo>
                <a:lnTo>
                  <a:pt x="0" y="29219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426330" y="3710363"/>
            <a:ext cx="12497237" cy="198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0"/>
              </a:lnSpc>
              <a:spcBef>
                <a:spcPct val="0"/>
              </a:spcBef>
            </a:pPr>
            <a:r>
              <a:rPr lang="en-US" b="true" sz="556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MULTI-AGENT RAG CHATBOT FOR BANGLADESHI LEGAL INFORMATION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790911" y="6425273"/>
            <a:ext cx="8706178" cy="2406971"/>
            <a:chOff x="0" y="0"/>
            <a:chExt cx="11608237" cy="3209295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38100"/>
              <a:ext cx="11572662" cy="534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5"/>
                </a:lnSpc>
              </a:pPr>
              <a:r>
                <a:rPr lang="en-US" sz="2825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Presented by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929075"/>
              <a:ext cx="11572662" cy="534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5"/>
                </a:lnSpc>
              </a:pPr>
              <a:r>
                <a:rPr lang="en-US" sz="2825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ABDULLAH AL RAIYAN - 2212712042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820051"/>
              <a:ext cx="11572662" cy="498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4"/>
                </a:lnSpc>
              </a:pPr>
              <a:r>
                <a:rPr lang="en-US" sz="2644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MD. SIFAT HAQUE ZIDAN - 2212768042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575" y="2674877"/>
              <a:ext cx="11572662" cy="534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5"/>
                </a:lnSpc>
              </a:pPr>
              <a:r>
                <a:rPr lang="en-US" sz="2825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RAHIL MEHNAZ - 2121843042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061303" y="9134262"/>
            <a:ext cx="6195566" cy="634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3"/>
              </a:lnSpc>
              <a:spcBef>
                <a:spcPct val="0"/>
              </a:spcBef>
            </a:pPr>
            <a:r>
              <a:rPr lang="en-US" sz="35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Date of presentation: 15.4.25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063654" y="417351"/>
            <a:ext cx="3473014" cy="2961533"/>
          </a:xfrm>
          <a:custGeom>
            <a:avLst/>
            <a:gdLst/>
            <a:ahLst/>
            <a:cxnLst/>
            <a:rect r="r" b="b" t="t" l="l"/>
            <a:pathLst>
              <a:path h="2961533" w="3473014">
                <a:moveTo>
                  <a:pt x="0" y="0"/>
                </a:moveTo>
                <a:lnTo>
                  <a:pt x="3473014" y="0"/>
                </a:lnTo>
                <a:lnTo>
                  <a:pt x="3473014" y="2961533"/>
                </a:lnTo>
                <a:lnTo>
                  <a:pt x="0" y="29615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37083" y="6945431"/>
            <a:ext cx="3172777" cy="2823772"/>
          </a:xfrm>
          <a:custGeom>
            <a:avLst/>
            <a:gdLst/>
            <a:ahLst/>
            <a:cxnLst/>
            <a:rect r="r" b="b" t="t" l="l"/>
            <a:pathLst>
              <a:path h="2823772" w="3172777">
                <a:moveTo>
                  <a:pt x="0" y="0"/>
                </a:moveTo>
                <a:lnTo>
                  <a:pt x="3172778" y="0"/>
                </a:lnTo>
                <a:lnTo>
                  <a:pt x="3172778" y="2823772"/>
                </a:lnTo>
                <a:lnTo>
                  <a:pt x="0" y="282377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556369" y="350105"/>
            <a:ext cx="2459933" cy="3096025"/>
          </a:xfrm>
          <a:custGeom>
            <a:avLst/>
            <a:gdLst/>
            <a:ahLst/>
            <a:cxnLst/>
            <a:rect r="r" b="b" t="t" l="l"/>
            <a:pathLst>
              <a:path h="3096025" w="2459933">
                <a:moveTo>
                  <a:pt x="0" y="0"/>
                </a:moveTo>
                <a:lnTo>
                  <a:pt x="2459933" y="0"/>
                </a:lnTo>
                <a:lnTo>
                  <a:pt x="2459933" y="3096025"/>
                </a:lnTo>
                <a:lnTo>
                  <a:pt x="0" y="30960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279520" y="6425273"/>
            <a:ext cx="3288094" cy="3288094"/>
          </a:xfrm>
          <a:custGeom>
            <a:avLst/>
            <a:gdLst/>
            <a:ahLst/>
            <a:cxnLst/>
            <a:rect r="r" b="b" t="t" l="l"/>
            <a:pathLst>
              <a:path h="3288094" w="3288094">
                <a:moveTo>
                  <a:pt x="0" y="0"/>
                </a:moveTo>
                <a:lnTo>
                  <a:pt x="3288094" y="0"/>
                </a:lnTo>
                <a:lnTo>
                  <a:pt x="3288094" y="3288094"/>
                </a:lnTo>
                <a:lnTo>
                  <a:pt x="0" y="32880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22293" y="7720315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407596" y="-429062"/>
            <a:ext cx="2961054" cy="2961054"/>
          </a:xfrm>
          <a:custGeom>
            <a:avLst/>
            <a:gdLst/>
            <a:ahLst/>
            <a:cxnLst/>
            <a:rect r="r" b="b" t="t" l="l"/>
            <a:pathLst>
              <a:path h="2961054" w="2961054">
                <a:moveTo>
                  <a:pt x="0" y="0"/>
                </a:moveTo>
                <a:lnTo>
                  <a:pt x="2961054" y="0"/>
                </a:lnTo>
                <a:lnTo>
                  <a:pt x="2961054" y="2961053"/>
                </a:lnTo>
                <a:lnTo>
                  <a:pt x="0" y="2961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14936" y="8033038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4"/>
                </a:lnTo>
                <a:lnTo>
                  <a:pt x="0" y="24505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376120" cy="2376120"/>
          </a:xfrm>
          <a:custGeom>
            <a:avLst/>
            <a:gdLst/>
            <a:ahLst/>
            <a:cxnLst/>
            <a:rect r="r" b="b" t="t" l="l"/>
            <a:pathLst>
              <a:path h="2376120" w="2376120">
                <a:moveTo>
                  <a:pt x="0" y="0"/>
                </a:moveTo>
                <a:lnTo>
                  <a:pt x="2376120" y="0"/>
                </a:lnTo>
                <a:lnTo>
                  <a:pt x="2376120" y="2376120"/>
                </a:lnTo>
                <a:lnTo>
                  <a:pt x="0" y="2376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40404" y="5432815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342844" y="18467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697336" y="2052541"/>
            <a:ext cx="10082192" cy="819320"/>
            <a:chOff x="0" y="0"/>
            <a:chExt cx="13442923" cy="1092427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3442923" cy="1092427"/>
              <a:chOff x="0" y="0"/>
              <a:chExt cx="3370336" cy="27388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370336" cy="273887"/>
              </a:xfrm>
              <a:custGeom>
                <a:avLst/>
                <a:gdLst/>
                <a:ahLst/>
                <a:cxnLst/>
                <a:rect r="r" b="b" t="t" l="l"/>
                <a:pathLst>
                  <a:path h="273887" w="3370336">
                    <a:moveTo>
                      <a:pt x="0" y="0"/>
                    </a:moveTo>
                    <a:lnTo>
                      <a:pt x="3370336" y="0"/>
                    </a:lnTo>
                    <a:lnTo>
                      <a:pt x="3370336" y="273887"/>
                    </a:lnTo>
                    <a:lnTo>
                      <a:pt x="0" y="273887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3370336" cy="3215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3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09204" y="113151"/>
              <a:ext cx="12624515" cy="7708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81"/>
                </a:lnSpc>
                <a:spcBef>
                  <a:spcPct val="0"/>
                </a:spcBef>
              </a:pPr>
              <a:r>
                <a:rPr lang="en-US" b="true" sz="3343">
                  <a:solidFill>
                    <a:srgbClr val="EB9AC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PROJECT OVERVIEW &amp; GOAL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1731073">
            <a:off x="843887" y="1874311"/>
            <a:ext cx="3162263" cy="1995101"/>
          </a:xfrm>
          <a:custGeom>
            <a:avLst/>
            <a:gdLst/>
            <a:ahLst/>
            <a:cxnLst/>
            <a:rect r="r" b="b" t="t" l="l"/>
            <a:pathLst>
              <a:path h="1995101" w="3162263">
                <a:moveTo>
                  <a:pt x="0" y="0"/>
                </a:moveTo>
                <a:lnTo>
                  <a:pt x="3162263" y="0"/>
                </a:lnTo>
                <a:lnTo>
                  <a:pt x="3162263" y="1995101"/>
                </a:lnTo>
                <a:lnTo>
                  <a:pt x="0" y="19951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684529" y="3284192"/>
            <a:ext cx="12918942" cy="5974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23692" indent="-411846" lvl="1">
              <a:lnSpc>
                <a:spcPts val="5341"/>
              </a:lnSpc>
              <a:spcBef>
                <a:spcPct val="0"/>
              </a:spcBef>
              <a:buFont typeface="Arial"/>
              <a:buChar char="•"/>
            </a:pPr>
            <a:r>
              <a:rPr lang="en-US" sz="38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38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oal: To research and develop a Multi-Agent Retrieval-Augmented Generation (RAG) chatbot.</a:t>
            </a:r>
          </a:p>
          <a:p>
            <a:pPr algn="ctr" marL="823692" indent="-411846" lvl="1">
              <a:lnSpc>
                <a:spcPts val="5341"/>
              </a:lnSpc>
              <a:spcBef>
                <a:spcPct val="0"/>
              </a:spcBef>
              <a:buFont typeface="Arial"/>
              <a:buChar char="•"/>
            </a:pPr>
            <a:r>
              <a:rPr lang="en-US" sz="38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Focus Domain: Bangladeshi Legal Data.</a:t>
            </a:r>
          </a:p>
          <a:p>
            <a:pPr algn="ctr" marL="823692" indent="-411846" lvl="1">
              <a:lnSpc>
                <a:spcPts val="5341"/>
              </a:lnSpc>
              <a:spcBef>
                <a:spcPct val="0"/>
              </a:spcBef>
              <a:buFont typeface="Arial"/>
              <a:buChar char="•"/>
            </a:pPr>
            <a:r>
              <a:rPr lang="en-US" sz="38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Objective: Create an intelligent system capable of answering general-purpose legal questions accurately by leveraging both a curated legal database and external knowledge.</a:t>
            </a:r>
          </a:p>
          <a:p>
            <a:pPr algn="ctr">
              <a:lnSpc>
                <a:spcPts val="5341"/>
              </a:lnSpc>
              <a:spcBef>
                <a:spcPct val="0"/>
              </a:spcBef>
            </a:pPr>
            <a:r>
              <a:rPr lang="en-US" sz="38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Approach: Iterative development, exploring various RAG techniques and architectures.</a:t>
            </a:r>
          </a:p>
        </p:txBody>
      </p:sp>
    </p:spTree>
  </p:cSld>
  <p:clrMapOvr>
    <a:masterClrMapping/>
  </p:clrMapOvr>
  <p:transition spd="fast">
    <p:cover dir="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75973" y="8377649"/>
            <a:ext cx="2112584" cy="2112584"/>
          </a:xfrm>
          <a:custGeom>
            <a:avLst/>
            <a:gdLst/>
            <a:ahLst/>
            <a:cxnLst/>
            <a:rect r="r" b="b" t="t" l="l"/>
            <a:pathLst>
              <a:path h="2112584" w="2112584">
                <a:moveTo>
                  <a:pt x="0" y="0"/>
                </a:moveTo>
                <a:lnTo>
                  <a:pt x="2112584" y="0"/>
                </a:lnTo>
                <a:lnTo>
                  <a:pt x="2112584" y="2112584"/>
                </a:lnTo>
                <a:lnTo>
                  <a:pt x="0" y="2112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557618" cy="2557618"/>
          </a:xfrm>
          <a:custGeom>
            <a:avLst/>
            <a:gdLst/>
            <a:ahLst/>
            <a:cxnLst/>
            <a:rect r="r" b="b" t="t" l="l"/>
            <a:pathLst>
              <a:path h="2557618" w="2557618">
                <a:moveTo>
                  <a:pt x="0" y="0"/>
                </a:moveTo>
                <a:lnTo>
                  <a:pt x="2557618" y="0"/>
                </a:lnTo>
                <a:lnTo>
                  <a:pt x="2557618" y="2557618"/>
                </a:lnTo>
                <a:lnTo>
                  <a:pt x="0" y="255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57558" y="8759234"/>
            <a:ext cx="1611866" cy="1611866"/>
          </a:xfrm>
          <a:custGeom>
            <a:avLst/>
            <a:gdLst/>
            <a:ahLst/>
            <a:cxnLst/>
            <a:rect r="r" b="b" t="t" l="l"/>
            <a:pathLst>
              <a:path h="1611866" w="1611866">
                <a:moveTo>
                  <a:pt x="0" y="0"/>
                </a:moveTo>
                <a:lnTo>
                  <a:pt x="1611866" y="0"/>
                </a:lnTo>
                <a:lnTo>
                  <a:pt x="1611866" y="1611866"/>
                </a:lnTo>
                <a:lnTo>
                  <a:pt x="0" y="1611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059133" cy="2059133"/>
          </a:xfrm>
          <a:custGeom>
            <a:avLst/>
            <a:gdLst/>
            <a:ahLst/>
            <a:cxnLst/>
            <a:rect r="r" b="b" t="t" l="l"/>
            <a:pathLst>
              <a:path h="2059133" w="2059133">
                <a:moveTo>
                  <a:pt x="0" y="0"/>
                </a:moveTo>
                <a:lnTo>
                  <a:pt x="2059133" y="0"/>
                </a:lnTo>
                <a:lnTo>
                  <a:pt x="2059133" y="2059133"/>
                </a:lnTo>
                <a:lnTo>
                  <a:pt x="0" y="2059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342844" y="17180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3311345">
            <a:off x="3660340" y="7482027"/>
            <a:ext cx="1017056" cy="3040114"/>
          </a:xfrm>
          <a:custGeom>
            <a:avLst/>
            <a:gdLst/>
            <a:ahLst/>
            <a:cxnLst/>
            <a:rect r="r" b="b" t="t" l="l"/>
            <a:pathLst>
              <a:path h="3040114" w="1017056">
                <a:moveTo>
                  <a:pt x="0" y="0"/>
                </a:moveTo>
                <a:lnTo>
                  <a:pt x="1017056" y="0"/>
                </a:lnTo>
                <a:lnTo>
                  <a:pt x="1017056" y="3040114"/>
                </a:lnTo>
                <a:lnTo>
                  <a:pt x="0" y="30401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223052" y="1812911"/>
            <a:ext cx="6714577" cy="7105372"/>
          </a:xfrm>
          <a:custGeom>
            <a:avLst/>
            <a:gdLst/>
            <a:ahLst/>
            <a:cxnLst/>
            <a:rect r="r" b="b" t="t" l="l"/>
            <a:pathLst>
              <a:path h="7105372" w="6714577">
                <a:moveTo>
                  <a:pt x="0" y="0"/>
                </a:moveTo>
                <a:lnTo>
                  <a:pt x="6714577" y="0"/>
                </a:lnTo>
                <a:lnTo>
                  <a:pt x="6714577" y="7105372"/>
                </a:lnTo>
                <a:lnTo>
                  <a:pt x="0" y="710537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38447" y="3954804"/>
            <a:ext cx="10137506" cy="4997444"/>
          </a:xfrm>
          <a:custGeom>
            <a:avLst/>
            <a:gdLst/>
            <a:ahLst/>
            <a:cxnLst/>
            <a:rect r="r" b="b" t="t" l="l"/>
            <a:pathLst>
              <a:path h="4997444" w="10137506">
                <a:moveTo>
                  <a:pt x="0" y="0"/>
                </a:moveTo>
                <a:lnTo>
                  <a:pt x="10137506" y="0"/>
                </a:lnTo>
                <a:lnTo>
                  <a:pt x="10137506" y="4997444"/>
                </a:lnTo>
                <a:lnTo>
                  <a:pt x="0" y="499744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5061" t="0" r="-8765" b="-7025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304165" y="546165"/>
            <a:ext cx="7679670" cy="105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b="true" sz="9200" i="true">
                <a:solidFill>
                  <a:srgbClr val="EF79C7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WEEK 1: Traditional RAG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41242" y="9235709"/>
            <a:ext cx="7428861" cy="391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  <a:spcBef>
                <a:spcPct val="0"/>
              </a:spcBef>
            </a:pPr>
            <a:r>
              <a:rPr lang="en-US" b="true" sz="2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https://github.com/itsmesneha/Legal-CHATBOT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9157" y="1713356"/>
            <a:ext cx="10636796" cy="2101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3"/>
              </a:lnSpc>
              <a:spcBef>
                <a:spcPct val="0"/>
              </a:spcBef>
            </a:pPr>
            <a:r>
              <a:rPr lang="en-US" b="true" sz="2402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Objective: Gain hands-on experience with baseline RAG implementation and understand its core components (vector DB, retrieval, generation).</a:t>
            </a:r>
          </a:p>
          <a:p>
            <a:pPr algn="ctr">
              <a:lnSpc>
                <a:spcPts val="3363"/>
              </a:lnSpc>
              <a:spcBef>
                <a:spcPct val="0"/>
              </a:spcBef>
            </a:pPr>
            <a:r>
              <a:rPr lang="en-US" b="true" sz="2402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Outcome: Established a foundational understanding of standard RAG workflows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75973" y="8377649"/>
            <a:ext cx="2112584" cy="2112584"/>
          </a:xfrm>
          <a:custGeom>
            <a:avLst/>
            <a:gdLst/>
            <a:ahLst/>
            <a:cxnLst/>
            <a:rect r="r" b="b" t="t" l="l"/>
            <a:pathLst>
              <a:path h="2112584" w="2112584">
                <a:moveTo>
                  <a:pt x="0" y="0"/>
                </a:moveTo>
                <a:lnTo>
                  <a:pt x="2112584" y="0"/>
                </a:lnTo>
                <a:lnTo>
                  <a:pt x="2112584" y="2112584"/>
                </a:lnTo>
                <a:lnTo>
                  <a:pt x="0" y="2112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557618" cy="2557618"/>
          </a:xfrm>
          <a:custGeom>
            <a:avLst/>
            <a:gdLst/>
            <a:ahLst/>
            <a:cxnLst/>
            <a:rect r="r" b="b" t="t" l="l"/>
            <a:pathLst>
              <a:path h="2557618" w="2557618">
                <a:moveTo>
                  <a:pt x="0" y="0"/>
                </a:moveTo>
                <a:lnTo>
                  <a:pt x="2557618" y="0"/>
                </a:lnTo>
                <a:lnTo>
                  <a:pt x="2557618" y="2557618"/>
                </a:lnTo>
                <a:lnTo>
                  <a:pt x="0" y="255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39387" y="8541062"/>
            <a:ext cx="1830038" cy="1830038"/>
          </a:xfrm>
          <a:custGeom>
            <a:avLst/>
            <a:gdLst/>
            <a:ahLst/>
            <a:cxnLst/>
            <a:rect r="r" b="b" t="t" l="l"/>
            <a:pathLst>
              <a:path h="1830038" w="1830038">
                <a:moveTo>
                  <a:pt x="0" y="0"/>
                </a:moveTo>
                <a:lnTo>
                  <a:pt x="1830037" y="0"/>
                </a:lnTo>
                <a:lnTo>
                  <a:pt x="1830037" y="1830038"/>
                </a:lnTo>
                <a:lnTo>
                  <a:pt x="0" y="18300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059133" cy="2059133"/>
          </a:xfrm>
          <a:custGeom>
            <a:avLst/>
            <a:gdLst/>
            <a:ahLst/>
            <a:cxnLst/>
            <a:rect r="r" b="b" t="t" l="l"/>
            <a:pathLst>
              <a:path h="2059133" w="2059133">
                <a:moveTo>
                  <a:pt x="0" y="0"/>
                </a:moveTo>
                <a:lnTo>
                  <a:pt x="2059133" y="0"/>
                </a:lnTo>
                <a:lnTo>
                  <a:pt x="2059133" y="2059133"/>
                </a:lnTo>
                <a:lnTo>
                  <a:pt x="0" y="2059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342844" y="17180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666376" y="799890"/>
            <a:ext cx="7804334" cy="105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b="true" sz="9200" i="true">
                <a:solidFill>
                  <a:srgbClr val="EF79C7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WEEK 2: Custom Dataset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77312" y="5925056"/>
            <a:ext cx="13533376" cy="78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  <a:spcBef>
                <a:spcPct val="0"/>
              </a:spcBef>
            </a:pPr>
            <a:r>
              <a:rPr lang="en-US" b="true" sz="2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Appellate division Case &amp; Judgement</a:t>
            </a:r>
            <a:r>
              <a:rPr lang="en-US" sz="2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202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2" tooltip="https://www.supremecourt.gov.bd/web/indexn.php?page=judgments.php"/>
              </a:rPr>
              <a:t>https://www.supremecourt.gov.bd/web/indexn.php?page=judgments.php&amp;menu=00&amp;div_id=1&amp;lang=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18755" y="4915565"/>
            <a:ext cx="12250489" cy="398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b="true" sz="2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Official Website for all Bangladeshi Laws</a:t>
            </a: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http://bdlaws.minlaw.gov.bd/act-20.html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21792" y="2087233"/>
            <a:ext cx="12293501" cy="2335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Experimented with different embedding models.</a:t>
            </a:r>
          </a:p>
          <a:p>
            <a:pPr algn="ctr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Tested alternative Large Language Models (LLMs).</a:t>
            </a:r>
          </a:p>
          <a:p>
            <a:pPr algn="ctr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Integrated our own</a:t>
            </a:r>
            <a:r>
              <a:rPr lang="en-US" b="true" sz="3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custom Bangladeshi legal dataset</a:t>
            </a: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ctr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Created a domain-specific vector database.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62934" y="7318087"/>
            <a:ext cx="12250489" cy="398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b="true" sz="2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BD Law Articles:</a:t>
            </a: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https://www.bdlawpost.com/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6994" y="8003289"/>
            <a:ext cx="16230600" cy="79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b="true" sz="2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High Court Judgment &amp; Orders</a:t>
            </a: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https://www.supremecourt.gov.bd/web/indexn.php?page=judgments.php&amp;menu=00&amp;div_id=2&amp;lang=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20479" y="7607854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176984" cy="2176984"/>
          </a:xfrm>
          <a:custGeom>
            <a:avLst/>
            <a:gdLst/>
            <a:ahLst/>
            <a:cxnLst/>
            <a:rect r="r" b="b" t="t" l="l"/>
            <a:pathLst>
              <a:path h="2176984" w="2176984">
                <a:moveTo>
                  <a:pt x="0" y="0"/>
                </a:moveTo>
                <a:lnTo>
                  <a:pt x="2176984" y="0"/>
                </a:lnTo>
                <a:lnTo>
                  <a:pt x="2176984" y="2176984"/>
                </a:lnTo>
                <a:lnTo>
                  <a:pt x="0" y="217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33203" y="8039709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4"/>
                </a:lnTo>
                <a:lnTo>
                  <a:pt x="0" y="24505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1744392" cy="1744392"/>
          </a:xfrm>
          <a:custGeom>
            <a:avLst/>
            <a:gdLst/>
            <a:ahLst/>
            <a:cxnLst/>
            <a:rect r="r" b="b" t="t" l="l"/>
            <a:pathLst>
              <a:path h="1744392" w="1744392">
                <a:moveTo>
                  <a:pt x="0" y="0"/>
                </a:moveTo>
                <a:lnTo>
                  <a:pt x="1744392" y="0"/>
                </a:lnTo>
                <a:lnTo>
                  <a:pt x="1744392" y="1744392"/>
                </a:lnTo>
                <a:lnTo>
                  <a:pt x="0" y="1744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342844" y="17180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088682" y="671191"/>
            <a:ext cx="11714679" cy="105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b="true" sz="9200" i="true">
                <a:solidFill>
                  <a:srgbClr val="EF79C7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WEEK 3: LangChain in our Agentic RAG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10196" y="2144749"/>
            <a:ext cx="17067609" cy="6444930"/>
          </a:xfrm>
          <a:custGeom>
            <a:avLst/>
            <a:gdLst/>
            <a:ahLst/>
            <a:cxnLst/>
            <a:rect r="r" b="b" t="t" l="l"/>
            <a:pathLst>
              <a:path h="6444930" w="17067609">
                <a:moveTo>
                  <a:pt x="0" y="0"/>
                </a:moveTo>
                <a:lnTo>
                  <a:pt x="17067608" y="0"/>
                </a:lnTo>
                <a:lnTo>
                  <a:pt x="17067608" y="6444931"/>
                </a:lnTo>
                <a:lnTo>
                  <a:pt x="0" y="644493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-21487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90379" y="8898056"/>
            <a:ext cx="16294756" cy="75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2"/>
              </a:lnSpc>
            </a:pPr>
            <a:r>
              <a:rPr lang="en-US" sz="264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COLAB LINK : HTTPS://COLAB.RESEARCH.GOOGLE.COM/DRIVE/13O_GH6Q4V8Z72FQX9YS_QFWOPSH1EWE6#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05856" y="8607532"/>
            <a:ext cx="1882701" cy="1882701"/>
          </a:xfrm>
          <a:custGeom>
            <a:avLst/>
            <a:gdLst/>
            <a:ahLst/>
            <a:cxnLst/>
            <a:rect r="r" b="b" t="t" l="l"/>
            <a:pathLst>
              <a:path h="1882701" w="1882701">
                <a:moveTo>
                  <a:pt x="0" y="0"/>
                </a:moveTo>
                <a:lnTo>
                  <a:pt x="1882701" y="0"/>
                </a:lnTo>
                <a:lnTo>
                  <a:pt x="1882701" y="1882701"/>
                </a:lnTo>
                <a:lnTo>
                  <a:pt x="0" y="1882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268610" cy="2268610"/>
          </a:xfrm>
          <a:custGeom>
            <a:avLst/>
            <a:gdLst/>
            <a:ahLst/>
            <a:cxnLst/>
            <a:rect r="r" b="b" t="t" l="l"/>
            <a:pathLst>
              <a:path h="2268610" w="2268610">
                <a:moveTo>
                  <a:pt x="0" y="0"/>
                </a:moveTo>
                <a:lnTo>
                  <a:pt x="2268610" y="0"/>
                </a:lnTo>
                <a:lnTo>
                  <a:pt x="2268610" y="2268610"/>
                </a:lnTo>
                <a:lnTo>
                  <a:pt x="0" y="2268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21240" y="8822916"/>
            <a:ext cx="1548184" cy="1548184"/>
          </a:xfrm>
          <a:custGeom>
            <a:avLst/>
            <a:gdLst/>
            <a:ahLst/>
            <a:cxnLst/>
            <a:rect r="r" b="b" t="t" l="l"/>
            <a:pathLst>
              <a:path h="1548184" w="1548184">
                <a:moveTo>
                  <a:pt x="0" y="0"/>
                </a:moveTo>
                <a:lnTo>
                  <a:pt x="1548184" y="0"/>
                </a:lnTo>
                <a:lnTo>
                  <a:pt x="1548184" y="1548184"/>
                </a:lnTo>
                <a:lnTo>
                  <a:pt x="0" y="15481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1782995" cy="1782995"/>
          </a:xfrm>
          <a:custGeom>
            <a:avLst/>
            <a:gdLst/>
            <a:ahLst/>
            <a:cxnLst/>
            <a:rect r="r" b="b" t="t" l="l"/>
            <a:pathLst>
              <a:path h="1782995" w="1782995">
                <a:moveTo>
                  <a:pt x="0" y="0"/>
                </a:moveTo>
                <a:lnTo>
                  <a:pt x="1782996" y="0"/>
                </a:lnTo>
                <a:lnTo>
                  <a:pt x="1782996" y="1782995"/>
                </a:lnTo>
                <a:lnTo>
                  <a:pt x="0" y="17829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78576" y="5538453"/>
            <a:ext cx="2720938" cy="2720938"/>
          </a:xfrm>
          <a:custGeom>
            <a:avLst/>
            <a:gdLst/>
            <a:ahLst/>
            <a:cxnLst/>
            <a:rect r="r" b="b" t="t" l="l"/>
            <a:pathLst>
              <a:path h="2720938" w="2720938">
                <a:moveTo>
                  <a:pt x="0" y="0"/>
                </a:moveTo>
                <a:lnTo>
                  <a:pt x="2720938" y="0"/>
                </a:lnTo>
                <a:lnTo>
                  <a:pt x="2720938" y="2720939"/>
                </a:lnTo>
                <a:lnTo>
                  <a:pt x="0" y="2720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947332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36513" y="1360501"/>
            <a:ext cx="9938610" cy="3500964"/>
          </a:xfrm>
          <a:custGeom>
            <a:avLst/>
            <a:gdLst/>
            <a:ahLst/>
            <a:cxnLst/>
            <a:rect r="r" b="b" t="t" l="l"/>
            <a:pathLst>
              <a:path h="3500964" w="9938610">
                <a:moveTo>
                  <a:pt x="0" y="0"/>
                </a:moveTo>
                <a:lnTo>
                  <a:pt x="9938609" y="0"/>
                </a:lnTo>
                <a:lnTo>
                  <a:pt x="9938609" y="3500963"/>
                </a:lnTo>
                <a:lnTo>
                  <a:pt x="0" y="35009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6405" t="-60295" r="-24948" b="-49454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36513" y="5255282"/>
            <a:ext cx="9938610" cy="4546897"/>
          </a:xfrm>
          <a:custGeom>
            <a:avLst/>
            <a:gdLst/>
            <a:ahLst/>
            <a:cxnLst/>
            <a:rect r="r" b="b" t="t" l="l"/>
            <a:pathLst>
              <a:path h="4546897" w="9938610">
                <a:moveTo>
                  <a:pt x="0" y="0"/>
                </a:moveTo>
                <a:lnTo>
                  <a:pt x="9938609" y="0"/>
                </a:lnTo>
                <a:lnTo>
                  <a:pt x="9938609" y="4546897"/>
                </a:lnTo>
                <a:lnTo>
                  <a:pt x="0" y="4546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8736" t="-46269" r="-22176" b="-14688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205734" y="395943"/>
            <a:ext cx="9876532" cy="707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3"/>
              </a:lnSpc>
              <a:spcBef>
                <a:spcPct val="0"/>
              </a:spcBef>
            </a:pPr>
            <a:r>
              <a:rPr lang="en-US" b="true" sz="40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WEEK 4: </a:t>
            </a:r>
            <a:r>
              <a:rPr lang="en-US" b="true" sz="40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Agentic RAG with Web Search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61037" y="2052297"/>
            <a:ext cx="6776592" cy="4399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97074" indent="-248537" lvl="1">
              <a:lnSpc>
                <a:spcPts val="3223"/>
              </a:lnSpc>
              <a:buFont typeface="Arial"/>
              <a:buChar char="•"/>
            </a:pPr>
            <a:r>
              <a:rPr lang="en-US" b="true" sz="2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Implemented the web search tool which only works if the relevant info can’t be found from database.</a:t>
            </a:r>
          </a:p>
          <a:p>
            <a:pPr algn="ctr" marL="497074" indent="-248537" lvl="1">
              <a:lnSpc>
                <a:spcPts val="3223"/>
              </a:lnSpc>
              <a:buFont typeface="Arial"/>
              <a:buChar char="•"/>
            </a:pPr>
            <a:r>
              <a:rPr lang="en-US" b="true" sz="2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Tries to provide link of the source of the bot’s answer.</a:t>
            </a:r>
          </a:p>
          <a:p>
            <a:pPr algn="ctr" marL="497074" indent="-248537" lvl="1">
              <a:lnSpc>
                <a:spcPts val="3223"/>
              </a:lnSpc>
              <a:buFont typeface="Arial"/>
              <a:buChar char="•"/>
            </a:pPr>
            <a:r>
              <a:rPr lang="en-US" b="true" sz="2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Improve robustness and coverage by enabling the chatbot to seek external information when necessary.</a:t>
            </a:r>
          </a:p>
          <a:p>
            <a:pPr algn="ctr" marL="497074" indent="-248537" lvl="1">
              <a:lnSpc>
                <a:spcPts val="3223"/>
              </a:lnSpc>
              <a:buFont typeface="Arial"/>
              <a:buChar char="•"/>
            </a:pPr>
            <a:r>
              <a:rPr lang="en-US" b="true" sz="2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Demonstrated a hybrid RAG system capable of leveraging both internal knowledge and external web search.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53410" y="6773779"/>
            <a:ext cx="4791845" cy="145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7"/>
              </a:lnSpc>
              <a:spcBef>
                <a:spcPct val="0"/>
              </a:spcBef>
            </a:pPr>
            <a:r>
              <a:rPr lang="en-US" b="true" sz="2055">
                <a:solidFill>
                  <a:srgbClr val="B65294"/>
                </a:solidFill>
                <a:latin typeface="Poppins Bold"/>
                <a:ea typeface="Poppins Bold"/>
                <a:cs typeface="Poppins Bold"/>
                <a:sym typeface="Poppins Bold"/>
              </a:rPr>
              <a:t>Colab link: https://colab.research.google.com/drive/1aNjeFIbiAl2mySOgGODzsLEL7Qzll-Z2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757529" y="1090724"/>
            <a:ext cx="9832159" cy="126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6"/>
              </a:lnSpc>
            </a:pPr>
            <a:r>
              <a:rPr lang="en-US" sz="364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WEEK 5: Problems i</a:t>
            </a:r>
            <a:r>
              <a:rPr lang="en-US" b="true" sz="364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dentification and solutions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08372" y="2602955"/>
            <a:ext cx="13530473" cy="499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89010" indent="-344505" lvl="1">
              <a:lnSpc>
                <a:spcPts val="4467"/>
              </a:lnSpc>
              <a:buFont typeface="Arial"/>
              <a:buChar char="•"/>
            </a:pPr>
            <a:r>
              <a:rPr lang="en-US" b="true" sz="31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Issue Found:</a:t>
            </a:r>
            <a:r>
              <a:rPr lang="en-US" sz="31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 ReactJsonAgent (from Hugging Face Transformers) used in Weeks 3 &amp; 4 was </a:t>
            </a:r>
            <a:r>
              <a:rPr lang="en-US" b="true" sz="31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deprecated</a:t>
            </a:r>
            <a:r>
              <a:rPr lang="en-US" sz="31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ctr" marL="689010" indent="-344505" lvl="1">
              <a:lnSpc>
                <a:spcPts val="4467"/>
              </a:lnSpc>
              <a:buFont typeface="Arial"/>
              <a:buChar char="•"/>
            </a:pPr>
            <a:r>
              <a:rPr lang="en-US" b="true" sz="31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Consequence:</a:t>
            </a:r>
            <a:r>
              <a:rPr lang="en-US" sz="31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This deprecation caused incompatibility issues, particularly with the integrated Web Search tool.</a:t>
            </a:r>
          </a:p>
          <a:p>
            <a:pPr algn="ctr" marL="689010" indent="-344505" lvl="1">
              <a:lnSpc>
                <a:spcPts val="4467"/>
              </a:lnSpc>
              <a:buFont typeface="Arial"/>
              <a:buChar char="•"/>
            </a:pPr>
            <a:r>
              <a:rPr lang="en-US" b="true" sz="31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Action:</a:t>
            </a:r>
            <a:r>
              <a:rPr lang="en-US" sz="31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Initial troubleshooting attempts. We were later recommended to explore alternative libraries.</a:t>
            </a:r>
          </a:p>
          <a:p>
            <a:pPr algn="ctr" marL="689010" indent="-344505" lvl="1">
              <a:lnSpc>
                <a:spcPts val="4467"/>
              </a:lnSpc>
              <a:buFont typeface="Arial"/>
              <a:buChar char="•"/>
            </a:pPr>
            <a:r>
              <a:rPr lang="en-US" b="true" sz="31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Outcome:</a:t>
            </a:r>
            <a:r>
              <a:rPr lang="en-US" sz="31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Recognized the need to pivot towards a more stable and actively maintained framework for agentic workflows.</a:t>
            </a:r>
          </a:p>
          <a:p>
            <a:pPr algn="ctr">
              <a:lnSpc>
                <a:spcPts val="4467"/>
              </a:lnSpc>
              <a:spcBef>
                <a:spcPct val="0"/>
              </a:spcBef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192952" y="7573327"/>
            <a:ext cx="4961312" cy="1428757"/>
          </a:xfrm>
          <a:custGeom>
            <a:avLst/>
            <a:gdLst/>
            <a:ahLst/>
            <a:cxnLst/>
            <a:rect r="r" b="b" t="t" l="l"/>
            <a:pathLst>
              <a:path h="1428757" w="4961312">
                <a:moveTo>
                  <a:pt x="0" y="0"/>
                </a:moveTo>
                <a:lnTo>
                  <a:pt x="4961313" y="0"/>
                </a:lnTo>
                <a:lnTo>
                  <a:pt x="4961313" y="1428757"/>
                </a:lnTo>
                <a:lnTo>
                  <a:pt x="0" y="142875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995" t="0" r="-4245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740384" y="7863427"/>
            <a:ext cx="5876753" cy="153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2"/>
              </a:lnSpc>
              <a:spcBef>
                <a:spcPct val="0"/>
              </a:spcBef>
            </a:pPr>
            <a:r>
              <a:rPr lang="en-US" b="true" sz="2201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Colab link w/o link: https://colab.research.google.com/drive/1DlJUUKCwpnZsKG4CqZF3jKz-gT4JNWjm#scrollTo=vKKvaOehbCE-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81522" y="355444"/>
            <a:ext cx="13036295" cy="1762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1"/>
              </a:lnSpc>
            </a:pPr>
            <a:r>
              <a:rPr lang="en-US" sz="504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WEEK 6: Rebuil</a:t>
            </a:r>
            <a:r>
              <a:rPr lang="en-US" b="true" sz="504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ding with LangGraph &amp; Multi-Agent Architecture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69407" y="2872821"/>
            <a:ext cx="15188152" cy="404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46238" indent="-273119" lvl="1">
              <a:lnSpc>
                <a:spcPts val="3542"/>
              </a:lnSpc>
              <a:spcBef>
                <a:spcPct val="0"/>
              </a:spcBef>
              <a:buFont typeface="Arial"/>
              <a:buChar char="•"/>
            </a:pP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Core Technologies: </a:t>
            </a:r>
            <a:r>
              <a:rPr lang="en-US" b="true" sz="25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LangChain </a:t>
            </a: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</a:t>
            </a:r>
            <a:r>
              <a:rPr lang="en-US" b="true" sz="25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LangGraph </a:t>
            </a: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(chosen f</a:t>
            </a: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 their suitability for multi-agent and complex state management).</a:t>
            </a:r>
          </a:p>
          <a:p>
            <a:pPr algn="ctr" marL="546238" indent="-273119" lvl="1">
              <a:lnSpc>
                <a:spcPts val="3542"/>
              </a:lnSpc>
              <a:spcBef>
                <a:spcPct val="0"/>
              </a:spcBef>
              <a:buFont typeface="Arial"/>
              <a:buChar char="•"/>
            </a:pP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Development Stages:</a:t>
            </a:r>
          </a:p>
          <a:p>
            <a:pPr algn="ctr" marL="546238" indent="-273119" lvl="1">
              <a:lnSpc>
                <a:spcPts val="3542"/>
              </a:lnSpc>
              <a:spcBef>
                <a:spcPct val="0"/>
              </a:spcBef>
              <a:buAutoNum type="arabicPeriod" startAt="1"/>
            </a:pP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Developed a foundational RAG application using LangGraph.</a:t>
            </a:r>
          </a:p>
          <a:p>
            <a:pPr algn="ctr" marL="546238" indent="-273119" lvl="1">
              <a:lnSpc>
                <a:spcPts val="3542"/>
              </a:lnSpc>
              <a:spcBef>
                <a:spcPct val="0"/>
              </a:spcBef>
              <a:buAutoNum type="arabicPeriod" startAt="1"/>
            </a:pP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Evolved this into a Multi-Agent RAG system incorporating refined search capabilities</a:t>
            </a:r>
          </a:p>
          <a:p>
            <a:pPr algn="ctr" marL="546238" indent="-273119" lvl="1">
              <a:lnSpc>
                <a:spcPts val="354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</a:t>
            </a: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Create a robust, scalable, and maintainable architecture specifically designed for multi-agent interactions within the RAG context.</a:t>
            </a:r>
          </a:p>
          <a:p>
            <a:pPr algn="ctr">
              <a:lnSpc>
                <a:spcPts val="3542"/>
              </a:lnSpc>
              <a:spcBef>
                <a:spcPct val="0"/>
              </a:spcBef>
            </a:pPr>
            <a:r>
              <a:rPr lang="en-US" b="true" sz="25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</a:t>
            </a: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Successfully developed a functional Multi-Agent RAG application specialized for legal data retrieval using LangGraph.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82488" y="7795930"/>
            <a:ext cx="6441342" cy="1598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b="true" sz="2302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Basic LangGraph Colab:</a:t>
            </a:r>
            <a:r>
              <a:rPr lang="en-US" sz="2302">
                <a:solidFill>
                  <a:srgbClr val="00BF63"/>
                </a:solidFill>
                <a:latin typeface="Poppins"/>
                <a:ea typeface="Poppins"/>
                <a:cs typeface="Poppins"/>
                <a:sym typeface="Poppins"/>
              </a:rPr>
              <a:t> https://colab.research.google.com/drive/1eI63Xu_d7HrrBrs7iiIqkzkFXgopk1SF?usp=sharing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275795" y="3202353"/>
            <a:ext cx="10726333" cy="5166156"/>
          </a:xfrm>
          <a:custGeom>
            <a:avLst/>
            <a:gdLst/>
            <a:ahLst/>
            <a:cxnLst/>
            <a:rect r="r" b="b" t="t" l="l"/>
            <a:pathLst>
              <a:path h="5166156" w="10726333">
                <a:moveTo>
                  <a:pt x="0" y="0"/>
                </a:moveTo>
                <a:lnTo>
                  <a:pt x="10726334" y="0"/>
                </a:lnTo>
                <a:lnTo>
                  <a:pt x="10726334" y="5166156"/>
                </a:lnTo>
                <a:lnTo>
                  <a:pt x="0" y="516615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-810" b="-3085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881522" y="355444"/>
            <a:ext cx="13036295" cy="1762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1"/>
              </a:lnSpc>
            </a:pPr>
            <a:r>
              <a:rPr lang="en-US" sz="504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WEEK 6: Rebuil</a:t>
            </a:r>
            <a:r>
              <a:rPr lang="en-US" b="true" sz="504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ding with LangGraph &amp; Multi-Agent Architecture continued...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881522" y="355444"/>
            <a:ext cx="13036295" cy="1762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1"/>
              </a:lnSpc>
            </a:pPr>
            <a:r>
              <a:rPr lang="en-US" sz="504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Week 7 :</a:t>
            </a:r>
            <a:r>
              <a:rPr lang="en-US" b="true" sz="504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Advanced Features, UI &amp; Refinement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49924" y="2329266"/>
            <a:ext cx="15188152" cy="6606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46238" indent="-273119" lvl="1">
              <a:lnSpc>
                <a:spcPts val="3542"/>
              </a:lnSpc>
              <a:buFont typeface="Arial"/>
              <a:buChar char="•"/>
            </a:pP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Upgrades:</a:t>
            </a:r>
          </a:p>
          <a:p>
            <a:pPr algn="ctr" marL="546238" indent="-273119" lvl="1">
              <a:lnSpc>
                <a:spcPts val="3542"/>
              </a:lnSpc>
              <a:spcBef>
                <a:spcPct val="0"/>
              </a:spcBef>
              <a:buFont typeface="Arial"/>
              <a:buChar char="•"/>
            </a:pP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Local Deployment &amp; UI: Migrated code to run l</a:t>
            </a: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ocally with a user-friendly interface built using Streamlit.</a:t>
            </a:r>
          </a:p>
          <a:p>
            <a:pPr algn="ctr" marL="546238" indent="-273119" lvl="1">
              <a:lnSpc>
                <a:spcPts val="3542"/>
              </a:lnSpc>
              <a:spcBef>
                <a:spcPct val="0"/>
              </a:spcBef>
              <a:buFont typeface="Arial"/>
              <a:buChar char="•"/>
            </a:pP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Conversational Ability: Enabled multi-turn chat interactions, moving beyond single-shot Q&amp;A.</a:t>
            </a:r>
          </a:p>
          <a:p>
            <a:pPr algn="ctr" marL="546238" indent="-273119" lvl="1">
              <a:lnSpc>
                <a:spcPts val="3542"/>
              </a:lnSpc>
              <a:spcBef>
                <a:spcPct val="0"/>
              </a:spcBef>
              <a:buFont typeface="Arial"/>
              <a:buChar char="•"/>
            </a:pP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</a:t>
            </a: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elligent Agent Logic:</a:t>
            </a:r>
          </a:p>
          <a:p>
            <a:pPr algn="ctr" marL="546238" indent="-273119" lvl="1">
              <a:lnSpc>
                <a:spcPts val="3542"/>
              </a:lnSpc>
              <a:spcBef>
                <a:spcPct val="0"/>
              </a:spcBef>
              <a:buFont typeface="Arial"/>
              <a:buChar char="•"/>
            </a:pP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</a:t>
            </a: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emented clarification prompts for ambiguous user queries.</a:t>
            </a:r>
          </a:p>
          <a:p>
            <a:pPr algn="ctr" marL="546238" indent="-273119" lvl="1">
              <a:lnSpc>
                <a:spcPts val="3542"/>
              </a:lnSpc>
              <a:spcBef>
                <a:spcPct val="0"/>
              </a:spcBef>
              <a:buFont typeface="Arial"/>
              <a:buChar char="•"/>
            </a:pP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Added re</a:t>
            </a: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levance checking for data retrieved from the vectorDB.</a:t>
            </a:r>
          </a:p>
          <a:p>
            <a:pPr algn="ctr" marL="546238" indent="-273119" lvl="1">
              <a:lnSpc>
                <a:spcPts val="3542"/>
              </a:lnSpc>
              <a:spcBef>
                <a:spcPct val="0"/>
              </a:spcBef>
              <a:buFont typeface="Arial"/>
              <a:buChar char="•"/>
            </a:pP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Refined conditional web search: Triggered only if DB retrieval fails or yields irrelevant results.</a:t>
            </a:r>
          </a:p>
          <a:p>
            <a:pPr algn="ctr" marL="546238" indent="-273119" lvl="1">
              <a:lnSpc>
                <a:spcPts val="3542"/>
              </a:lnSpc>
              <a:spcBef>
                <a:spcPct val="0"/>
              </a:spcBef>
              <a:buFont typeface="Arial"/>
              <a:buChar char="•"/>
            </a:pP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Objective: Improve usability, robustness, and the 'intelligence' of the chatbot's interaction flow.</a:t>
            </a:r>
          </a:p>
          <a:p>
            <a:pPr algn="ctr">
              <a:lnSpc>
                <a:spcPts val="3542"/>
              </a:lnSpc>
              <a:spcBef>
                <a:spcPct val="0"/>
              </a:spcBef>
            </a:pP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Outcome: A significantly more sophisticated multi-agent RAG chatbot with a UI, conversational memory, and smarter retrieval strategies. (Note: Local codebase, screenshots available for demo).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881522" y="355444"/>
            <a:ext cx="13036295" cy="86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1"/>
              </a:lnSpc>
            </a:pPr>
            <a:r>
              <a:rPr lang="en-US" sz="504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Validation: Evaluation Samples in Ragas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881522" y="3932002"/>
            <a:ext cx="5515446" cy="4742950"/>
            <a:chOff x="0" y="0"/>
            <a:chExt cx="7353928" cy="6323933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7353928" cy="6323933"/>
              <a:chOff x="0" y="0"/>
              <a:chExt cx="1452628" cy="124917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452628" cy="1249172"/>
              </a:xfrm>
              <a:custGeom>
                <a:avLst/>
                <a:gdLst/>
                <a:ahLst/>
                <a:cxnLst/>
                <a:rect r="r" b="b" t="t" l="l"/>
                <a:pathLst>
                  <a:path h="1249172" w="1452628">
                    <a:moveTo>
                      <a:pt x="0" y="0"/>
                    </a:moveTo>
                    <a:lnTo>
                      <a:pt x="1452628" y="0"/>
                    </a:lnTo>
                    <a:lnTo>
                      <a:pt x="1452628" y="1249172"/>
                    </a:lnTo>
                    <a:lnTo>
                      <a:pt x="0" y="1249172"/>
                    </a:lnTo>
                    <a:close/>
                  </a:path>
                </a:pathLst>
              </a:custGeom>
              <a:solidFill>
                <a:srgbClr val="EBAAD1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1452628" cy="13063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343067"/>
              <a:ext cx="7353928" cy="59808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73"/>
                </a:lnSpc>
              </a:pPr>
              <a:r>
                <a:rPr lang="en-US" sz="448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SingleTurnSample</a:t>
              </a:r>
            </a:p>
            <a:p>
              <a:pPr algn="ctr" marL="511625" indent="-255813" lvl="1">
                <a:lnSpc>
                  <a:spcPts val="331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36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Used for single Q&amp;A interacti</a:t>
              </a:r>
              <a:r>
                <a:rPr lang="en-US" b="true" sz="236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ons</a:t>
              </a:r>
            </a:p>
            <a:p>
              <a:pPr algn="ctr" marL="511625" indent="-255813" lvl="1">
                <a:lnSpc>
                  <a:spcPts val="331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36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Includes:</a:t>
              </a:r>
            </a:p>
            <a:p>
              <a:pPr algn="ctr" marL="1023251" indent="-341084" lvl="2">
                <a:lnSpc>
                  <a:spcPts val="3317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b="true" sz="236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user_input: the question</a:t>
              </a:r>
            </a:p>
            <a:p>
              <a:pPr algn="ctr" marL="1023251" indent="-341084" lvl="2">
                <a:lnSpc>
                  <a:spcPts val="3317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b="true" sz="236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retrieved_contexts: background info</a:t>
              </a:r>
            </a:p>
            <a:p>
              <a:pPr algn="ctr" marL="1023251" indent="-341084" lvl="2">
                <a:lnSpc>
                  <a:spcPts val="3317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b="true" sz="236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response: AI’s answer</a:t>
              </a:r>
            </a:p>
            <a:p>
              <a:pPr algn="ctr" marL="1023251" indent="-341084" lvl="2">
                <a:lnSpc>
                  <a:spcPts val="3317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b="true" sz="236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reference: ground truth</a:t>
              </a:r>
            </a:p>
            <a:p>
              <a:pPr algn="ctr" marL="1023251" indent="-341084" lvl="2">
                <a:lnSpc>
                  <a:spcPts val="3317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b="true" sz="236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rubric: evaluation metrics</a:t>
              </a:r>
            </a:p>
            <a:p>
              <a:pPr algn="ctr">
                <a:lnSpc>
                  <a:spcPts val="331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760894" y="4022813"/>
            <a:ext cx="5110814" cy="4409734"/>
            <a:chOff x="0" y="0"/>
            <a:chExt cx="6814419" cy="5879646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195673" y="0"/>
              <a:ext cx="6618745" cy="5879646"/>
              <a:chOff x="0" y="0"/>
              <a:chExt cx="1307406" cy="116141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307407" cy="1161411"/>
              </a:xfrm>
              <a:custGeom>
                <a:avLst/>
                <a:gdLst/>
                <a:ahLst/>
                <a:cxnLst/>
                <a:rect r="r" b="b" t="t" l="l"/>
                <a:pathLst>
                  <a:path h="1161411" w="1307407">
                    <a:moveTo>
                      <a:pt x="0" y="0"/>
                    </a:moveTo>
                    <a:lnTo>
                      <a:pt x="1307407" y="0"/>
                    </a:lnTo>
                    <a:lnTo>
                      <a:pt x="1307407" y="1161411"/>
                    </a:lnTo>
                    <a:lnTo>
                      <a:pt x="0" y="1161411"/>
                    </a:lnTo>
                    <a:close/>
                  </a:path>
                </a:pathLst>
              </a:custGeom>
              <a:solidFill>
                <a:srgbClr val="EBAAD1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1307406" cy="12185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364571"/>
              <a:ext cx="6814419" cy="5515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1"/>
                </a:lnSpc>
              </a:pPr>
              <a:r>
                <a:rPr lang="en-US" sz="42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MultiTurnSample</a:t>
              </a:r>
            </a:p>
            <a:p>
              <a:pPr algn="ctr" marL="695566" indent="-347783" lvl="1">
                <a:lnSpc>
                  <a:spcPts val="451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22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Used f</a:t>
              </a:r>
              <a:r>
                <a:rPr lang="en-US" b="true" sz="322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or multi-turn conversations (Human ↔ AI ↔ Tool)</a:t>
              </a:r>
            </a:p>
            <a:p>
              <a:pPr algn="ctr" marL="695566" indent="-347783" lvl="1">
                <a:lnSpc>
                  <a:spcPts val="451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22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Useful for tool-using AI agents</a:t>
              </a:r>
            </a:p>
            <a:p>
              <a:pPr algn="ctr">
                <a:lnSpc>
                  <a:spcPts val="451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971699" y="1862203"/>
            <a:ext cx="8344603" cy="2082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4808" indent="-257404" lvl="1">
              <a:lnSpc>
                <a:spcPts val="333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8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struct</a:t>
            </a:r>
            <a:r>
              <a:rPr lang="en-US" b="true" sz="238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ured data unit to test LLM performance</a:t>
            </a:r>
          </a:p>
          <a:p>
            <a:pPr algn="ctr" marL="514808" indent="-257404" lvl="1">
              <a:lnSpc>
                <a:spcPts val="333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8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Represents a real-world use case or interaction</a:t>
            </a:r>
          </a:p>
          <a:p>
            <a:pPr algn="ctr" marL="514808" indent="-257404" lvl="1">
              <a:lnSpc>
                <a:spcPts val="333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8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Used for scoring accuracy, completeness, fluency, etc.</a:t>
            </a:r>
          </a:p>
          <a:p>
            <a:pPr algn="ctr">
              <a:lnSpc>
                <a:spcPts val="333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98730" y="7800406"/>
            <a:ext cx="2689827" cy="2689827"/>
          </a:xfrm>
          <a:custGeom>
            <a:avLst/>
            <a:gdLst/>
            <a:ahLst/>
            <a:cxnLst/>
            <a:rect r="r" b="b" t="t" l="l"/>
            <a:pathLst>
              <a:path h="2689827" w="2689827">
                <a:moveTo>
                  <a:pt x="0" y="0"/>
                </a:moveTo>
                <a:lnTo>
                  <a:pt x="2689827" y="0"/>
                </a:lnTo>
                <a:lnTo>
                  <a:pt x="2689827" y="2689827"/>
                </a:lnTo>
                <a:lnTo>
                  <a:pt x="0" y="26898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845015" cy="2845015"/>
          </a:xfrm>
          <a:custGeom>
            <a:avLst/>
            <a:gdLst/>
            <a:ahLst/>
            <a:cxnLst/>
            <a:rect r="r" b="b" t="t" l="l"/>
            <a:pathLst>
              <a:path h="2845015" w="2845015">
                <a:moveTo>
                  <a:pt x="0" y="0"/>
                </a:moveTo>
                <a:lnTo>
                  <a:pt x="2845015" y="0"/>
                </a:lnTo>
                <a:lnTo>
                  <a:pt x="2845015" y="2845015"/>
                </a:lnTo>
                <a:lnTo>
                  <a:pt x="0" y="2845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12961" y="8114637"/>
            <a:ext cx="2256463" cy="2256463"/>
          </a:xfrm>
          <a:custGeom>
            <a:avLst/>
            <a:gdLst/>
            <a:ahLst/>
            <a:cxnLst/>
            <a:rect r="r" b="b" t="t" l="l"/>
            <a:pathLst>
              <a:path h="2256463" w="2256463">
                <a:moveTo>
                  <a:pt x="0" y="0"/>
                </a:moveTo>
                <a:lnTo>
                  <a:pt x="2256463" y="0"/>
                </a:lnTo>
                <a:lnTo>
                  <a:pt x="2256463" y="2256463"/>
                </a:lnTo>
                <a:lnTo>
                  <a:pt x="0" y="2256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422791" cy="2422791"/>
          </a:xfrm>
          <a:custGeom>
            <a:avLst/>
            <a:gdLst/>
            <a:ahLst/>
            <a:cxnLst/>
            <a:rect r="r" b="b" t="t" l="l"/>
            <a:pathLst>
              <a:path h="2422791" w="2422791">
                <a:moveTo>
                  <a:pt x="0" y="0"/>
                </a:moveTo>
                <a:lnTo>
                  <a:pt x="2422791" y="0"/>
                </a:lnTo>
                <a:lnTo>
                  <a:pt x="2422791" y="2422790"/>
                </a:lnTo>
                <a:lnTo>
                  <a:pt x="0" y="242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33887" y="5519943"/>
            <a:ext cx="2757960" cy="2757960"/>
          </a:xfrm>
          <a:custGeom>
            <a:avLst/>
            <a:gdLst/>
            <a:ahLst/>
            <a:cxnLst/>
            <a:rect r="r" b="b" t="t" l="l"/>
            <a:pathLst>
              <a:path h="2757960" w="2757960">
                <a:moveTo>
                  <a:pt x="0" y="0"/>
                </a:moveTo>
                <a:lnTo>
                  <a:pt x="2757960" y="0"/>
                </a:lnTo>
                <a:lnTo>
                  <a:pt x="2757960" y="2757959"/>
                </a:lnTo>
                <a:lnTo>
                  <a:pt x="0" y="2757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113973" y="1588203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9" y="0"/>
                </a:lnTo>
                <a:lnTo>
                  <a:pt x="3328479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7891929" y="9460152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4054387" y="641229"/>
            <a:ext cx="11050084" cy="1030616"/>
            <a:chOff x="0" y="0"/>
            <a:chExt cx="14733445" cy="137415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4733445" cy="1374154"/>
              <a:chOff x="0" y="0"/>
              <a:chExt cx="3325344" cy="31014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325344" cy="310147"/>
              </a:xfrm>
              <a:custGeom>
                <a:avLst/>
                <a:gdLst/>
                <a:ahLst/>
                <a:cxnLst/>
                <a:rect r="r" b="b" t="t" l="l"/>
                <a:pathLst>
                  <a:path h="310147" w="3325344">
                    <a:moveTo>
                      <a:pt x="0" y="0"/>
                    </a:moveTo>
                    <a:lnTo>
                      <a:pt x="3325344" y="0"/>
                    </a:lnTo>
                    <a:lnTo>
                      <a:pt x="3325344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solidFill>
                <a:srgbClr val="B6529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3325344" cy="3672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48488" y="98148"/>
              <a:ext cx="13836469" cy="1044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b="true" sz="451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SUMMARY OF KEY ACHIEVEMENTS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674985" y="2465575"/>
            <a:ext cx="14839536" cy="6195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9403" indent="-349701" lvl="1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Progressed fr</a:t>
            </a: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 understanding basic RAG to building a sophisticated Multi-Agent system.</a:t>
            </a:r>
          </a:p>
          <a:p>
            <a:pPr algn="ctr" marL="699403" indent="-349701" lvl="1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Successfully customized RAG for the niche domain of Bangladeshi Law.</a:t>
            </a:r>
          </a:p>
          <a:p>
            <a:pPr algn="ctr" marL="699403" indent="-349701" lvl="1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Explored and implemented Agentic RAG concepts.</a:t>
            </a:r>
          </a:p>
          <a:p>
            <a:pPr algn="ctr" marL="699403" indent="-349701" lvl="1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Pivoted effectively from deprecated tools to robust frameworks (LangChain/LangGraph).</a:t>
            </a:r>
          </a:p>
          <a:p>
            <a:pPr algn="ctr" marL="699403" indent="-349701" lvl="1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Integrated advanced features: Conditional Web Search, Relevance Checking, and Clarification Questions.</a:t>
            </a:r>
          </a:p>
          <a:p>
            <a:pPr algn="ctr" marL="699403" indent="-349701" lvl="1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Developed a functional Streamlit UI for user interaction.</a:t>
            </a:r>
          </a:p>
          <a:p>
            <a:pPr algn="ctr">
              <a:lnSpc>
                <a:spcPts val="453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98730" y="7800406"/>
            <a:ext cx="2689827" cy="2689827"/>
          </a:xfrm>
          <a:custGeom>
            <a:avLst/>
            <a:gdLst/>
            <a:ahLst/>
            <a:cxnLst/>
            <a:rect r="r" b="b" t="t" l="l"/>
            <a:pathLst>
              <a:path h="2689827" w="2689827">
                <a:moveTo>
                  <a:pt x="0" y="0"/>
                </a:moveTo>
                <a:lnTo>
                  <a:pt x="2689827" y="0"/>
                </a:lnTo>
                <a:lnTo>
                  <a:pt x="2689827" y="2689827"/>
                </a:lnTo>
                <a:lnTo>
                  <a:pt x="0" y="26898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845015" cy="2845015"/>
          </a:xfrm>
          <a:custGeom>
            <a:avLst/>
            <a:gdLst/>
            <a:ahLst/>
            <a:cxnLst/>
            <a:rect r="r" b="b" t="t" l="l"/>
            <a:pathLst>
              <a:path h="2845015" w="2845015">
                <a:moveTo>
                  <a:pt x="0" y="0"/>
                </a:moveTo>
                <a:lnTo>
                  <a:pt x="2845015" y="0"/>
                </a:lnTo>
                <a:lnTo>
                  <a:pt x="2845015" y="2845015"/>
                </a:lnTo>
                <a:lnTo>
                  <a:pt x="0" y="2845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12961" y="8114637"/>
            <a:ext cx="2256463" cy="2256463"/>
          </a:xfrm>
          <a:custGeom>
            <a:avLst/>
            <a:gdLst/>
            <a:ahLst/>
            <a:cxnLst/>
            <a:rect r="r" b="b" t="t" l="l"/>
            <a:pathLst>
              <a:path h="2256463" w="2256463">
                <a:moveTo>
                  <a:pt x="0" y="0"/>
                </a:moveTo>
                <a:lnTo>
                  <a:pt x="2256463" y="0"/>
                </a:lnTo>
                <a:lnTo>
                  <a:pt x="2256463" y="2256463"/>
                </a:lnTo>
                <a:lnTo>
                  <a:pt x="0" y="2256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422791" cy="2422791"/>
          </a:xfrm>
          <a:custGeom>
            <a:avLst/>
            <a:gdLst/>
            <a:ahLst/>
            <a:cxnLst/>
            <a:rect r="r" b="b" t="t" l="l"/>
            <a:pathLst>
              <a:path h="2422791" w="2422791">
                <a:moveTo>
                  <a:pt x="0" y="0"/>
                </a:moveTo>
                <a:lnTo>
                  <a:pt x="2422791" y="0"/>
                </a:lnTo>
                <a:lnTo>
                  <a:pt x="2422791" y="2422790"/>
                </a:lnTo>
                <a:lnTo>
                  <a:pt x="0" y="242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33887" y="5519943"/>
            <a:ext cx="2757960" cy="2757960"/>
          </a:xfrm>
          <a:custGeom>
            <a:avLst/>
            <a:gdLst/>
            <a:ahLst/>
            <a:cxnLst/>
            <a:rect r="r" b="b" t="t" l="l"/>
            <a:pathLst>
              <a:path h="2757960" w="2757960">
                <a:moveTo>
                  <a:pt x="0" y="0"/>
                </a:moveTo>
                <a:lnTo>
                  <a:pt x="2757960" y="0"/>
                </a:lnTo>
                <a:lnTo>
                  <a:pt x="2757960" y="2757959"/>
                </a:lnTo>
                <a:lnTo>
                  <a:pt x="0" y="2757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113973" y="1588203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9" y="0"/>
                </a:lnTo>
                <a:lnTo>
                  <a:pt x="3328479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7891929" y="9460152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4054387" y="641229"/>
            <a:ext cx="11018869" cy="1030616"/>
            <a:chOff x="0" y="0"/>
            <a:chExt cx="14691826" cy="137415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4691826" cy="1374154"/>
              <a:chOff x="0" y="0"/>
              <a:chExt cx="3315950" cy="31014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315950" cy="310147"/>
              </a:xfrm>
              <a:custGeom>
                <a:avLst/>
                <a:gdLst/>
                <a:ahLst/>
                <a:cxnLst/>
                <a:rect r="r" b="b" t="t" l="l"/>
                <a:pathLst>
                  <a:path h="310147" w="3315950">
                    <a:moveTo>
                      <a:pt x="0" y="0"/>
                    </a:moveTo>
                    <a:lnTo>
                      <a:pt x="3315950" y="0"/>
                    </a:lnTo>
                    <a:lnTo>
                      <a:pt x="3315950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solidFill>
                <a:srgbClr val="B6529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3315950" cy="3672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47221" y="98148"/>
              <a:ext cx="13797384" cy="1044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b="true" sz="4514">
                  <a:solidFill>
                    <a:srgbClr val="EBAAD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CHALLENGES FACED &amp; SOLUTIONS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601776" y="2938367"/>
            <a:ext cx="14541867" cy="463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27011" indent="-313505" lvl="1">
              <a:lnSpc>
                <a:spcPts val="4065"/>
              </a:lnSpc>
              <a:buFont typeface="Arial"/>
              <a:buChar char="•"/>
            </a:pPr>
            <a:r>
              <a:rPr lang="en-US" b="true" sz="29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</a:t>
            </a:r>
            <a:r>
              <a:rPr lang="en-US" sz="2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Initial reliance on a </a:t>
            </a:r>
            <a:r>
              <a:rPr lang="en-US" b="true" sz="29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deprecated library (ReactJsonAgent)</a:t>
            </a:r>
            <a:r>
              <a:rPr lang="en-US" sz="2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ctr" marL="1254022" indent="-418007" lvl="2">
              <a:lnSpc>
                <a:spcPts val="4065"/>
              </a:lnSpc>
              <a:buFont typeface="Arial"/>
              <a:buChar char="⚬"/>
            </a:pPr>
            <a:r>
              <a:rPr lang="en-US" b="true" sz="29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</a:t>
            </a:r>
            <a:r>
              <a:rPr lang="en-US" sz="2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Proactive pivot to </a:t>
            </a:r>
            <a:r>
              <a:rPr lang="en-US" b="true" sz="29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LangGraph </a:t>
            </a:r>
            <a:r>
              <a:rPr lang="en-US" sz="2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based on research and supervisor guidance.</a:t>
            </a:r>
          </a:p>
          <a:p>
            <a:pPr algn="ctr" marL="627011" indent="-313505" lvl="1">
              <a:lnSpc>
                <a:spcPts val="4065"/>
              </a:lnSpc>
              <a:buFont typeface="Arial"/>
              <a:buChar char="•"/>
            </a:pPr>
            <a:r>
              <a:rPr lang="en-US" b="true" sz="29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</a:t>
            </a:r>
            <a:r>
              <a:rPr lang="en-US" sz="2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Ensuring consistent collaboration and overcoming individual technical hurdles.</a:t>
            </a:r>
          </a:p>
          <a:p>
            <a:pPr algn="ctr" marL="1254022" indent="-418007" lvl="2">
              <a:lnSpc>
                <a:spcPts val="4065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9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</a:t>
            </a:r>
            <a:r>
              <a:rPr lang="en-US" sz="2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Utilized accessible platf</a:t>
            </a:r>
            <a:r>
              <a:rPr lang="en-US" sz="2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orms like </a:t>
            </a:r>
            <a:r>
              <a:rPr lang="en-US" b="true" sz="29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Google Colab</a:t>
            </a:r>
            <a:r>
              <a:rPr lang="en-US" sz="2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; </a:t>
            </a:r>
          </a:p>
          <a:p>
            <a:pPr algn="ctr" marL="627011" indent="-313505" lvl="1">
              <a:lnSpc>
                <a:spcPts val="406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</a:t>
            </a:r>
            <a:r>
              <a:rPr lang="en-US" sz="2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Increasing complexity of </a:t>
            </a:r>
            <a:r>
              <a:rPr lang="en-US" b="true" sz="29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multi-agent systems</a:t>
            </a:r>
            <a:r>
              <a:rPr lang="en-US" sz="2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ctr">
              <a:lnSpc>
                <a:spcPts val="4065"/>
              </a:lnSpc>
            </a:pPr>
            <a:r>
              <a:rPr lang="en-US" b="true" sz="29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 </a:t>
            </a:r>
            <a:r>
              <a:rPr lang="en-US" b="true" sz="29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</a:t>
            </a:r>
            <a:r>
              <a:rPr lang="en-US" sz="2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Adopted </a:t>
            </a:r>
            <a:r>
              <a:rPr lang="en-US" b="true" sz="29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LangGraph </a:t>
            </a:r>
            <a:r>
              <a:rPr lang="en-US" sz="2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better state management and workflow control.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98730" y="7800406"/>
            <a:ext cx="2689827" cy="2689827"/>
          </a:xfrm>
          <a:custGeom>
            <a:avLst/>
            <a:gdLst/>
            <a:ahLst/>
            <a:cxnLst/>
            <a:rect r="r" b="b" t="t" l="l"/>
            <a:pathLst>
              <a:path h="2689827" w="2689827">
                <a:moveTo>
                  <a:pt x="0" y="0"/>
                </a:moveTo>
                <a:lnTo>
                  <a:pt x="2689827" y="0"/>
                </a:lnTo>
                <a:lnTo>
                  <a:pt x="2689827" y="2689827"/>
                </a:lnTo>
                <a:lnTo>
                  <a:pt x="0" y="26898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845015" cy="2845015"/>
          </a:xfrm>
          <a:custGeom>
            <a:avLst/>
            <a:gdLst/>
            <a:ahLst/>
            <a:cxnLst/>
            <a:rect r="r" b="b" t="t" l="l"/>
            <a:pathLst>
              <a:path h="2845015" w="2845015">
                <a:moveTo>
                  <a:pt x="0" y="0"/>
                </a:moveTo>
                <a:lnTo>
                  <a:pt x="2845015" y="0"/>
                </a:lnTo>
                <a:lnTo>
                  <a:pt x="2845015" y="2845015"/>
                </a:lnTo>
                <a:lnTo>
                  <a:pt x="0" y="2845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12961" y="8114637"/>
            <a:ext cx="2256463" cy="2256463"/>
          </a:xfrm>
          <a:custGeom>
            <a:avLst/>
            <a:gdLst/>
            <a:ahLst/>
            <a:cxnLst/>
            <a:rect r="r" b="b" t="t" l="l"/>
            <a:pathLst>
              <a:path h="2256463" w="2256463">
                <a:moveTo>
                  <a:pt x="0" y="0"/>
                </a:moveTo>
                <a:lnTo>
                  <a:pt x="2256463" y="0"/>
                </a:lnTo>
                <a:lnTo>
                  <a:pt x="2256463" y="2256463"/>
                </a:lnTo>
                <a:lnTo>
                  <a:pt x="0" y="2256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422791" cy="2422791"/>
          </a:xfrm>
          <a:custGeom>
            <a:avLst/>
            <a:gdLst/>
            <a:ahLst/>
            <a:cxnLst/>
            <a:rect r="r" b="b" t="t" l="l"/>
            <a:pathLst>
              <a:path h="2422791" w="2422791">
                <a:moveTo>
                  <a:pt x="0" y="0"/>
                </a:moveTo>
                <a:lnTo>
                  <a:pt x="2422791" y="0"/>
                </a:lnTo>
                <a:lnTo>
                  <a:pt x="2422791" y="2422790"/>
                </a:lnTo>
                <a:lnTo>
                  <a:pt x="0" y="242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33887" y="5519943"/>
            <a:ext cx="2757960" cy="2757960"/>
          </a:xfrm>
          <a:custGeom>
            <a:avLst/>
            <a:gdLst/>
            <a:ahLst/>
            <a:cxnLst/>
            <a:rect r="r" b="b" t="t" l="l"/>
            <a:pathLst>
              <a:path h="2757960" w="2757960">
                <a:moveTo>
                  <a:pt x="0" y="0"/>
                </a:moveTo>
                <a:lnTo>
                  <a:pt x="2757960" y="0"/>
                </a:lnTo>
                <a:lnTo>
                  <a:pt x="2757960" y="2757959"/>
                </a:lnTo>
                <a:lnTo>
                  <a:pt x="0" y="2757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113973" y="1588203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9" y="0"/>
                </a:lnTo>
                <a:lnTo>
                  <a:pt x="3328479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7891929" y="9460152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3922442" y="642092"/>
            <a:ext cx="11018869" cy="1030616"/>
            <a:chOff x="0" y="0"/>
            <a:chExt cx="14691826" cy="137415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4691826" cy="1374154"/>
              <a:chOff x="0" y="0"/>
              <a:chExt cx="3315950" cy="31014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315950" cy="310147"/>
              </a:xfrm>
              <a:custGeom>
                <a:avLst/>
                <a:gdLst/>
                <a:ahLst/>
                <a:cxnLst/>
                <a:rect r="r" b="b" t="t" l="l"/>
                <a:pathLst>
                  <a:path h="310147" w="3315950">
                    <a:moveTo>
                      <a:pt x="0" y="0"/>
                    </a:moveTo>
                    <a:lnTo>
                      <a:pt x="3315950" y="0"/>
                    </a:lnTo>
                    <a:lnTo>
                      <a:pt x="3315950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solidFill>
                <a:srgbClr val="B6529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3315950" cy="3672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47221" y="98148"/>
              <a:ext cx="13797384" cy="1044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b="true" sz="4514">
                  <a:solidFill>
                    <a:srgbClr val="EBAAD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FUTURE WORK 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922442" y="3138142"/>
            <a:ext cx="10923164" cy="4816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2952" indent="-416476" lvl="1">
              <a:lnSpc>
                <a:spcPts val="5401"/>
              </a:lnSpc>
              <a:buFont typeface="Arial"/>
              <a:buChar char="•"/>
            </a:pPr>
            <a:r>
              <a:rPr lang="en-US" sz="38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More extensive dataset c</a:t>
            </a:r>
            <a:r>
              <a:rPr lang="en-US" sz="38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ollection integration</a:t>
            </a:r>
          </a:p>
          <a:p>
            <a:pPr algn="l" marL="832952" indent="-416476" lvl="1">
              <a:lnSpc>
                <a:spcPts val="5401"/>
              </a:lnSpc>
              <a:buFont typeface="Arial"/>
              <a:buChar char="•"/>
            </a:pPr>
            <a:r>
              <a:rPr lang="en-US" sz="38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Rigorous evaluation and benchmarking</a:t>
            </a:r>
          </a:p>
          <a:p>
            <a:pPr algn="l" marL="832952" indent="-416476" lvl="1">
              <a:lnSpc>
                <a:spcPts val="5401"/>
              </a:lnSpc>
              <a:spcBef>
                <a:spcPct val="0"/>
              </a:spcBef>
              <a:buFont typeface="Arial"/>
              <a:buChar char="•"/>
            </a:pPr>
            <a:r>
              <a:rPr lang="en-US" sz="38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</a:t>
            </a:r>
            <a:r>
              <a:rPr lang="en-US" sz="38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oring different agent roles/specializations</a:t>
            </a:r>
          </a:p>
          <a:p>
            <a:pPr algn="l">
              <a:lnSpc>
                <a:spcPts val="5401"/>
              </a:lnSpc>
              <a:spcBef>
                <a:spcPct val="0"/>
              </a:spcBef>
            </a:pPr>
          </a:p>
          <a:p>
            <a:pPr algn="l">
              <a:lnSpc>
                <a:spcPts val="540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97684" y="5496684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1" y="0"/>
                </a:lnTo>
                <a:lnTo>
                  <a:pt x="4983321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212305" y="-193005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0" y="0"/>
                </a:lnTo>
                <a:lnTo>
                  <a:pt x="4983320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64260" y="6763260"/>
            <a:ext cx="3523740" cy="3523740"/>
          </a:xfrm>
          <a:custGeom>
            <a:avLst/>
            <a:gdLst/>
            <a:ahLst/>
            <a:cxnLst/>
            <a:rect r="r" b="b" t="t" l="l"/>
            <a:pathLst>
              <a:path h="3523740" w="3523740">
                <a:moveTo>
                  <a:pt x="0" y="0"/>
                </a:moveTo>
                <a:lnTo>
                  <a:pt x="3523740" y="0"/>
                </a:lnTo>
                <a:lnTo>
                  <a:pt x="3523740" y="3523740"/>
                </a:lnTo>
                <a:lnTo>
                  <a:pt x="0" y="3523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700000">
            <a:off x="15796340" y="228657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0" y="0"/>
                </a:lnTo>
                <a:lnTo>
                  <a:pt x="4983320" y="4983320"/>
                </a:lnTo>
                <a:lnTo>
                  <a:pt x="0" y="498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0" y="0"/>
            <a:ext cx="3671722" cy="3671722"/>
          </a:xfrm>
          <a:custGeom>
            <a:avLst/>
            <a:gdLst/>
            <a:ahLst/>
            <a:cxnLst/>
            <a:rect r="r" b="b" t="t" l="l"/>
            <a:pathLst>
              <a:path h="3671722" w="3671722">
                <a:moveTo>
                  <a:pt x="0" y="0"/>
                </a:moveTo>
                <a:lnTo>
                  <a:pt x="3671722" y="0"/>
                </a:lnTo>
                <a:lnTo>
                  <a:pt x="3671722" y="3671722"/>
                </a:lnTo>
                <a:lnTo>
                  <a:pt x="0" y="36717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2700000">
            <a:off x="-2491660" y="293019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4983320" y="4983320"/>
                </a:moveTo>
                <a:lnTo>
                  <a:pt x="0" y="4983320"/>
                </a:lnTo>
                <a:lnTo>
                  <a:pt x="0" y="0"/>
                </a:lnTo>
                <a:lnTo>
                  <a:pt x="4983320" y="0"/>
                </a:lnTo>
                <a:lnTo>
                  <a:pt x="4983320" y="49833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343100" y="-1328448"/>
            <a:ext cx="2686201" cy="2656897"/>
          </a:xfrm>
          <a:custGeom>
            <a:avLst/>
            <a:gdLst/>
            <a:ahLst/>
            <a:cxnLst/>
            <a:rect r="r" b="b" t="t" l="l"/>
            <a:pathLst>
              <a:path h="2656897" w="2686201">
                <a:moveTo>
                  <a:pt x="0" y="0"/>
                </a:moveTo>
                <a:lnTo>
                  <a:pt x="2686200" y="0"/>
                </a:lnTo>
                <a:lnTo>
                  <a:pt x="2686200" y="2656896"/>
                </a:lnTo>
                <a:lnTo>
                  <a:pt x="0" y="265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44900" y="8958552"/>
            <a:ext cx="2686201" cy="2656897"/>
          </a:xfrm>
          <a:custGeom>
            <a:avLst/>
            <a:gdLst/>
            <a:ahLst/>
            <a:cxnLst/>
            <a:rect r="r" b="b" t="t" l="l"/>
            <a:pathLst>
              <a:path h="2656897" w="2686201">
                <a:moveTo>
                  <a:pt x="0" y="0"/>
                </a:moveTo>
                <a:lnTo>
                  <a:pt x="2686200" y="0"/>
                </a:lnTo>
                <a:lnTo>
                  <a:pt x="2686200" y="2656896"/>
                </a:lnTo>
                <a:lnTo>
                  <a:pt x="0" y="265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4599" y="1985023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1" y="0"/>
                </a:lnTo>
                <a:lnTo>
                  <a:pt x="1911811" y="232894"/>
                </a:lnTo>
                <a:lnTo>
                  <a:pt x="0" y="232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676646" y="8069083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1" y="0"/>
                </a:lnTo>
                <a:lnTo>
                  <a:pt x="1911811" y="232894"/>
                </a:lnTo>
                <a:lnTo>
                  <a:pt x="0" y="232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8792994"/>
            <a:ext cx="3010803" cy="930612"/>
          </a:xfrm>
          <a:custGeom>
            <a:avLst/>
            <a:gdLst/>
            <a:ahLst/>
            <a:cxnLst/>
            <a:rect r="r" b="b" t="t" l="l"/>
            <a:pathLst>
              <a:path h="930612" w="3010803">
                <a:moveTo>
                  <a:pt x="0" y="0"/>
                </a:moveTo>
                <a:lnTo>
                  <a:pt x="3010803" y="0"/>
                </a:lnTo>
                <a:lnTo>
                  <a:pt x="3010803" y="930612"/>
                </a:lnTo>
                <a:lnTo>
                  <a:pt x="0" y="9306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4248497" y="563394"/>
            <a:ext cx="3010803" cy="930612"/>
          </a:xfrm>
          <a:custGeom>
            <a:avLst/>
            <a:gdLst/>
            <a:ahLst/>
            <a:cxnLst/>
            <a:rect r="r" b="b" t="t" l="l"/>
            <a:pathLst>
              <a:path h="930612" w="3010803">
                <a:moveTo>
                  <a:pt x="3010803" y="0"/>
                </a:moveTo>
                <a:lnTo>
                  <a:pt x="0" y="0"/>
                </a:lnTo>
                <a:lnTo>
                  <a:pt x="0" y="930612"/>
                </a:lnTo>
                <a:lnTo>
                  <a:pt x="3010803" y="930612"/>
                </a:lnTo>
                <a:lnTo>
                  <a:pt x="3010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373985" y="3514819"/>
            <a:ext cx="15540031" cy="3812596"/>
            <a:chOff x="0" y="0"/>
            <a:chExt cx="20720041" cy="508346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42900"/>
              <a:ext cx="20720041" cy="3706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32"/>
                </a:lnSpc>
              </a:pPr>
              <a:r>
                <a:rPr lang="en-US" b="true" sz="16579" i="true" spc="-1160">
                  <a:solidFill>
                    <a:srgbClr val="EB9ACB"/>
                  </a:solidFill>
                  <a:latin typeface="Heading Now 61-68 Bold Italics"/>
                  <a:ea typeface="Heading Now 61-68 Bold Italics"/>
                  <a:cs typeface="Heading Now 61-68 Bold Italics"/>
                  <a:sym typeface="Heading Now 61-68 Bold Italics"/>
                </a:rPr>
                <a:t>THANK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2123323"/>
              <a:ext cx="19888281" cy="2960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3"/>
                </a:lnSpc>
              </a:pPr>
              <a:r>
                <a:rPr lang="en-US" b="true" sz="13278" i="true" spc="-929">
                  <a:solidFill>
                    <a:srgbClr val="D395FF"/>
                  </a:solidFill>
                  <a:latin typeface="Heading Now 61-68 Bold Italics"/>
                  <a:ea typeface="Heading Now 61-68 Bold Italics"/>
                  <a:cs typeface="Heading Now 61-68 Bold Italics"/>
                  <a:sym typeface="Heading Now 61-68 Bold Italics"/>
                </a:rPr>
                <a:t>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DAGkiIbEWYc</dc:identifier>
  <dcterms:modified xsi:type="dcterms:W3CDTF">2011-08-01T06:04:30Z</dcterms:modified>
  <cp:revision>1</cp:revision>
  <dc:title>499A final</dc:title>
</cp:coreProperties>
</file>