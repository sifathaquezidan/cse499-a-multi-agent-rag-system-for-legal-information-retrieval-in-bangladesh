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32099250" cy="437483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836">
          <p15:clr>
            <a:srgbClr val="A4A3A4"/>
          </p15:clr>
        </p15:guide>
        <p15:guide id="2" orient="horz" pos="20196">
          <p15:clr>
            <a:srgbClr val="A4A3A4"/>
          </p15:clr>
        </p15:guide>
        <p15:guide id="3" orient="horz" pos="2148">
          <p15:clr>
            <a:srgbClr val="A4A3A4"/>
          </p15:clr>
        </p15:guide>
        <p15:guide id="4" pos="13824">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hswroAqjnrd8TMH5ppJ1w6Gdsu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338" y="18"/>
      </p:cViewPr>
      <p:guideLst>
        <p:guide orient="horz" pos="4836"/>
        <p:guide orient="horz" pos="20196"/>
        <p:guide orient="horz" pos="214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13909677" cy="2187419"/>
          </a:xfrm>
          <a:prstGeom prst="rect">
            <a:avLst/>
          </a:prstGeom>
          <a:noFill/>
          <a:ln>
            <a:noFill/>
          </a:ln>
        </p:spPr>
        <p:txBody>
          <a:bodyPr spcFirstLastPara="1" wrap="square" lIns="434700" tIns="217350" rIns="434700" bIns="217350" anchor="t" anchorCtr="0">
            <a:noAutofit/>
          </a:bodyPr>
          <a:lstStyle>
            <a:lvl1pPr marR="0" lvl="0" algn="l" rtl="0">
              <a:spcBef>
                <a:spcPts val="0"/>
              </a:spcBef>
              <a:spcAft>
                <a:spcPts val="0"/>
              </a:spcAft>
              <a:buSzPts val="1400"/>
              <a:buNone/>
              <a:defRPr sz="5700" b="0" i="0" u="none" strike="noStrike" cap="none">
                <a:solidFill>
                  <a:schemeClr val="dk1"/>
                </a:solidFill>
                <a:latin typeface="Arial"/>
                <a:ea typeface="Arial"/>
                <a:cs typeface="Arial"/>
                <a:sym typeface="Arial"/>
              </a:defRPr>
            </a:lvl1pPr>
            <a:lvl2pPr marR="0" lvl="1" algn="ctr"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ctr"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ctr"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ctr"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18181987" y="2"/>
            <a:ext cx="13909677" cy="2187419"/>
          </a:xfrm>
          <a:prstGeom prst="rect">
            <a:avLst/>
          </a:prstGeom>
          <a:noFill/>
          <a:ln>
            <a:noFill/>
          </a:ln>
        </p:spPr>
        <p:txBody>
          <a:bodyPr spcFirstLastPara="1" wrap="square" lIns="434700" tIns="217350" rIns="434700" bIns="217350" anchor="t" anchorCtr="0">
            <a:noAutofit/>
          </a:bodyPr>
          <a:lstStyle>
            <a:lvl1pPr marR="0" lvl="0" algn="r" rtl="0">
              <a:spcBef>
                <a:spcPts val="0"/>
              </a:spcBef>
              <a:spcAft>
                <a:spcPts val="0"/>
              </a:spcAft>
              <a:buSzPts val="1400"/>
              <a:buNone/>
              <a:defRPr sz="5700" b="0" i="0" u="none" strike="noStrike" cap="none">
                <a:solidFill>
                  <a:schemeClr val="dk1"/>
                </a:solidFill>
                <a:latin typeface="Arial"/>
                <a:ea typeface="Arial"/>
                <a:cs typeface="Arial"/>
                <a:sym typeface="Arial"/>
              </a:defRPr>
            </a:lvl1pPr>
            <a:lvl2pPr marR="0" lvl="1" algn="ctr"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ctr"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ctr"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ctr"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5113338" y="3276600"/>
            <a:ext cx="21880512" cy="16409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3209927" y="20784215"/>
            <a:ext cx="25679400" cy="19686744"/>
          </a:xfrm>
          <a:prstGeom prst="rect">
            <a:avLst/>
          </a:prstGeom>
          <a:noFill/>
          <a:ln>
            <a:noFill/>
          </a:ln>
        </p:spPr>
        <p:txBody>
          <a:bodyPr spcFirstLastPara="1" wrap="square" lIns="434700" tIns="217350" rIns="434700" bIns="2173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1553394"/>
            <a:ext cx="13909677" cy="2187419"/>
          </a:xfrm>
          <a:prstGeom prst="rect">
            <a:avLst/>
          </a:prstGeom>
          <a:noFill/>
          <a:ln>
            <a:noFill/>
          </a:ln>
        </p:spPr>
        <p:txBody>
          <a:bodyPr spcFirstLastPara="1" wrap="square" lIns="434700" tIns="217350" rIns="434700" bIns="217350" anchor="b" anchorCtr="0">
            <a:noAutofit/>
          </a:bodyPr>
          <a:lstStyle>
            <a:lvl1pPr marR="0" lvl="0" algn="l" rtl="0">
              <a:spcBef>
                <a:spcPts val="0"/>
              </a:spcBef>
              <a:spcAft>
                <a:spcPts val="0"/>
              </a:spcAft>
              <a:buSzPts val="1400"/>
              <a:buNone/>
              <a:defRPr sz="5700" b="0" i="0" u="none" strike="noStrike" cap="none">
                <a:solidFill>
                  <a:schemeClr val="dk1"/>
                </a:solidFill>
                <a:latin typeface="Arial"/>
                <a:ea typeface="Arial"/>
                <a:cs typeface="Arial"/>
                <a:sym typeface="Arial"/>
              </a:defRPr>
            </a:lvl1pPr>
            <a:lvl2pPr marR="0" lvl="1" algn="ctr"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ctr"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ctr"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ctr"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18181987" y="41553394"/>
            <a:ext cx="13909677" cy="2187419"/>
          </a:xfrm>
          <a:prstGeom prst="rect">
            <a:avLst/>
          </a:prstGeom>
          <a:noFill/>
          <a:ln>
            <a:noFill/>
          </a:ln>
        </p:spPr>
        <p:txBody>
          <a:bodyPr spcFirstLastPara="1" wrap="square" lIns="434700" tIns="217350" rIns="434700" bIns="217350" anchor="b" anchorCtr="0">
            <a:noAutofit/>
          </a:bodyPr>
          <a:lstStyle/>
          <a:p>
            <a:pPr marL="0" marR="0" lvl="0" indent="0" algn="r" rtl="0">
              <a:spcBef>
                <a:spcPts val="0"/>
              </a:spcBef>
              <a:spcAft>
                <a:spcPts val="0"/>
              </a:spcAft>
              <a:buNone/>
            </a:pPr>
            <a:fld id="{00000000-1234-1234-1234-123412341234}" type="slidenum">
              <a:rPr lang="en-US" sz="5700" b="0" i="0" u="none" strike="noStrike" cap="none">
                <a:solidFill>
                  <a:schemeClr val="dk1"/>
                </a:solidFill>
                <a:latin typeface="Arial"/>
                <a:ea typeface="Arial"/>
                <a:cs typeface="Arial"/>
                <a:sym typeface="Arial"/>
              </a:rPr>
              <a:t>‹#›</a:t>
            </a:fld>
            <a:endParaRPr sz="57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
        <p:cNvGrpSpPr/>
        <p:nvPr/>
      </p:nvGrpSpPr>
      <p:grpSpPr>
        <a:xfrm>
          <a:off x="0" y="0"/>
          <a:ext cx="0" cy="0"/>
          <a:chOff x="0" y="0"/>
          <a:chExt cx="0" cy="0"/>
        </a:xfrm>
      </p:grpSpPr>
      <p:sp>
        <p:nvSpPr>
          <p:cNvPr id="15" name="Google Shape;15;p1:notes"/>
          <p:cNvSpPr txBox="1">
            <a:spLocks noGrp="1"/>
          </p:cNvSpPr>
          <p:nvPr>
            <p:ph type="sldNum" idx="12"/>
          </p:nvPr>
        </p:nvSpPr>
        <p:spPr>
          <a:xfrm>
            <a:off x="18181987" y="41553394"/>
            <a:ext cx="13909677" cy="2187419"/>
          </a:xfrm>
          <a:prstGeom prst="rect">
            <a:avLst/>
          </a:prstGeom>
          <a:noFill/>
          <a:ln>
            <a:noFill/>
          </a:ln>
        </p:spPr>
        <p:txBody>
          <a:bodyPr spcFirstLastPara="1" wrap="square" lIns="434700" tIns="217350" rIns="434700" bIns="21735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16" name="Google Shape;16;p1:notes"/>
          <p:cNvSpPr>
            <a:spLocks noGrp="1" noRot="1" noChangeAspect="1"/>
          </p:cNvSpPr>
          <p:nvPr>
            <p:ph type="sldImg" idx="2"/>
          </p:nvPr>
        </p:nvSpPr>
        <p:spPr>
          <a:xfrm>
            <a:off x="5113338" y="3276600"/>
            <a:ext cx="21880512" cy="164099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 name="Google Shape;17;p1:notes"/>
          <p:cNvSpPr txBox="1">
            <a:spLocks noGrp="1"/>
          </p:cNvSpPr>
          <p:nvPr>
            <p:ph type="body" idx="1"/>
          </p:nvPr>
        </p:nvSpPr>
        <p:spPr>
          <a:xfrm>
            <a:off x="3209927" y="20784215"/>
            <a:ext cx="25679400" cy="19686744"/>
          </a:xfrm>
          <a:prstGeom prst="rect">
            <a:avLst/>
          </a:prstGeom>
          <a:noFill/>
          <a:ln>
            <a:noFill/>
          </a:ln>
        </p:spPr>
        <p:txBody>
          <a:bodyPr spcFirstLastPara="1" wrap="square" lIns="434700" tIns="217350" rIns="434700" bIns="21735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lt2"/>
        </a:solidFill>
        <a:effectLst/>
      </p:bgPr>
    </p:bg>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megaprint.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pic>
        <p:nvPicPr>
          <p:cNvPr id="10" name="Google Shape;10;p2">
            <a:hlinkClick r:id="rId3"/>
          </p:cNvPr>
          <p:cNvPicPr preferRelativeResize="0"/>
          <p:nvPr/>
        </p:nvPicPr>
        <p:blipFill rotWithShape="1">
          <a:blip r:embed="rId4">
            <a:alphaModFix/>
          </a:blip>
          <a:srcRect r="38726"/>
          <a:stretch/>
        </p:blipFill>
        <p:spPr>
          <a:xfrm>
            <a:off x="35828446" y="32395636"/>
            <a:ext cx="4141787" cy="212725"/>
          </a:xfrm>
          <a:prstGeom prst="rect">
            <a:avLst/>
          </a:prstGeom>
          <a:noFill/>
          <a:ln>
            <a:noFill/>
          </a:ln>
        </p:spPr>
      </p:pic>
      <p:sp>
        <p:nvSpPr>
          <p:cNvPr id="11" name="Google Shape;11;p2"/>
          <p:cNvSpPr txBox="1"/>
          <p:nvPr/>
        </p:nvSpPr>
        <p:spPr>
          <a:xfrm>
            <a:off x="39926520" y="32308800"/>
            <a:ext cx="238385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lt1"/>
                </a:solidFill>
                <a:latin typeface="Arial"/>
                <a:ea typeface="Arial"/>
                <a:cs typeface="Arial"/>
                <a:sym typeface="Arial"/>
              </a:rPr>
              <a:t>www.postersession.com</a:t>
            </a:r>
            <a:endParaRPr/>
          </a:p>
        </p:txBody>
      </p:sp>
      <p:sp>
        <p:nvSpPr>
          <p:cNvPr id="12" name="Google Shape;12;p2"/>
          <p:cNvSpPr txBox="1"/>
          <p:nvPr/>
        </p:nvSpPr>
        <p:spPr>
          <a:xfrm>
            <a:off x="-45027" y="32816720"/>
            <a:ext cx="482824" cy="1231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 b="1" u="none">
                <a:solidFill>
                  <a:srgbClr val="003064"/>
                </a:solidFill>
                <a:latin typeface="Arial"/>
                <a:ea typeface="Arial"/>
                <a:cs typeface="Arial"/>
                <a:sym typeface="Arial"/>
              </a:rPr>
              <a:t>www.postersession.com</a:t>
            </a:r>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3064"/>
            </a:gs>
            <a:gs pos="50000">
              <a:srgbClr val="EAEAEA"/>
            </a:gs>
            <a:gs pos="100000">
              <a:srgbClr val="003064"/>
            </a:gs>
          </a:gsLst>
          <a:lin ang="5400000" scaled="0"/>
        </a:gradFill>
        <a:effectLst/>
      </p:bgPr>
    </p:bg>
    <p:spTree>
      <p:nvGrpSpPr>
        <p:cNvPr id="1" name="Shape 18"/>
        <p:cNvGrpSpPr/>
        <p:nvPr/>
      </p:nvGrpSpPr>
      <p:grpSpPr>
        <a:xfrm>
          <a:off x="0" y="0"/>
          <a:ext cx="0" cy="0"/>
          <a:chOff x="0" y="0"/>
          <a:chExt cx="0" cy="0"/>
        </a:xfrm>
      </p:grpSpPr>
      <p:sp>
        <p:nvSpPr>
          <p:cNvPr id="19" name="Google Shape;19;p1"/>
          <p:cNvSpPr/>
          <p:nvPr/>
        </p:nvSpPr>
        <p:spPr>
          <a:xfrm>
            <a:off x="29287060" y="5993558"/>
            <a:ext cx="13852429" cy="25676486"/>
          </a:xfrm>
          <a:prstGeom prst="roundRect">
            <a:avLst>
              <a:gd name="adj" fmla="val 7000"/>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dk1"/>
              </a:solidFill>
              <a:latin typeface="Arial"/>
              <a:ea typeface="Arial"/>
              <a:cs typeface="Arial"/>
              <a:sym typeface="Arial"/>
            </a:endParaRPr>
          </a:p>
        </p:txBody>
      </p:sp>
      <p:sp>
        <p:nvSpPr>
          <p:cNvPr id="20" name="Google Shape;20;p1"/>
          <p:cNvSpPr/>
          <p:nvPr/>
        </p:nvSpPr>
        <p:spPr>
          <a:xfrm>
            <a:off x="14744962" y="5853670"/>
            <a:ext cx="14260854" cy="25859846"/>
          </a:xfrm>
          <a:prstGeom prst="roundRect">
            <a:avLst>
              <a:gd name="adj" fmla="val 7000"/>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dk1"/>
              </a:solidFill>
              <a:latin typeface="Arial"/>
              <a:ea typeface="Arial"/>
              <a:cs typeface="Arial"/>
              <a:sym typeface="Arial"/>
            </a:endParaRPr>
          </a:p>
        </p:txBody>
      </p:sp>
      <p:sp>
        <p:nvSpPr>
          <p:cNvPr id="21" name="Google Shape;21;p1"/>
          <p:cNvSpPr/>
          <p:nvPr/>
        </p:nvSpPr>
        <p:spPr>
          <a:xfrm>
            <a:off x="583221" y="5933768"/>
            <a:ext cx="13846200" cy="25779748"/>
          </a:xfrm>
          <a:prstGeom prst="roundRect">
            <a:avLst>
              <a:gd name="adj" fmla="val 7000"/>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dk1"/>
              </a:solidFill>
              <a:latin typeface="Arial"/>
              <a:ea typeface="Arial"/>
              <a:cs typeface="Arial"/>
              <a:sym typeface="Arial"/>
            </a:endParaRPr>
          </a:p>
        </p:txBody>
      </p:sp>
      <p:sp>
        <p:nvSpPr>
          <p:cNvPr id="22" name="Google Shape;22;p1"/>
          <p:cNvSpPr txBox="1"/>
          <p:nvPr/>
        </p:nvSpPr>
        <p:spPr>
          <a:xfrm>
            <a:off x="747079" y="12523557"/>
            <a:ext cx="13533000" cy="5823092"/>
          </a:xfrm>
          <a:prstGeom prst="rect">
            <a:avLst/>
          </a:prstGeom>
          <a:noFill/>
          <a:ln>
            <a:noFill/>
          </a:ln>
        </p:spPr>
        <p:txBody>
          <a:bodyPr spcFirstLastPara="1" wrap="square" lIns="91425" tIns="45700" rIns="91425" bIns="45700" anchor="t" anchorCtr="0">
            <a:spAutoFit/>
          </a:bodyPr>
          <a:lstStyle/>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In recent years, Large Language Models (LLMs) have shown remarkable success. Tools like ChatGPT, LLAMA &amp; other models have been explored for their potential in the legal domains. However, despite their potential, LLMs frequently generate hallucinated outputs &amp; answers that seem accurate but are actually incorrect or they are based on outdated information. This can be dangerous in the legal context, where accuracy &amp; up-to-date knowledge are critically important.</a:t>
            </a:r>
            <a:endParaRPr sz="2800" dirty="0">
              <a:solidFill>
                <a:schemeClr val="dk1"/>
              </a:solidFill>
              <a:latin typeface="Times New Roman"/>
              <a:ea typeface="Times New Roman"/>
              <a:cs typeface="Times New Roman"/>
              <a:sym typeface="Times New Roman"/>
            </a:endParaRPr>
          </a:p>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To address these limitations, we developed a Multi-Agent Retrieval-Augmented Generation (RAG) chatbot, tailored for Bangladeshi legal information retrieval. Our solution integrates curated datasets into a knowledge base designed to support factual retrieval. By utilizing </a:t>
            </a:r>
            <a:r>
              <a:rPr lang="en-US" sz="2800" dirty="0" err="1">
                <a:solidFill>
                  <a:schemeClr val="dk1"/>
                </a:solidFill>
                <a:latin typeface="Times New Roman"/>
                <a:ea typeface="Times New Roman"/>
                <a:cs typeface="Times New Roman"/>
                <a:sym typeface="Times New Roman"/>
              </a:rPr>
              <a:t>LangChain</a:t>
            </a:r>
            <a:r>
              <a:rPr lang="en-US" sz="2800" dirty="0">
                <a:solidFill>
                  <a:schemeClr val="dk1"/>
                </a:solidFill>
                <a:latin typeface="Times New Roman"/>
                <a:ea typeface="Times New Roman"/>
                <a:cs typeface="Times New Roman"/>
                <a:sym typeface="Times New Roman"/>
              </a:rPr>
              <a:t> &amp; LangGraph frameworks, the system introduces a multi-agent architecture. Furthermore, the system is equipped with a conditional web search mechanism to extend support when local resources are insufficient.</a:t>
            </a:r>
            <a:endParaRPr sz="2800" dirty="0">
              <a:solidFill>
                <a:schemeClr val="dk1"/>
              </a:solidFill>
              <a:latin typeface="Times New Roman"/>
              <a:ea typeface="Times New Roman"/>
              <a:cs typeface="Times New Roman"/>
              <a:sym typeface="Times New Roman"/>
            </a:endParaRPr>
          </a:p>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For user interaction, a </a:t>
            </a:r>
            <a:r>
              <a:rPr lang="en-US" sz="2800" dirty="0" err="1">
                <a:solidFill>
                  <a:schemeClr val="dk1"/>
                </a:solidFill>
                <a:latin typeface="Times New Roman"/>
                <a:ea typeface="Times New Roman"/>
                <a:cs typeface="Times New Roman"/>
                <a:sym typeface="Times New Roman"/>
              </a:rPr>
              <a:t>Streamlit</a:t>
            </a:r>
            <a:r>
              <a:rPr lang="en-US" sz="2800" dirty="0">
                <a:solidFill>
                  <a:schemeClr val="dk1"/>
                </a:solidFill>
                <a:latin typeface="Times New Roman"/>
                <a:ea typeface="Times New Roman"/>
                <a:cs typeface="Times New Roman"/>
                <a:sym typeface="Times New Roman"/>
              </a:rPr>
              <a:t>-based conversational interface was developed, allowing individuals to input queries &amp; get clear, relevant legal information in real time.</a:t>
            </a:r>
            <a:endParaRPr sz="2800" dirty="0"/>
          </a:p>
        </p:txBody>
      </p:sp>
      <p:sp>
        <p:nvSpPr>
          <p:cNvPr id="23" name="Google Shape;23;p1"/>
          <p:cNvSpPr/>
          <p:nvPr/>
        </p:nvSpPr>
        <p:spPr>
          <a:xfrm>
            <a:off x="556436" y="381000"/>
            <a:ext cx="42648964" cy="5257800"/>
          </a:xfrm>
          <a:prstGeom prst="roundRect">
            <a:avLst>
              <a:gd name="adj" fmla="val 10870"/>
            </a:avLst>
          </a:prstGeom>
          <a:solidFill>
            <a:srgbClr val="00206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Arial"/>
              <a:ea typeface="Arial"/>
              <a:cs typeface="Arial"/>
              <a:sym typeface="Arial"/>
            </a:endParaRPr>
          </a:p>
        </p:txBody>
      </p:sp>
      <p:sp>
        <p:nvSpPr>
          <p:cNvPr id="24" name="Google Shape;24;p1"/>
          <p:cNvSpPr txBox="1"/>
          <p:nvPr/>
        </p:nvSpPr>
        <p:spPr>
          <a:xfrm>
            <a:off x="5319945" y="1130234"/>
            <a:ext cx="32010826" cy="40318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b="1" dirty="0">
                <a:solidFill>
                  <a:schemeClr val="bg1"/>
                </a:solidFill>
                <a:latin typeface="Arial"/>
                <a:ea typeface="Arial"/>
                <a:cs typeface="Arial"/>
                <a:sym typeface="Arial"/>
              </a:rPr>
              <a:t>A Multi-Agent RAG system for Legal Information Retrieval in Bangladesh</a:t>
            </a:r>
            <a:br>
              <a:rPr lang="en-US" sz="6600" b="1" dirty="0">
                <a:solidFill>
                  <a:schemeClr val="bg1"/>
                </a:solidFill>
                <a:latin typeface="Arial"/>
                <a:ea typeface="Arial"/>
                <a:cs typeface="Arial"/>
                <a:sym typeface="Arial"/>
              </a:rPr>
            </a:br>
            <a:r>
              <a:rPr lang="en-US" sz="4800" b="1" dirty="0">
                <a:solidFill>
                  <a:schemeClr val="bg1"/>
                </a:solidFill>
                <a:latin typeface="Arial"/>
                <a:ea typeface="Arial"/>
                <a:cs typeface="Arial"/>
                <a:sym typeface="Arial"/>
              </a:rPr>
              <a:t>Abdullah Al Raiyan, Md. Sifat Haque Zidan, Rahil Mehnaz</a:t>
            </a:r>
            <a:endParaRPr sz="4800" b="1" dirty="0">
              <a:solidFill>
                <a:schemeClr val="bg1"/>
              </a:solidFill>
              <a:latin typeface="Arial"/>
              <a:ea typeface="Arial"/>
              <a:cs typeface="Arial"/>
              <a:sym typeface="Arial"/>
            </a:endParaRPr>
          </a:p>
          <a:p>
            <a:pPr marL="0" marR="0" lvl="0" indent="0" algn="ctr" rtl="0">
              <a:spcBef>
                <a:spcPts val="0"/>
              </a:spcBef>
              <a:spcAft>
                <a:spcPts val="0"/>
              </a:spcAft>
              <a:buNone/>
            </a:pPr>
            <a:r>
              <a:rPr lang="en-US" sz="4800" b="1" i="1" dirty="0">
                <a:solidFill>
                  <a:schemeClr val="bg1"/>
                </a:solidFill>
                <a:latin typeface="Arial"/>
                <a:ea typeface="Arial"/>
                <a:cs typeface="Arial"/>
                <a:sym typeface="Arial"/>
              </a:rPr>
              <a:t>Department of Electrical and Computer Engineering, North South University, Dhaka–1229, Bangladesh</a:t>
            </a:r>
            <a:endParaRPr sz="8600" dirty="0">
              <a:solidFill>
                <a:schemeClr val="bg1"/>
              </a:solidFill>
              <a:latin typeface="Arial"/>
              <a:ea typeface="Arial"/>
              <a:cs typeface="Arial"/>
              <a:sym typeface="Arial"/>
            </a:endParaRPr>
          </a:p>
        </p:txBody>
      </p:sp>
      <p:sp>
        <p:nvSpPr>
          <p:cNvPr id="25" name="Google Shape;25;p1"/>
          <p:cNvSpPr txBox="1"/>
          <p:nvPr/>
        </p:nvSpPr>
        <p:spPr>
          <a:xfrm>
            <a:off x="29576318" y="6963641"/>
            <a:ext cx="13339970" cy="3745833"/>
          </a:xfrm>
          <a:prstGeom prst="rect">
            <a:avLst/>
          </a:prstGeom>
          <a:noFill/>
          <a:ln>
            <a:noFill/>
          </a:ln>
        </p:spPr>
        <p:txBody>
          <a:bodyPr spcFirstLastPara="1" wrap="square" lIns="61150" tIns="30575" rIns="61150" bIns="30575" anchor="t" anchorCtr="0">
            <a:spAutoFit/>
          </a:bodyPr>
          <a:lstStyle/>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To assess the performance the evaluation is conducted using two distinct criteria: (1) </a:t>
            </a:r>
            <a:r>
              <a:rPr lang="en-US" sz="2800" dirty="0" err="1">
                <a:solidFill>
                  <a:schemeClr val="dk1"/>
                </a:solidFill>
                <a:latin typeface="Times New Roman"/>
                <a:ea typeface="Times New Roman"/>
                <a:cs typeface="Times New Roman"/>
                <a:sym typeface="Times New Roman"/>
              </a:rPr>
              <a:t>Deepeval</a:t>
            </a:r>
            <a:r>
              <a:rPr lang="en-US" sz="2800" dirty="0">
                <a:solidFill>
                  <a:schemeClr val="dk1"/>
                </a:solidFill>
                <a:latin typeface="Times New Roman"/>
                <a:ea typeface="Times New Roman"/>
                <a:cs typeface="Times New Roman"/>
                <a:sym typeface="Times New Roman"/>
              </a:rPr>
              <a:t> framework for automated evaluation &amp; (2) Evaluation by legal experts based on 15 questions formulated by the evaluators themselves.</a:t>
            </a:r>
            <a:endParaRPr sz="2800" dirty="0"/>
          </a:p>
          <a:p>
            <a:pPr marL="457200" marR="0" lvl="0" indent="-457200" algn="just" rtl="0">
              <a:lnSpc>
                <a:spcPct val="95000"/>
              </a:lnSpc>
              <a:spcBef>
                <a:spcPts val="0"/>
              </a:spcBef>
              <a:spcAft>
                <a:spcPts val="0"/>
              </a:spcAft>
              <a:buClr>
                <a:schemeClr val="dk1"/>
              </a:buClr>
              <a:buSzPts val="2500"/>
              <a:buFont typeface="Times New Roman"/>
              <a:buAutoNum type="arabicPeriod"/>
            </a:pPr>
            <a:r>
              <a:rPr lang="en-US" sz="2800" dirty="0">
                <a:solidFill>
                  <a:schemeClr val="dk1"/>
                </a:solidFill>
                <a:latin typeface="Times New Roman"/>
                <a:ea typeface="Times New Roman"/>
                <a:cs typeface="Times New Roman"/>
                <a:sym typeface="Times New Roman"/>
              </a:rPr>
              <a:t>System performance was quantitatively measured against baseline models on a set of 20 diverse legal queries representative of common concerns in Bangladesh. The </a:t>
            </a:r>
            <a:r>
              <a:rPr lang="en-US" sz="2800" dirty="0" err="1">
                <a:solidFill>
                  <a:schemeClr val="dk1"/>
                </a:solidFill>
                <a:latin typeface="Times New Roman"/>
                <a:ea typeface="Times New Roman"/>
                <a:cs typeface="Times New Roman"/>
                <a:sym typeface="Times New Roman"/>
              </a:rPr>
              <a:t>Deepeval</a:t>
            </a:r>
            <a:r>
              <a:rPr lang="en-US" sz="2800" dirty="0">
                <a:solidFill>
                  <a:schemeClr val="dk1"/>
                </a:solidFill>
                <a:latin typeface="Times New Roman"/>
                <a:ea typeface="Times New Roman"/>
                <a:cs typeface="Times New Roman"/>
                <a:sym typeface="Times New Roman"/>
              </a:rPr>
              <a:t> framework was employed to assess key RAG metrics: Answer Relevancy, Faithfulness, Contextual Precision, Contextual Relevancy, Correctness (GEval) &amp; Hallucination Score. 2 LLM models were used for this research work, GPT-40-mini &amp; Gemma3-4B run locally via </a:t>
            </a:r>
            <a:r>
              <a:rPr lang="en-US" sz="2800" dirty="0" err="1">
                <a:solidFill>
                  <a:schemeClr val="dk1"/>
                </a:solidFill>
                <a:latin typeface="Times New Roman"/>
                <a:ea typeface="Times New Roman"/>
                <a:cs typeface="Times New Roman"/>
                <a:sym typeface="Times New Roman"/>
              </a:rPr>
              <a:t>Ollama</a:t>
            </a:r>
            <a:r>
              <a:rPr lang="en-US" sz="2800" dirty="0">
                <a:solidFill>
                  <a:schemeClr val="dk1"/>
                </a:solidFill>
                <a:latin typeface="Times New Roman"/>
                <a:ea typeface="Times New Roman"/>
                <a:cs typeface="Times New Roman"/>
                <a:sym typeface="Times New Roman"/>
              </a:rPr>
              <a:t>. The comparison results are show in table 1 and 2.</a:t>
            </a:r>
            <a:endParaRPr sz="2800" dirty="0"/>
          </a:p>
        </p:txBody>
      </p:sp>
      <p:sp>
        <p:nvSpPr>
          <p:cNvPr id="26" name="Google Shape;26;p1"/>
          <p:cNvSpPr txBox="1"/>
          <p:nvPr/>
        </p:nvSpPr>
        <p:spPr>
          <a:xfrm>
            <a:off x="15132578" y="5933768"/>
            <a:ext cx="13626000" cy="2391896"/>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endParaRPr dirty="0"/>
          </a:p>
          <a:p>
            <a:pPr marL="457200" marR="0" lvl="0" indent="-457200" algn="just" rtl="0">
              <a:lnSpc>
                <a:spcPct val="90000"/>
              </a:lnSpc>
              <a:spcBef>
                <a:spcPts val="1250"/>
              </a:spcBef>
              <a:spcAft>
                <a:spcPts val="0"/>
              </a:spcAft>
              <a:buClr>
                <a:schemeClr val="dk1"/>
              </a:buClr>
              <a:buSzPts val="2500"/>
              <a:buFont typeface="Times New Roman"/>
              <a:buAutoNum type="alphaLcPeriod"/>
            </a:pPr>
            <a:r>
              <a:rPr lang="en-US" sz="2800" b="1" dirty="0">
                <a:solidFill>
                  <a:schemeClr val="dk1"/>
                </a:solidFill>
                <a:latin typeface="Times New Roman"/>
                <a:ea typeface="Times New Roman"/>
                <a:cs typeface="Times New Roman"/>
                <a:sym typeface="Times New Roman"/>
              </a:rPr>
              <a:t>Clarification Agent</a:t>
            </a:r>
            <a:r>
              <a:rPr lang="en-US" sz="2800" dirty="0">
                <a:solidFill>
                  <a:schemeClr val="dk1"/>
                </a:solidFill>
                <a:latin typeface="Times New Roman"/>
                <a:ea typeface="Times New Roman"/>
                <a:cs typeface="Times New Roman"/>
                <a:sym typeface="Times New Roman"/>
              </a:rPr>
              <a:t>: This agent serves as the initial point of contact. Its primary function is to ensure query quality and precision. It first assesses the user's initial query for ambiguity. If the query is unclear or lacks sufficient detail, the agent interactively generates and asks targeted follow-up questions to refine it before passing it to the main RAG agent.</a:t>
            </a:r>
            <a:endParaRPr sz="2800" dirty="0"/>
          </a:p>
        </p:txBody>
      </p:sp>
      <p:sp>
        <p:nvSpPr>
          <p:cNvPr id="27" name="Google Shape;27;p1"/>
          <p:cNvSpPr txBox="1"/>
          <p:nvPr/>
        </p:nvSpPr>
        <p:spPr>
          <a:xfrm>
            <a:off x="747127" y="7018352"/>
            <a:ext cx="13533000" cy="5413749"/>
          </a:xfrm>
          <a:prstGeom prst="rect">
            <a:avLst/>
          </a:prstGeom>
          <a:noFill/>
          <a:ln>
            <a:noFill/>
          </a:ln>
        </p:spPr>
        <p:txBody>
          <a:bodyPr spcFirstLastPara="1" wrap="square" lIns="91425" tIns="45700" rIns="91425" bIns="45700" anchor="t" anchorCtr="0">
            <a:spAutoFit/>
          </a:bodyPr>
          <a:lstStyle/>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Access to legal information presents a significant impediment in Bangladesh, where the populace lacks legal literacy &amp; access to professional counsel. This paper introduces a Multi-Agent Retrieval Augmented Generation (RAG) system specifically designed for Bangladeshi legal information retrieval. The system employs a novel two-agent architecture: a Clarification Agent that refines user queries through Large Language Model (LLM)-driven clarity assessment &amp; interactive questioning &amp; a primary RAG Agent. The RAG Agent executes a comprehensive process involving document retrieval from a curated legal corpus, relevance grading, conditional web search &amp; final answer synthesis. The multi-agent RAG pipeline is designed to improve the relevance &amp; contextual accuracy of responses to complex legal queries. A conversational interface built with </a:t>
            </a:r>
            <a:r>
              <a:rPr lang="en-US" sz="2800" dirty="0" err="1">
                <a:solidFill>
                  <a:schemeClr val="dk1"/>
                </a:solidFill>
                <a:latin typeface="Times New Roman"/>
                <a:ea typeface="Times New Roman"/>
                <a:cs typeface="Times New Roman"/>
                <a:sym typeface="Times New Roman"/>
              </a:rPr>
              <a:t>Streamlit</a:t>
            </a:r>
            <a:r>
              <a:rPr lang="en-US" sz="2800" dirty="0">
                <a:solidFill>
                  <a:schemeClr val="dk1"/>
                </a:solidFill>
                <a:latin typeface="Times New Roman"/>
                <a:ea typeface="Times New Roman"/>
                <a:cs typeface="Times New Roman"/>
                <a:sym typeface="Times New Roman"/>
              </a:rPr>
              <a:t> for real-time user interaction. The Agentic RAG model outperforms general legal bots (using GPT-4o-mini and Gemma 3B) on 20 diverse legal queries showing better contextual relevance, accuracy &amp; fewer hallucinations.</a:t>
            </a:r>
            <a:endParaRPr sz="2800" b="1" dirty="0">
              <a:solidFill>
                <a:schemeClr val="dk1"/>
              </a:solidFill>
              <a:latin typeface="Times New Roman"/>
              <a:ea typeface="Times New Roman"/>
              <a:cs typeface="Times New Roman"/>
              <a:sym typeface="Times New Roman"/>
            </a:endParaRPr>
          </a:p>
        </p:txBody>
      </p:sp>
      <p:sp>
        <p:nvSpPr>
          <p:cNvPr id="28" name="Google Shape;28;p1"/>
          <p:cNvSpPr txBox="1"/>
          <p:nvPr/>
        </p:nvSpPr>
        <p:spPr>
          <a:xfrm>
            <a:off x="14595620" y="11536778"/>
            <a:ext cx="14193600" cy="6449650"/>
          </a:xfrm>
          <a:prstGeom prst="rect">
            <a:avLst/>
          </a:prstGeom>
          <a:noFill/>
          <a:ln>
            <a:noFill/>
          </a:ln>
        </p:spPr>
        <p:txBody>
          <a:bodyPr spcFirstLastPara="1" wrap="square" lIns="61150" tIns="30575" rIns="61150" bIns="30575" anchor="t" anchorCtr="0">
            <a:spAutoFit/>
          </a:bodyPr>
          <a:lstStyle/>
          <a:p>
            <a:pPr marL="457200" marR="0" lvl="1" indent="0" algn="just" rtl="0">
              <a:lnSpc>
                <a:spcPct val="90000"/>
              </a:lnSpc>
              <a:spcBef>
                <a:spcPts val="0"/>
              </a:spcBef>
              <a:spcAft>
                <a:spcPts val="0"/>
              </a:spcAft>
              <a:buNone/>
            </a:pPr>
            <a:endParaRPr sz="2500" b="0" i="0" u="none" strike="noStrike" cap="none" dirty="0">
              <a:solidFill>
                <a:schemeClr val="dk1"/>
              </a:solidFill>
              <a:latin typeface="Times New Roman"/>
              <a:ea typeface="Times New Roman"/>
              <a:cs typeface="Times New Roman"/>
              <a:sym typeface="Times New Roman"/>
            </a:endParaRPr>
          </a:p>
          <a:p>
            <a:pPr marL="457200" marR="0" lvl="1" indent="0" algn="just" rtl="0">
              <a:lnSpc>
                <a:spcPct val="90000"/>
              </a:lnSpc>
              <a:spcBef>
                <a:spcPts val="1250"/>
              </a:spcBef>
              <a:spcAft>
                <a:spcPts val="0"/>
              </a:spcAft>
              <a:buNone/>
            </a:pPr>
            <a:r>
              <a:rPr lang="en-US" sz="2800" b="1" i="0" u="none" strike="noStrike" cap="none" dirty="0">
                <a:solidFill>
                  <a:schemeClr val="dk1"/>
                </a:solidFill>
                <a:latin typeface="Times New Roman"/>
                <a:ea typeface="Times New Roman"/>
                <a:cs typeface="Times New Roman"/>
                <a:sym typeface="Times New Roman"/>
              </a:rPr>
              <a:t>b. RAG Agent</a:t>
            </a:r>
            <a:r>
              <a:rPr lang="en-US" sz="2800" b="0" i="0" u="none" strike="noStrike" cap="none" dirty="0">
                <a:solidFill>
                  <a:schemeClr val="dk1"/>
                </a:solidFill>
                <a:latin typeface="Times New Roman"/>
                <a:ea typeface="Times New Roman"/>
                <a:cs typeface="Times New Roman"/>
                <a:sym typeface="Times New Roman"/>
              </a:rPr>
              <a:t>: This is the primary agent responsible for the core retrieval and generation process. It executes a comprehensive workflow upon receiving a clear query:</a:t>
            </a:r>
            <a:endParaRPr sz="2800" dirty="0"/>
          </a:p>
          <a:p>
            <a:pPr marL="914400" marR="0" lvl="1" indent="-457200" algn="just" rtl="0">
              <a:lnSpc>
                <a:spcPct val="90000"/>
              </a:lnSpc>
              <a:spcBef>
                <a:spcPts val="1250"/>
              </a:spcBef>
              <a:spcAft>
                <a:spcPts val="0"/>
              </a:spcAft>
              <a:buClr>
                <a:schemeClr val="dk1"/>
              </a:buClr>
              <a:buSzPts val="2500"/>
              <a:buFont typeface="Arial"/>
              <a:buChar char="•"/>
            </a:pPr>
            <a:r>
              <a:rPr lang="en-US" sz="2800" b="1" i="0" u="none" strike="noStrike" cap="none" dirty="0">
                <a:solidFill>
                  <a:schemeClr val="dk1"/>
                </a:solidFill>
                <a:latin typeface="Times New Roman"/>
                <a:ea typeface="Times New Roman"/>
                <a:cs typeface="Times New Roman"/>
                <a:sym typeface="Times New Roman"/>
              </a:rPr>
              <a:t>Query Rewriting: </a:t>
            </a:r>
            <a:r>
              <a:rPr lang="en-US" sz="2800" b="0" i="0" u="none" strike="noStrike" cap="none" dirty="0">
                <a:solidFill>
                  <a:schemeClr val="dk1"/>
                </a:solidFill>
                <a:latin typeface="Times New Roman"/>
                <a:ea typeface="Times New Roman"/>
                <a:cs typeface="Times New Roman"/>
                <a:sym typeface="Times New Roman"/>
              </a:rPr>
              <a:t>An LLM rewrites the user's query to optimize it for retrieval from both the vector database and potential web searches.</a:t>
            </a:r>
            <a:endParaRPr sz="2800" dirty="0"/>
          </a:p>
          <a:p>
            <a:pPr marL="914400" marR="0" lvl="1" indent="-457200" algn="just" rtl="0">
              <a:lnSpc>
                <a:spcPct val="90000"/>
              </a:lnSpc>
              <a:spcBef>
                <a:spcPts val="1250"/>
              </a:spcBef>
              <a:spcAft>
                <a:spcPts val="0"/>
              </a:spcAft>
              <a:buClr>
                <a:schemeClr val="dk1"/>
              </a:buClr>
              <a:buSzPts val="2500"/>
              <a:buFont typeface="Arial"/>
              <a:buChar char="•"/>
            </a:pPr>
            <a:r>
              <a:rPr lang="en-US" sz="2800" b="1" i="0" u="none" strike="noStrike" cap="none" dirty="0">
                <a:solidFill>
                  <a:schemeClr val="dk1"/>
                </a:solidFill>
                <a:latin typeface="Times New Roman"/>
                <a:ea typeface="Times New Roman"/>
                <a:cs typeface="Times New Roman"/>
                <a:sym typeface="Times New Roman"/>
              </a:rPr>
              <a:t>Document Retrieval: </a:t>
            </a:r>
            <a:r>
              <a:rPr lang="en-US" sz="2800" b="0" i="0" u="none" strike="noStrike" cap="none" dirty="0">
                <a:solidFill>
                  <a:schemeClr val="dk1"/>
                </a:solidFill>
                <a:latin typeface="Times New Roman"/>
                <a:ea typeface="Times New Roman"/>
                <a:cs typeface="Times New Roman"/>
                <a:sym typeface="Times New Roman"/>
              </a:rPr>
              <a:t>The agent retrieves the most relevant document chunks from the </a:t>
            </a:r>
            <a:r>
              <a:rPr lang="en-US" sz="2800" b="0" i="0" u="none" strike="noStrike" cap="none" dirty="0" err="1">
                <a:solidFill>
                  <a:schemeClr val="dk1"/>
                </a:solidFill>
                <a:latin typeface="Times New Roman"/>
                <a:ea typeface="Times New Roman"/>
                <a:cs typeface="Times New Roman"/>
                <a:sym typeface="Times New Roman"/>
              </a:rPr>
              <a:t>ChromaDB</a:t>
            </a:r>
            <a:r>
              <a:rPr lang="en-US" sz="2800" b="0" i="0" u="none" strike="noStrike" cap="none" dirty="0">
                <a:solidFill>
                  <a:schemeClr val="dk1"/>
                </a:solidFill>
                <a:latin typeface="Times New Roman"/>
                <a:ea typeface="Times New Roman"/>
                <a:cs typeface="Times New Roman"/>
                <a:sym typeface="Times New Roman"/>
              </a:rPr>
              <a:t> knowledge base.</a:t>
            </a:r>
            <a:endParaRPr sz="2800" dirty="0"/>
          </a:p>
          <a:p>
            <a:pPr marL="914400" marR="0" lvl="1" indent="-457200" algn="just" rtl="0">
              <a:lnSpc>
                <a:spcPct val="90000"/>
              </a:lnSpc>
              <a:spcBef>
                <a:spcPts val="1250"/>
              </a:spcBef>
              <a:spcAft>
                <a:spcPts val="0"/>
              </a:spcAft>
              <a:buClr>
                <a:schemeClr val="dk1"/>
              </a:buClr>
              <a:buSzPts val="2500"/>
              <a:buFont typeface="Arial"/>
              <a:buChar char="•"/>
            </a:pPr>
            <a:r>
              <a:rPr lang="en-US" sz="2800" b="1" i="0" u="none" strike="noStrike" cap="none" dirty="0">
                <a:solidFill>
                  <a:schemeClr val="dk1"/>
                </a:solidFill>
                <a:latin typeface="Times New Roman"/>
                <a:ea typeface="Times New Roman"/>
                <a:cs typeface="Times New Roman"/>
                <a:sym typeface="Times New Roman"/>
              </a:rPr>
              <a:t>Relevance Grading: </a:t>
            </a:r>
            <a:r>
              <a:rPr lang="en-US" sz="2800" b="0" i="0" u="none" strike="noStrike" cap="none" dirty="0">
                <a:solidFill>
                  <a:schemeClr val="dk1"/>
                </a:solidFill>
                <a:latin typeface="Times New Roman"/>
                <a:ea typeface="Times New Roman"/>
                <a:cs typeface="Times New Roman"/>
                <a:sym typeface="Times New Roman"/>
              </a:rPr>
              <a:t>A structured LLM-based grader evaluates the relevance of each retrieved document to filter out noise and ensure context quality.</a:t>
            </a:r>
            <a:endParaRPr sz="2800" dirty="0"/>
          </a:p>
          <a:p>
            <a:pPr marL="914400" marR="0" lvl="1" indent="-457200" algn="just" rtl="0">
              <a:lnSpc>
                <a:spcPct val="90000"/>
              </a:lnSpc>
              <a:spcBef>
                <a:spcPts val="1250"/>
              </a:spcBef>
              <a:spcAft>
                <a:spcPts val="0"/>
              </a:spcAft>
              <a:buClr>
                <a:schemeClr val="dk1"/>
              </a:buClr>
              <a:buSzPts val="2500"/>
              <a:buFont typeface="Arial"/>
              <a:buChar char="•"/>
            </a:pPr>
            <a:r>
              <a:rPr lang="en-US" sz="2800" b="1" i="0" u="none" strike="noStrike" cap="none" dirty="0">
                <a:solidFill>
                  <a:schemeClr val="dk1"/>
                </a:solidFill>
                <a:latin typeface="Times New Roman"/>
                <a:ea typeface="Times New Roman"/>
                <a:cs typeface="Times New Roman"/>
                <a:sym typeface="Times New Roman"/>
              </a:rPr>
              <a:t>Conditional Web Search: </a:t>
            </a:r>
            <a:r>
              <a:rPr lang="en-US" sz="2800" b="0" i="0" u="none" strike="noStrike" cap="none" dirty="0">
                <a:solidFill>
                  <a:schemeClr val="dk1"/>
                </a:solidFill>
                <a:latin typeface="Times New Roman"/>
                <a:ea typeface="Times New Roman"/>
                <a:cs typeface="Times New Roman"/>
                <a:sym typeface="Times New Roman"/>
              </a:rPr>
              <a:t>A key decision-making node (</a:t>
            </a:r>
            <a:r>
              <a:rPr lang="en-US" sz="2800" b="0" i="0" u="none" strike="noStrike" cap="none" dirty="0" err="1">
                <a:solidFill>
                  <a:schemeClr val="dk1"/>
                </a:solidFill>
                <a:latin typeface="Times New Roman"/>
                <a:ea typeface="Times New Roman"/>
                <a:cs typeface="Times New Roman"/>
                <a:sym typeface="Times New Roman"/>
              </a:rPr>
              <a:t>should_search</a:t>
            </a:r>
            <a:r>
              <a:rPr lang="en-US" sz="2800" b="0" i="0" u="none" strike="noStrike" cap="none" dirty="0">
                <a:solidFill>
                  <a:schemeClr val="dk1"/>
                </a:solidFill>
                <a:latin typeface="Times New Roman"/>
                <a:ea typeface="Times New Roman"/>
                <a:cs typeface="Times New Roman"/>
                <a:sym typeface="Times New Roman"/>
              </a:rPr>
              <a:t>) determines if the retrieved local context is sufficient. If not, the system triggers a real-time web search using the </a:t>
            </a:r>
            <a:r>
              <a:rPr lang="en-US" sz="2800" b="0" i="0" u="none" strike="noStrike" cap="none" dirty="0" err="1">
                <a:solidFill>
                  <a:schemeClr val="dk1"/>
                </a:solidFill>
                <a:latin typeface="Times New Roman"/>
                <a:ea typeface="Times New Roman"/>
                <a:cs typeface="Times New Roman"/>
                <a:sym typeface="Times New Roman"/>
              </a:rPr>
              <a:t>Tavily</a:t>
            </a:r>
            <a:r>
              <a:rPr lang="en-US" sz="2800" b="0" i="0" u="none" strike="noStrike" cap="none" dirty="0">
                <a:solidFill>
                  <a:schemeClr val="dk1"/>
                </a:solidFill>
                <a:latin typeface="Times New Roman"/>
                <a:ea typeface="Times New Roman"/>
                <a:cs typeface="Times New Roman"/>
                <a:sym typeface="Times New Roman"/>
              </a:rPr>
              <a:t> Search Tool to find supplementary information.</a:t>
            </a:r>
            <a:endParaRPr sz="2800" dirty="0"/>
          </a:p>
          <a:p>
            <a:pPr marL="914400" marR="0" lvl="1" indent="-457200" algn="just" rtl="0">
              <a:lnSpc>
                <a:spcPct val="90000"/>
              </a:lnSpc>
              <a:spcBef>
                <a:spcPts val="1250"/>
              </a:spcBef>
              <a:spcAft>
                <a:spcPts val="0"/>
              </a:spcAft>
              <a:buClr>
                <a:schemeClr val="dk1"/>
              </a:buClr>
              <a:buSzPts val="2500"/>
              <a:buFont typeface="Arial"/>
              <a:buChar char="•"/>
            </a:pPr>
            <a:r>
              <a:rPr lang="en-US" sz="2800" b="1" i="0" u="none" strike="noStrike" cap="none" dirty="0">
                <a:solidFill>
                  <a:schemeClr val="dk1"/>
                </a:solidFill>
                <a:latin typeface="Times New Roman"/>
                <a:ea typeface="Times New Roman"/>
                <a:cs typeface="Times New Roman"/>
                <a:sym typeface="Times New Roman"/>
              </a:rPr>
              <a:t>Answer Synthesis: </a:t>
            </a:r>
            <a:r>
              <a:rPr lang="en-US" sz="2800" b="0" i="0" u="none" strike="noStrike" cap="none" dirty="0">
                <a:solidFill>
                  <a:schemeClr val="dk1"/>
                </a:solidFill>
                <a:latin typeface="Times New Roman"/>
                <a:ea typeface="Times New Roman"/>
                <a:cs typeface="Times New Roman"/>
                <a:sym typeface="Times New Roman"/>
              </a:rPr>
              <a:t>Finally, a generative LLM synthesizes a comprehensive, factually grounded answer based on the retrieved, graded, and potentially web-augmented context.</a:t>
            </a:r>
            <a:endParaRPr sz="2800" dirty="0"/>
          </a:p>
        </p:txBody>
      </p:sp>
      <p:sp>
        <p:nvSpPr>
          <p:cNvPr id="29" name="Google Shape;29;p1"/>
          <p:cNvSpPr txBox="1"/>
          <p:nvPr/>
        </p:nvSpPr>
        <p:spPr>
          <a:xfrm>
            <a:off x="29543289" y="25330222"/>
            <a:ext cx="13339969" cy="6201890"/>
          </a:xfrm>
          <a:prstGeom prst="rect">
            <a:avLst/>
          </a:prstGeom>
          <a:noFill/>
          <a:ln>
            <a:noFill/>
          </a:ln>
        </p:spPr>
        <p:txBody>
          <a:bodyPr spcFirstLastPara="1" wrap="square" lIns="61150" tIns="30575" rIns="61150" bIns="30575" anchor="t" anchorCtr="0">
            <a:spAutoFit/>
          </a:bodyPr>
          <a:lstStyle/>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The development of our multi-agent RAG system marks a significant advancement in improving access to legal information in Bangladesh. Through a comparative evaluation against baseline models, our LangGraph-based architecture demonstrated clear performance gains over monolithic RAG systems. The core strength lies in the division of labor between a Clarification Agent and a RAG Agent, which led to notable improvements using the GPT-4o-mini model: +10.1% in Faithfulness, +8.7% in Correctness (GEval) &amp; 13.5% reduction in Hallucination. Each component query refinement, retrieval optimization, and noise filtering.</a:t>
            </a:r>
            <a:endParaRPr sz="2800" dirty="0"/>
          </a:p>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Human evaluators rated our system higher than ChatGPT-4o, with relative gains of 13–15%, underscoring the system’s effectiveness in domain-specific tasks like Bangladeshi legal queries.</a:t>
            </a:r>
            <a:endParaRPr sz="2800" dirty="0"/>
          </a:p>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Importantly, the architecture retained its advantages when paired with the locally deployed open-source Gemma3-4b model via </a:t>
            </a:r>
            <a:r>
              <a:rPr lang="en-US" sz="2800" dirty="0" err="1">
                <a:solidFill>
                  <a:schemeClr val="dk1"/>
                </a:solidFill>
                <a:latin typeface="Times New Roman"/>
                <a:ea typeface="Times New Roman"/>
                <a:cs typeface="Times New Roman"/>
                <a:sym typeface="Times New Roman"/>
              </a:rPr>
              <a:t>Ollama</a:t>
            </a:r>
            <a:r>
              <a:rPr lang="en-US" sz="2800" dirty="0">
                <a:solidFill>
                  <a:schemeClr val="dk1"/>
                </a:solidFill>
                <a:latin typeface="Times New Roman"/>
                <a:ea typeface="Times New Roman"/>
                <a:cs typeface="Times New Roman"/>
                <a:sym typeface="Times New Roman"/>
              </a:rPr>
              <a:t>, achieving a 14.4% improvement in Answer Relevancy over vanilla RAG. This confirms the model-agnostic nature of our approach and its suitability for cost-effective, privacy-preserving deployments in low-resource settings.</a:t>
            </a:r>
            <a:endParaRPr sz="2800" dirty="0"/>
          </a:p>
        </p:txBody>
      </p:sp>
      <p:pic>
        <p:nvPicPr>
          <p:cNvPr id="30" name="Google Shape;30;p1"/>
          <p:cNvPicPr preferRelativeResize="0"/>
          <p:nvPr/>
        </p:nvPicPr>
        <p:blipFill rotWithShape="1">
          <a:blip r:embed="rId3">
            <a:alphaModFix/>
          </a:blip>
          <a:srcRect/>
          <a:stretch/>
        </p:blipFill>
        <p:spPr>
          <a:xfrm>
            <a:off x="17460512" y="8306242"/>
            <a:ext cx="8970176" cy="2853752"/>
          </a:xfrm>
          <a:prstGeom prst="rect">
            <a:avLst/>
          </a:prstGeom>
          <a:noFill/>
          <a:ln>
            <a:noFill/>
          </a:ln>
        </p:spPr>
      </p:pic>
      <p:sp>
        <p:nvSpPr>
          <p:cNvPr id="31" name="Google Shape;31;p1"/>
          <p:cNvSpPr txBox="1"/>
          <p:nvPr/>
        </p:nvSpPr>
        <p:spPr>
          <a:xfrm>
            <a:off x="17403360" y="11305679"/>
            <a:ext cx="9242100" cy="523200"/>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Times New Roman"/>
                <a:ea typeface="Times New Roman"/>
                <a:cs typeface="Times New Roman"/>
                <a:sym typeface="Times New Roman"/>
              </a:rPr>
              <a:t>Figure 3: Clarification agent workflow</a:t>
            </a:r>
            <a:endParaRPr/>
          </a:p>
        </p:txBody>
      </p:sp>
      <p:pic>
        <p:nvPicPr>
          <p:cNvPr id="32" name="Google Shape;32;p1"/>
          <p:cNvPicPr preferRelativeResize="0"/>
          <p:nvPr/>
        </p:nvPicPr>
        <p:blipFill rotWithShape="1">
          <a:blip r:embed="rId4">
            <a:alphaModFix/>
          </a:blip>
          <a:srcRect/>
          <a:stretch/>
        </p:blipFill>
        <p:spPr>
          <a:xfrm>
            <a:off x="17094363" y="18070029"/>
            <a:ext cx="9412094" cy="2788732"/>
          </a:xfrm>
          <a:prstGeom prst="rect">
            <a:avLst/>
          </a:prstGeom>
          <a:noFill/>
          <a:ln>
            <a:noFill/>
          </a:ln>
        </p:spPr>
      </p:pic>
      <p:sp>
        <p:nvSpPr>
          <p:cNvPr id="33" name="Google Shape;33;p1"/>
          <p:cNvSpPr txBox="1"/>
          <p:nvPr/>
        </p:nvSpPr>
        <p:spPr>
          <a:xfrm>
            <a:off x="17420879" y="21182024"/>
            <a:ext cx="9388200" cy="523200"/>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Times New Roman"/>
                <a:ea typeface="Times New Roman"/>
                <a:cs typeface="Times New Roman"/>
                <a:sym typeface="Times New Roman"/>
              </a:rPr>
              <a:t>Figure 4: RAG agent workflow</a:t>
            </a:r>
            <a:endParaRPr/>
          </a:p>
        </p:txBody>
      </p:sp>
      <p:sp>
        <p:nvSpPr>
          <p:cNvPr id="34" name="Google Shape;34;p1"/>
          <p:cNvSpPr txBox="1"/>
          <p:nvPr/>
        </p:nvSpPr>
        <p:spPr>
          <a:xfrm>
            <a:off x="15142371" y="23357738"/>
            <a:ext cx="13606500" cy="2517804"/>
          </a:xfrm>
          <a:prstGeom prst="rect">
            <a:avLst/>
          </a:prstGeom>
          <a:noFill/>
          <a:ln>
            <a:noFill/>
          </a:ln>
        </p:spPr>
        <p:txBody>
          <a:bodyPr spcFirstLastPara="1" wrap="square" lIns="61150" tIns="30575" rIns="61150" bIns="30575" anchor="t" anchorCtr="0">
            <a:spAutoFit/>
          </a:bodyPr>
          <a:lstStyle/>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The system was developed to be flexible, utilizing OpenAI's GPT-4o mini for high-performance generation and the open-source Gemma-3:4b model (deployed locally via the </a:t>
            </a:r>
            <a:r>
              <a:rPr lang="en-US" sz="2800" dirty="0" err="1">
                <a:solidFill>
                  <a:schemeClr val="dk1"/>
                </a:solidFill>
                <a:latin typeface="Times New Roman"/>
                <a:ea typeface="Times New Roman"/>
                <a:cs typeface="Times New Roman"/>
                <a:sym typeface="Times New Roman"/>
              </a:rPr>
              <a:t>Ollama</a:t>
            </a:r>
            <a:r>
              <a:rPr lang="en-US" sz="2800" dirty="0">
                <a:solidFill>
                  <a:schemeClr val="dk1"/>
                </a:solidFill>
                <a:latin typeface="Times New Roman"/>
                <a:ea typeface="Times New Roman"/>
                <a:cs typeface="Times New Roman"/>
                <a:sym typeface="Times New Roman"/>
              </a:rPr>
              <a:t> framework) to demonstrate a cost-effective, scalable path.</a:t>
            </a:r>
            <a:endParaRPr sz="2800" dirty="0"/>
          </a:p>
          <a:p>
            <a:pPr marL="0" marR="0" lvl="0" indent="0" algn="just" rtl="0">
              <a:lnSpc>
                <a:spcPct val="95000"/>
              </a:lnSpc>
              <a:spcBef>
                <a:spcPts val="0"/>
              </a:spcBef>
              <a:spcAft>
                <a:spcPts val="0"/>
              </a:spcAft>
              <a:buNone/>
            </a:pPr>
            <a:r>
              <a:rPr lang="en-US" sz="2800" dirty="0">
                <a:solidFill>
                  <a:schemeClr val="dk1"/>
                </a:solidFill>
                <a:latin typeface="Times New Roman"/>
                <a:ea typeface="Times New Roman"/>
                <a:cs typeface="Times New Roman"/>
                <a:sym typeface="Times New Roman"/>
              </a:rPr>
              <a:t>A user-friendly conversational interface was built using </a:t>
            </a:r>
            <a:r>
              <a:rPr lang="en-US" sz="2800" dirty="0" err="1">
                <a:solidFill>
                  <a:schemeClr val="dk1"/>
                </a:solidFill>
                <a:latin typeface="Times New Roman"/>
                <a:ea typeface="Times New Roman"/>
                <a:cs typeface="Times New Roman"/>
                <a:sym typeface="Times New Roman"/>
              </a:rPr>
              <a:t>Streamlit</a:t>
            </a:r>
            <a:r>
              <a:rPr lang="en-US" sz="2800" dirty="0">
                <a:solidFill>
                  <a:schemeClr val="dk1"/>
                </a:solidFill>
                <a:latin typeface="Times New Roman"/>
                <a:ea typeface="Times New Roman"/>
                <a:cs typeface="Times New Roman"/>
                <a:sym typeface="Times New Roman"/>
              </a:rPr>
              <a:t> to facilitate accessible, real-time interaction. Figure 3 illustrates the combined operation of the clarification agent and the RAG agent.</a:t>
            </a:r>
            <a:endParaRPr sz="2800" dirty="0"/>
          </a:p>
        </p:txBody>
      </p:sp>
      <p:pic>
        <p:nvPicPr>
          <p:cNvPr id="35" name="Google Shape;35;p1"/>
          <p:cNvPicPr preferRelativeResize="0"/>
          <p:nvPr/>
        </p:nvPicPr>
        <p:blipFill rotWithShape="1">
          <a:blip r:embed="rId5">
            <a:alphaModFix/>
          </a:blip>
          <a:srcRect/>
          <a:stretch/>
        </p:blipFill>
        <p:spPr>
          <a:xfrm>
            <a:off x="16955361" y="25834790"/>
            <a:ext cx="9690099" cy="4343400"/>
          </a:xfrm>
          <a:prstGeom prst="rect">
            <a:avLst/>
          </a:prstGeom>
          <a:noFill/>
          <a:ln>
            <a:noFill/>
          </a:ln>
        </p:spPr>
      </p:pic>
      <p:sp>
        <p:nvSpPr>
          <p:cNvPr id="36" name="Google Shape;36;p1"/>
          <p:cNvSpPr txBox="1"/>
          <p:nvPr/>
        </p:nvSpPr>
        <p:spPr>
          <a:xfrm>
            <a:off x="17460512" y="30406790"/>
            <a:ext cx="9242100" cy="523200"/>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Times New Roman"/>
                <a:ea typeface="Times New Roman"/>
                <a:cs typeface="Times New Roman"/>
                <a:sym typeface="Times New Roman"/>
              </a:rPr>
              <a:t>Figure 5: Combined agent workflow</a:t>
            </a:r>
            <a:endParaRPr dirty="0"/>
          </a:p>
        </p:txBody>
      </p:sp>
      <p:pic>
        <p:nvPicPr>
          <p:cNvPr id="37" name="Google Shape;37;p1"/>
          <p:cNvPicPr preferRelativeResize="0"/>
          <p:nvPr/>
        </p:nvPicPr>
        <p:blipFill rotWithShape="1">
          <a:blip r:embed="rId6">
            <a:alphaModFix/>
          </a:blip>
          <a:srcRect/>
          <a:stretch/>
        </p:blipFill>
        <p:spPr>
          <a:xfrm>
            <a:off x="31361327" y="10681545"/>
            <a:ext cx="9832519" cy="3277506"/>
          </a:xfrm>
          <a:prstGeom prst="rect">
            <a:avLst/>
          </a:prstGeom>
          <a:noFill/>
          <a:ln>
            <a:noFill/>
          </a:ln>
        </p:spPr>
      </p:pic>
      <p:sp>
        <p:nvSpPr>
          <p:cNvPr id="38" name="Google Shape;38;p1"/>
          <p:cNvSpPr txBox="1"/>
          <p:nvPr/>
        </p:nvSpPr>
        <p:spPr>
          <a:xfrm>
            <a:off x="29607842" y="19997159"/>
            <a:ext cx="13339970" cy="923522"/>
          </a:xfrm>
          <a:prstGeom prst="rect">
            <a:avLst/>
          </a:prstGeom>
          <a:noFill/>
          <a:ln>
            <a:noFill/>
          </a:ln>
        </p:spPr>
        <p:txBody>
          <a:bodyPr spcFirstLastPara="1" wrap="square" lIns="61150" tIns="30575" rIns="61150" bIns="30575" anchor="t" anchorCtr="0">
            <a:spAutoFit/>
          </a:bodyPr>
          <a:lstStyle/>
          <a:p>
            <a:pPr marL="0" marR="0" lvl="0" indent="0" algn="just" rtl="0">
              <a:spcBef>
                <a:spcPts val="0"/>
              </a:spcBef>
              <a:spcAft>
                <a:spcPts val="0"/>
              </a:spcAft>
              <a:buNone/>
            </a:pPr>
            <a:r>
              <a:rPr lang="en-US" sz="2800" dirty="0">
                <a:solidFill>
                  <a:schemeClr val="dk1"/>
                </a:solidFill>
                <a:latin typeface="Times New Roman"/>
                <a:ea typeface="Times New Roman"/>
                <a:cs typeface="Times New Roman"/>
                <a:sym typeface="Times New Roman"/>
              </a:rPr>
              <a:t>2. For human evaluation, each evaluator rates responses on a 1–5 scale based on two criteria: correctness &amp; quality. Table 3 shows the scores assigned by the 2 expert evaluators.</a:t>
            </a:r>
            <a:endParaRPr sz="2800" dirty="0"/>
          </a:p>
        </p:txBody>
      </p:sp>
      <p:sp>
        <p:nvSpPr>
          <p:cNvPr id="39" name="Google Shape;39;p1"/>
          <p:cNvSpPr txBox="1"/>
          <p:nvPr/>
        </p:nvSpPr>
        <p:spPr>
          <a:xfrm>
            <a:off x="29299560" y="14149778"/>
            <a:ext cx="13723323" cy="861774"/>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Times New Roman"/>
                <a:ea typeface="Times New Roman"/>
                <a:cs typeface="Times New Roman"/>
                <a:sym typeface="Times New Roman"/>
              </a:rPr>
              <a:t>Table 1: Performance comparison of  proposed RAG system using GPT-4o-mini against the Vanilla RAG using GPT-4o-mini. </a:t>
            </a:r>
            <a:endParaRPr/>
          </a:p>
        </p:txBody>
      </p:sp>
      <p:sp>
        <p:nvSpPr>
          <p:cNvPr id="40" name="Google Shape;40;p1"/>
          <p:cNvSpPr txBox="1"/>
          <p:nvPr/>
        </p:nvSpPr>
        <p:spPr>
          <a:xfrm>
            <a:off x="29526040" y="19016347"/>
            <a:ext cx="13503574" cy="861774"/>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Times New Roman"/>
                <a:ea typeface="Times New Roman"/>
                <a:cs typeface="Times New Roman"/>
                <a:sym typeface="Times New Roman"/>
              </a:rPr>
              <a:t>Figure 6: Performance comparison of the proposed RAG system using Gemma3-4b against the Vanilla RAG using Gemma3-4b.</a:t>
            </a:r>
            <a:endParaRPr dirty="0"/>
          </a:p>
        </p:txBody>
      </p:sp>
      <p:pic>
        <p:nvPicPr>
          <p:cNvPr id="41" name="Google Shape;41;p1"/>
          <p:cNvPicPr preferRelativeResize="0"/>
          <p:nvPr/>
        </p:nvPicPr>
        <p:blipFill rotWithShape="1">
          <a:blip r:embed="rId7">
            <a:alphaModFix/>
          </a:blip>
          <a:srcRect/>
          <a:stretch/>
        </p:blipFill>
        <p:spPr>
          <a:xfrm>
            <a:off x="30068461" y="21139132"/>
            <a:ext cx="5916833" cy="2207506"/>
          </a:xfrm>
          <a:prstGeom prst="rect">
            <a:avLst/>
          </a:prstGeom>
          <a:noFill/>
          <a:ln>
            <a:noFill/>
          </a:ln>
        </p:spPr>
      </p:pic>
      <p:sp>
        <p:nvSpPr>
          <p:cNvPr id="42" name="Google Shape;42;p1"/>
          <p:cNvSpPr txBox="1"/>
          <p:nvPr/>
        </p:nvSpPr>
        <p:spPr>
          <a:xfrm>
            <a:off x="29932246" y="23385249"/>
            <a:ext cx="5635445" cy="830997"/>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Times New Roman"/>
                <a:ea typeface="Times New Roman"/>
                <a:cs typeface="Times New Roman"/>
                <a:sym typeface="Times New Roman"/>
              </a:rPr>
              <a:t>Table 2: Performance comparison of the proposed RAG system against chatGPT4o.</a:t>
            </a:r>
            <a:endParaRPr dirty="0"/>
          </a:p>
        </p:txBody>
      </p:sp>
      <p:pic>
        <p:nvPicPr>
          <p:cNvPr id="43" name="Google Shape;43;p1"/>
          <p:cNvPicPr preferRelativeResize="0"/>
          <p:nvPr/>
        </p:nvPicPr>
        <p:blipFill rotWithShape="1">
          <a:blip r:embed="rId8">
            <a:alphaModFix/>
          </a:blip>
          <a:srcRect t="4321"/>
          <a:stretch/>
        </p:blipFill>
        <p:spPr>
          <a:xfrm>
            <a:off x="31415509" y="15254146"/>
            <a:ext cx="9724636" cy="3582086"/>
          </a:xfrm>
          <a:prstGeom prst="rect">
            <a:avLst/>
          </a:prstGeom>
          <a:noFill/>
          <a:ln>
            <a:noFill/>
          </a:ln>
        </p:spPr>
      </p:pic>
      <p:pic>
        <p:nvPicPr>
          <p:cNvPr id="44" name="Google Shape;44;p1"/>
          <p:cNvPicPr preferRelativeResize="0"/>
          <p:nvPr/>
        </p:nvPicPr>
        <p:blipFill rotWithShape="1">
          <a:blip r:embed="rId9">
            <a:alphaModFix/>
          </a:blip>
          <a:srcRect/>
          <a:stretch/>
        </p:blipFill>
        <p:spPr>
          <a:xfrm>
            <a:off x="36630482" y="20972141"/>
            <a:ext cx="5635444" cy="2461836"/>
          </a:xfrm>
          <a:prstGeom prst="rect">
            <a:avLst/>
          </a:prstGeom>
          <a:noFill/>
          <a:ln>
            <a:noFill/>
          </a:ln>
        </p:spPr>
      </p:pic>
      <p:sp>
        <p:nvSpPr>
          <p:cNvPr id="45" name="Google Shape;45;p1"/>
          <p:cNvSpPr txBox="1"/>
          <p:nvPr/>
        </p:nvSpPr>
        <p:spPr>
          <a:xfrm>
            <a:off x="36200377" y="23485303"/>
            <a:ext cx="6363525" cy="830997"/>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Times New Roman"/>
                <a:ea typeface="Times New Roman"/>
                <a:cs typeface="Times New Roman"/>
                <a:sym typeface="Times New Roman"/>
              </a:rPr>
              <a:t>Figure 7: Performance comparison of the proposed RAG system against chatGPT4o.</a:t>
            </a:r>
            <a:endParaRPr sz="2400" dirty="0">
              <a:solidFill>
                <a:schemeClr val="dk1"/>
              </a:solidFill>
              <a:latin typeface="Times New Roman"/>
              <a:ea typeface="Times New Roman"/>
              <a:cs typeface="Times New Roman"/>
              <a:sym typeface="Times New Roman"/>
            </a:endParaRPr>
          </a:p>
        </p:txBody>
      </p:sp>
      <p:pic>
        <p:nvPicPr>
          <p:cNvPr id="46" name="Google Shape;46;p1"/>
          <p:cNvPicPr preferRelativeResize="0"/>
          <p:nvPr/>
        </p:nvPicPr>
        <p:blipFill rotWithShape="1">
          <a:blip r:embed="rId10">
            <a:alphaModFix/>
          </a:blip>
          <a:srcRect/>
          <a:stretch/>
        </p:blipFill>
        <p:spPr>
          <a:xfrm>
            <a:off x="2873467" y="25705368"/>
            <a:ext cx="9332718" cy="1261110"/>
          </a:xfrm>
          <a:prstGeom prst="rect">
            <a:avLst/>
          </a:prstGeom>
          <a:noFill/>
          <a:ln>
            <a:noFill/>
          </a:ln>
        </p:spPr>
      </p:pic>
      <p:sp>
        <p:nvSpPr>
          <p:cNvPr id="47" name="Google Shape;47;p1"/>
          <p:cNvSpPr txBox="1"/>
          <p:nvPr/>
        </p:nvSpPr>
        <p:spPr>
          <a:xfrm>
            <a:off x="33483523" y="31756791"/>
            <a:ext cx="9242036" cy="523220"/>
          </a:xfrm>
          <a:prstGeom prst="rect">
            <a:avLst/>
          </a:prstGeom>
          <a:noFill/>
          <a:ln>
            <a:noFill/>
          </a:ln>
          <a:effectLst>
            <a:outerShdw blurRad="50800" dist="38100" dir="2700000" algn="tl" rotWithShape="0">
              <a:srgbClr val="000000">
                <a:alpha val="24705"/>
              </a:srgbClr>
            </a:outerShdw>
          </a:effectLst>
        </p:spPr>
        <p:txBody>
          <a:bodyPr spcFirstLastPara="1" wrap="square" lIns="91425" tIns="45700" rIns="91425" bIns="45700" anchor="t" anchorCtr="0">
            <a:spAutoFit/>
          </a:bodyPr>
          <a:lstStyle/>
          <a:p>
            <a:pPr marL="0" marR="0" lvl="0" indent="0" algn="r" rtl="0">
              <a:spcBef>
                <a:spcPts val="0"/>
              </a:spcBef>
              <a:spcAft>
                <a:spcPts val="0"/>
              </a:spcAft>
              <a:buNone/>
            </a:pPr>
            <a:r>
              <a:rPr lang="en-US" sz="2800">
                <a:solidFill>
                  <a:schemeClr val="dk1"/>
                </a:solidFill>
                <a:latin typeface="Times New Roman"/>
                <a:ea typeface="Times New Roman"/>
                <a:cs typeface="Times New Roman"/>
                <a:sym typeface="Times New Roman"/>
              </a:rPr>
              <a:t>SUMMER 2025</a:t>
            </a:r>
            <a:endParaRPr/>
          </a:p>
        </p:txBody>
      </p:sp>
      <p:pic>
        <p:nvPicPr>
          <p:cNvPr id="49" name="Google Shape;49;p1"/>
          <p:cNvPicPr preferRelativeResize="0"/>
          <p:nvPr/>
        </p:nvPicPr>
        <p:blipFill rotWithShape="1">
          <a:blip r:embed="rId11">
            <a:alphaModFix/>
          </a:blip>
          <a:srcRect l="565" t="10065" r="298" b="6508"/>
          <a:stretch/>
        </p:blipFill>
        <p:spPr>
          <a:xfrm>
            <a:off x="5182380" y="20656165"/>
            <a:ext cx="4776388" cy="3642739"/>
          </a:xfrm>
          <a:prstGeom prst="rect">
            <a:avLst/>
          </a:prstGeom>
          <a:noFill/>
          <a:ln>
            <a:noFill/>
          </a:ln>
        </p:spPr>
      </p:pic>
      <p:sp>
        <p:nvSpPr>
          <p:cNvPr id="50" name="Google Shape;50;p1"/>
          <p:cNvSpPr txBox="1"/>
          <p:nvPr/>
        </p:nvSpPr>
        <p:spPr>
          <a:xfrm>
            <a:off x="757703" y="19405528"/>
            <a:ext cx="13606500" cy="1498831"/>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90000"/>
              </a:lnSpc>
              <a:spcBef>
                <a:spcPts val="0"/>
              </a:spcBef>
              <a:spcAft>
                <a:spcPts val="0"/>
              </a:spcAft>
              <a:buClr>
                <a:schemeClr val="dk1"/>
              </a:buClr>
              <a:buSzPts val="2500"/>
              <a:buFont typeface="Times New Roman"/>
              <a:buAutoNum type="arabicPeriod"/>
            </a:pPr>
            <a:r>
              <a:rPr lang="en-US" sz="2800" b="1" dirty="0">
                <a:solidFill>
                  <a:schemeClr val="dk1"/>
                </a:solidFill>
                <a:latin typeface="Times New Roman"/>
                <a:ea typeface="Times New Roman"/>
                <a:cs typeface="Times New Roman"/>
                <a:sym typeface="Times New Roman"/>
              </a:rPr>
              <a:t>Data collection</a:t>
            </a:r>
            <a:r>
              <a:rPr lang="en-US" sz="2800" dirty="0">
                <a:solidFill>
                  <a:schemeClr val="dk1"/>
                </a:solidFill>
                <a:latin typeface="Times New Roman"/>
                <a:ea typeface="Times New Roman"/>
                <a:cs typeface="Times New Roman"/>
                <a:sym typeface="Times New Roman"/>
              </a:rPr>
              <a:t>: Legal documents in PDF format were gathered from official sources, including Bangladesh Supreme Court judgments, Laws of Bangladesh &amp; articles from reputable legal blogs like BD Law Post and BD Law Help.</a:t>
            </a:r>
            <a:endParaRPr sz="2800" dirty="0"/>
          </a:p>
          <a:p>
            <a:pPr marL="0" marR="0" lvl="0" indent="0" algn="just" rtl="0">
              <a:lnSpc>
                <a:spcPct val="90000"/>
              </a:lnSpc>
              <a:spcBef>
                <a:spcPts val="600"/>
              </a:spcBef>
              <a:spcAft>
                <a:spcPts val="0"/>
              </a:spcAft>
              <a:buNone/>
            </a:pPr>
            <a:endParaRPr sz="1200" dirty="0">
              <a:solidFill>
                <a:schemeClr val="dk1"/>
              </a:solidFill>
              <a:latin typeface="Arial"/>
              <a:ea typeface="Arial"/>
              <a:cs typeface="Arial"/>
              <a:sym typeface="Arial"/>
            </a:endParaRPr>
          </a:p>
        </p:txBody>
      </p:sp>
      <p:sp>
        <p:nvSpPr>
          <p:cNvPr id="51" name="Google Shape;51;p1"/>
          <p:cNvSpPr txBox="1"/>
          <p:nvPr/>
        </p:nvSpPr>
        <p:spPr>
          <a:xfrm>
            <a:off x="2473725" y="24261075"/>
            <a:ext cx="10395600" cy="480300"/>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a:solidFill>
                  <a:schemeClr val="dk1"/>
                </a:solidFill>
                <a:latin typeface="Times New Roman"/>
                <a:ea typeface="Times New Roman"/>
                <a:cs typeface="Times New Roman"/>
                <a:sym typeface="Times New Roman"/>
              </a:rPr>
              <a:t>Figure 1: Distribution of legal documents in chatbot Knowlegde Base</a:t>
            </a:r>
            <a:endParaRPr/>
          </a:p>
        </p:txBody>
      </p:sp>
      <p:sp>
        <p:nvSpPr>
          <p:cNvPr id="52" name="Google Shape;52;p1"/>
          <p:cNvSpPr txBox="1"/>
          <p:nvPr/>
        </p:nvSpPr>
        <p:spPr>
          <a:xfrm>
            <a:off x="739850" y="24757475"/>
            <a:ext cx="13533000" cy="2947433"/>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dirty="0">
                <a:solidFill>
                  <a:schemeClr val="dk1"/>
                </a:solidFill>
                <a:latin typeface="Times New Roman"/>
                <a:ea typeface="Times New Roman"/>
                <a:cs typeface="Times New Roman"/>
                <a:sym typeface="Times New Roman"/>
              </a:rPr>
              <a:t>2. Data preparation: </a:t>
            </a:r>
            <a:r>
              <a:rPr lang="en-US" sz="2800" dirty="0">
                <a:solidFill>
                  <a:schemeClr val="dk1"/>
                </a:solidFill>
                <a:latin typeface="Times New Roman"/>
                <a:ea typeface="Times New Roman"/>
                <a:cs typeface="Times New Roman"/>
                <a:sym typeface="Times New Roman"/>
              </a:rPr>
              <a:t>The data  was processed python library </a:t>
            </a:r>
            <a:r>
              <a:rPr lang="en-US" sz="2800" dirty="0" err="1">
                <a:solidFill>
                  <a:schemeClr val="dk1"/>
                </a:solidFill>
                <a:latin typeface="Times New Roman"/>
                <a:ea typeface="Times New Roman"/>
                <a:cs typeface="Times New Roman"/>
                <a:sym typeface="Times New Roman"/>
              </a:rPr>
              <a:t>PyPDFLoaderDirectory</a:t>
            </a:r>
            <a:r>
              <a:rPr lang="en-US" sz="2800" dirty="0">
                <a:solidFill>
                  <a:schemeClr val="dk1"/>
                </a:solidFill>
                <a:latin typeface="Times New Roman"/>
                <a:ea typeface="Times New Roman"/>
                <a:cs typeface="Times New Roman"/>
                <a:sym typeface="Times New Roman"/>
              </a:rPr>
              <a:t> and its data extracted via recursive character text splitter technique.</a:t>
            </a:r>
            <a:endParaRPr sz="2800" dirty="0"/>
          </a:p>
          <a:p>
            <a:pPr marL="0" marR="0" lvl="0" indent="0" algn="just" rtl="0">
              <a:lnSpc>
                <a:spcPct val="90000"/>
              </a:lnSpc>
              <a:spcBef>
                <a:spcPts val="1250"/>
              </a:spcBef>
              <a:spcAft>
                <a:spcPts val="0"/>
              </a:spcAft>
              <a:buNone/>
            </a:pPr>
            <a:endParaRPr sz="2500" dirty="0">
              <a:solidFill>
                <a:schemeClr val="dk1"/>
              </a:solidFill>
              <a:latin typeface="Times New Roman"/>
              <a:ea typeface="Times New Roman"/>
              <a:cs typeface="Times New Roman"/>
              <a:sym typeface="Times New Roman"/>
            </a:endParaRPr>
          </a:p>
          <a:p>
            <a:pPr marL="0" marR="0" lvl="0" indent="0" algn="just" rtl="0">
              <a:lnSpc>
                <a:spcPct val="90000"/>
              </a:lnSpc>
              <a:spcBef>
                <a:spcPts val="1250"/>
              </a:spcBef>
              <a:spcAft>
                <a:spcPts val="0"/>
              </a:spcAft>
              <a:buNone/>
            </a:pPr>
            <a:endParaRPr sz="2500" dirty="0">
              <a:solidFill>
                <a:schemeClr val="dk1"/>
              </a:solidFill>
              <a:latin typeface="Times New Roman"/>
              <a:ea typeface="Times New Roman"/>
              <a:cs typeface="Times New Roman"/>
              <a:sym typeface="Times New Roman"/>
            </a:endParaRPr>
          </a:p>
          <a:p>
            <a:pPr marL="0" marR="0" lvl="0" indent="0" algn="just" rtl="0">
              <a:lnSpc>
                <a:spcPct val="90000"/>
              </a:lnSpc>
              <a:spcBef>
                <a:spcPts val="600"/>
              </a:spcBef>
              <a:spcAft>
                <a:spcPts val="0"/>
              </a:spcAft>
              <a:buNone/>
            </a:pPr>
            <a:endParaRPr sz="1200" dirty="0">
              <a:solidFill>
                <a:schemeClr val="dk1"/>
              </a:solidFill>
              <a:latin typeface="Arial"/>
              <a:ea typeface="Arial"/>
              <a:cs typeface="Arial"/>
              <a:sym typeface="Arial"/>
            </a:endParaRPr>
          </a:p>
          <a:p>
            <a:pPr marL="0" marR="0" lvl="0" indent="0" algn="just" rtl="0">
              <a:lnSpc>
                <a:spcPct val="90000"/>
              </a:lnSpc>
              <a:spcBef>
                <a:spcPts val="600"/>
              </a:spcBef>
              <a:spcAft>
                <a:spcPts val="0"/>
              </a:spcAft>
              <a:buNone/>
            </a:pPr>
            <a:r>
              <a:rPr lang="en-US" sz="1200" dirty="0">
                <a:solidFill>
                  <a:schemeClr val="dk1"/>
                </a:solidFill>
                <a:latin typeface="Arial"/>
                <a:ea typeface="Arial"/>
                <a:cs typeface="Arial"/>
                <a:sym typeface="Arial"/>
              </a:rPr>
              <a:t>                                                                              </a:t>
            </a:r>
            <a:endParaRPr sz="1200" dirty="0">
              <a:solidFill>
                <a:schemeClr val="dk1"/>
              </a:solidFill>
              <a:latin typeface="Times New Roman"/>
              <a:ea typeface="Times New Roman"/>
              <a:cs typeface="Times New Roman"/>
              <a:sym typeface="Times New Roman"/>
            </a:endParaRPr>
          </a:p>
          <a:p>
            <a:pPr marL="0" marR="0" lvl="0" indent="0" algn="just" rtl="0">
              <a:lnSpc>
                <a:spcPct val="90000"/>
              </a:lnSpc>
              <a:spcBef>
                <a:spcPts val="1400"/>
              </a:spcBef>
              <a:spcAft>
                <a:spcPts val="0"/>
              </a:spcAft>
              <a:buNone/>
            </a:pPr>
            <a:r>
              <a:rPr lang="en-US" sz="1200" dirty="0">
                <a:solidFill>
                  <a:schemeClr val="dk1"/>
                </a:solidFill>
                <a:latin typeface="Times New Roman"/>
                <a:ea typeface="Times New Roman"/>
                <a:cs typeface="Times New Roman"/>
                <a:sym typeface="Times New Roman"/>
              </a:rPr>
              <a:t>                                                                                                          </a:t>
            </a:r>
            <a:r>
              <a:rPr lang="en-US" sz="2800" dirty="0">
                <a:solidFill>
                  <a:schemeClr val="dk1"/>
                </a:solidFill>
                <a:latin typeface="Times New Roman"/>
                <a:ea typeface="Times New Roman"/>
                <a:cs typeface="Times New Roman"/>
                <a:sym typeface="Times New Roman"/>
              </a:rPr>
              <a:t>Figure 2: Data Preparation Workflow</a:t>
            </a:r>
            <a:endParaRPr dirty="0"/>
          </a:p>
        </p:txBody>
      </p:sp>
      <p:sp>
        <p:nvSpPr>
          <p:cNvPr id="53" name="Google Shape;53;p1"/>
          <p:cNvSpPr txBox="1"/>
          <p:nvPr/>
        </p:nvSpPr>
        <p:spPr>
          <a:xfrm>
            <a:off x="590479" y="18464634"/>
            <a:ext cx="13846200" cy="923400"/>
          </a:xfrm>
          <a:prstGeom prst="rect">
            <a:avLst/>
          </a:prstGeom>
          <a:solidFill>
            <a:srgbClr val="003064"/>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1" dirty="0">
                <a:solidFill>
                  <a:schemeClr val="lt1"/>
                </a:solidFill>
                <a:latin typeface="Arial"/>
                <a:ea typeface="Arial"/>
                <a:cs typeface="Arial"/>
                <a:sym typeface="Arial"/>
              </a:rPr>
              <a:t>Dataset &amp; Preprocessing</a:t>
            </a:r>
            <a:endParaRPr sz="5400" b="1" dirty="0">
              <a:solidFill>
                <a:schemeClr val="lt1"/>
              </a:solidFill>
              <a:latin typeface="Arial"/>
              <a:ea typeface="Arial"/>
              <a:cs typeface="Arial"/>
              <a:sym typeface="Arial"/>
            </a:endParaRPr>
          </a:p>
        </p:txBody>
      </p:sp>
      <p:sp>
        <p:nvSpPr>
          <p:cNvPr id="54" name="Google Shape;54;p1"/>
          <p:cNvSpPr txBox="1"/>
          <p:nvPr/>
        </p:nvSpPr>
        <p:spPr>
          <a:xfrm>
            <a:off x="1" y="31808117"/>
            <a:ext cx="43891200" cy="1015663"/>
          </a:xfrm>
          <a:prstGeom prst="rect">
            <a:avLst/>
          </a:prstGeom>
          <a:solidFill>
            <a:srgbClr val="003064"/>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dirty="0">
                <a:solidFill>
                  <a:schemeClr val="lt1"/>
                </a:solidFill>
                <a:latin typeface="Arial"/>
                <a:ea typeface="Arial"/>
                <a:cs typeface="Arial"/>
                <a:sym typeface="Arial"/>
              </a:rPr>
              <a:t>                                                                                                                                                                                SUMMER 2025</a:t>
            </a:r>
            <a:endParaRPr dirty="0"/>
          </a:p>
        </p:txBody>
      </p:sp>
      <p:sp>
        <p:nvSpPr>
          <p:cNvPr id="55" name="Google Shape;55;p1"/>
          <p:cNvSpPr txBox="1"/>
          <p:nvPr/>
        </p:nvSpPr>
        <p:spPr>
          <a:xfrm>
            <a:off x="14812070" y="21969635"/>
            <a:ext cx="14193600" cy="1015800"/>
          </a:xfrm>
          <a:prstGeom prst="rect">
            <a:avLst/>
          </a:prstGeom>
          <a:solidFill>
            <a:srgbClr val="003064"/>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a:solidFill>
                  <a:schemeClr val="lt1"/>
                </a:solidFill>
                <a:latin typeface="Arial"/>
                <a:ea typeface="Arial"/>
                <a:cs typeface="Arial"/>
                <a:sym typeface="Arial"/>
              </a:rPr>
              <a:t>Implementation</a:t>
            </a:r>
            <a:endParaRPr/>
          </a:p>
        </p:txBody>
      </p:sp>
      <p:sp>
        <p:nvSpPr>
          <p:cNvPr id="56" name="Google Shape;56;p1"/>
          <p:cNvSpPr/>
          <p:nvPr/>
        </p:nvSpPr>
        <p:spPr>
          <a:xfrm>
            <a:off x="36875810" y="2958771"/>
            <a:ext cx="6147073" cy="2541956"/>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800"/>
              <a:buFont typeface="Arial"/>
              <a:buNone/>
            </a:pPr>
            <a:r>
              <a:rPr lang="en-US" sz="4800" b="1" i="0" u="none" strike="noStrike" cap="none" dirty="0">
                <a:solidFill>
                  <a:schemeClr val="bg1"/>
                </a:solidFill>
                <a:latin typeface="Arial"/>
                <a:ea typeface="Arial"/>
                <a:cs typeface="Arial"/>
                <a:sym typeface="Arial"/>
              </a:rPr>
              <a:t>Supervisor </a:t>
            </a:r>
            <a:r>
              <a:rPr lang="en-US" sz="4800" b="1" dirty="0">
                <a:solidFill>
                  <a:schemeClr val="bg1"/>
                </a:solidFill>
                <a:latin typeface="Arial"/>
                <a:ea typeface="Arial"/>
                <a:cs typeface="Arial"/>
                <a:sym typeface="Arial"/>
              </a:rPr>
              <a:t>:</a:t>
            </a:r>
            <a:endParaRPr b="1" dirty="0">
              <a:solidFill>
                <a:schemeClr val="bg1"/>
              </a:solidFill>
            </a:endParaRPr>
          </a:p>
          <a:p>
            <a:pPr marL="0" marR="0" lvl="0" indent="0" algn="ctr" rtl="0">
              <a:spcBef>
                <a:spcPts val="0"/>
              </a:spcBef>
              <a:spcAft>
                <a:spcPts val="0"/>
              </a:spcAft>
              <a:buNone/>
            </a:pPr>
            <a:r>
              <a:rPr lang="en-US" sz="4400" b="1" dirty="0" err="1">
                <a:solidFill>
                  <a:schemeClr val="bg1"/>
                </a:solidFill>
                <a:latin typeface="Arial"/>
                <a:ea typeface="Arial"/>
                <a:cs typeface="Arial"/>
                <a:sym typeface="Arial"/>
              </a:rPr>
              <a:t>Rashedur</a:t>
            </a:r>
            <a:r>
              <a:rPr lang="en-US" sz="4400" b="1" dirty="0">
                <a:solidFill>
                  <a:schemeClr val="bg1"/>
                </a:solidFill>
                <a:latin typeface="Arial"/>
                <a:ea typeface="Arial"/>
                <a:cs typeface="Arial"/>
                <a:sym typeface="Arial"/>
              </a:rPr>
              <a:t> M. Rahman</a:t>
            </a:r>
            <a:endParaRPr sz="4400" b="1" dirty="0">
              <a:solidFill>
                <a:schemeClr val="bg1"/>
              </a:solidFill>
              <a:latin typeface="Arial"/>
              <a:ea typeface="Arial"/>
              <a:cs typeface="Arial"/>
              <a:sym typeface="Arial"/>
            </a:endParaRPr>
          </a:p>
        </p:txBody>
      </p:sp>
      <p:sp>
        <p:nvSpPr>
          <p:cNvPr id="57" name="Google Shape;57;p1"/>
          <p:cNvSpPr/>
          <p:nvPr/>
        </p:nvSpPr>
        <p:spPr>
          <a:xfrm>
            <a:off x="29287206" y="5853669"/>
            <a:ext cx="13918194" cy="1064776"/>
          </a:xfrm>
          <a:prstGeom prst="round2SameRect">
            <a:avLst>
              <a:gd name="adj1" fmla="val 16667"/>
              <a:gd name="adj2" fmla="val 0"/>
            </a:avLst>
          </a:prstGeom>
          <a:solidFill>
            <a:srgbClr val="003064"/>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a:solidFill>
                  <a:schemeClr val="lt1"/>
                </a:solidFill>
                <a:latin typeface="Arial"/>
                <a:ea typeface="Arial"/>
                <a:cs typeface="Arial"/>
                <a:sym typeface="Arial"/>
              </a:rPr>
              <a:t>Evaluation</a:t>
            </a:r>
            <a:endParaRPr/>
          </a:p>
        </p:txBody>
      </p:sp>
      <p:sp>
        <p:nvSpPr>
          <p:cNvPr id="58" name="Google Shape;58;p1"/>
          <p:cNvSpPr txBox="1"/>
          <p:nvPr/>
        </p:nvSpPr>
        <p:spPr>
          <a:xfrm>
            <a:off x="29326338" y="24314559"/>
            <a:ext cx="13839929" cy="1015663"/>
          </a:xfrm>
          <a:prstGeom prst="rect">
            <a:avLst/>
          </a:prstGeom>
          <a:solidFill>
            <a:srgbClr val="003064"/>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a:solidFill>
                  <a:schemeClr val="lt1"/>
                </a:solidFill>
                <a:latin typeface="Arial"/>
                <a:ea typeface="Arial"/>
                <a:cs typeface="Arial"/>
                <a:sym typeface="Arial"/>
              </a:rPr>
              <a:t>Conclusion</a:t>
            </a:r>
            <a:endParaRPr/>
          </a:p>
        </p:txBody>
      </p:sp>
      <p:sp>
        <p:nvSpPr>
          <p:cNvPr id="60" name="Google Shape;60;p1"/>
          <p:cNvSpPr txBox="1"/>
          <p:nvPr/>
        </p:nvSpPr>
        <p:spPr>
          <a:xfrm>
            <a:off x="583220" y="27766913"/>
            <a:ext cx="13846200" cy="1015800"/>
          </a:xfrm>
          <a:prstGeom prst="rect">
            <a:avLst/>
          </a:prstGeom>
          <a:solidFill>
            <a:srgbClr val="003064"/>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a:solidFill>
                  <a:schemeClr val="lt1"/>
                </a:solidFill>
                <a:latin typeface="Arial"/>
                <a:ea typeface="Arial"/>
                <a:cs typeface="Arial"/>
                <a:sym typeface="Arial"/>
              </a:rPr>
              <a:t>Methodology</a:t>
            </a:r>
            <a:endParaRPr/>
          </a:p>
        </p:txBody>
      </p:sp>
      <p:sp>
        <p:nvSpPr>
          <p:cNvPr id="61" name="Google Shape;61;p1"/>
          <p:cNvSpPr/>
          <p:nvPr/>
        </p:nvSpPr>
        <p:spPr>
          <a:xfrm>
            <a:off x="556436" y="5881558"/>
            <a:ext cx="13872984" cy="1119300"/>
          </a:xfrm>
          <a:prstGeom prst="round2SameRect">
            <a:avLst/>
          </a:prstGeom>
          <a:solidFill>
            <a:srgbClr val="003064"/>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6000" b="1">
                <a:solidFill>
                  <a:schemeClr val="lt1"/>
                </a:solidFill>
              </a:rPr>
              <a:t>Abstract</a:t>
            </a:r>
            <a:endParaRPr dirty="0"/>
          </a:p>
        </p:txBody>
      </p:sp>
      <p:sp>
        <p:nvSpPr>
          <p:cNvPr id="62" name="Google Shape;62;p1"/>
          <p:cNvSpPr txBox="1"/>
          <p:nvPr/>
        </p:nvSpPr>
        <p:spPr>
          <a:xfrm>
            <a:off x="747953" y="28920118"/>
            <a:ext cx="13626000" cy="2585796"/>
          </a:xfrm>
          <a:prstGeom prst="rect">
            <a:avLst/>
          </a:prstGeom>
          <a:noFill/>
          <a:ln>
            <a:noFill/>
          </a:ln>
        </p:spPr>
        <p:txBody>
          <a:bodyPr spcFirstLastPara="1" wrap="square" lIns="91425" tIns="45700" rIns="91425" bIns="45700" anchor="t" anchorCtr="0">
            <a:spAutoFit/>
          </a:bodyPr>
          <a:lstStyle/>
          <a:p>
            <a:pPr marL="0" marR="0" lvl="0" indent="0" algn="just" rtl="0">
              <a:lnSpc>
                <a:spcPct val="90000"/>
              </a:lnSpc>
              <a:spcBef>
                <a:spcPts val="0"/>
              </a:spcBef>
              <a:spcAft>
                <a:spcPts val="0"/>
              </a:spcAft>
              <a:buNone/>
            </a:pPr>
            <a:r>
              <a:rPr lang="en-US" sz="2800" b="1" dirty="0">
                <a:solidFill>
                  <a:schemeClr val="dk1"/>
                </a:solidFill>
                <a:latin typeface="Times New Roman"/>
                <a:ea typeface="Times New Roman"/>
                <a:cs typeface="Times New Roman"/>
                <a:sym typeface="Times New Roman"/>
              </a:rPr>
              <a:t>1. Vectorization &amp; Storage: </a:t>
            </a:r>
            <a:r>
              <a:rPr lang="en-US" sz="2800" dirty="0">
                <a:solidFill>
                  <a:schemeClr val="dk1"/>
                </a:solidFill>
                <a:latin typeface="Times New Roman"/>
                <a:ea typeface="Times New Roman"/>
                <a:cs typeface="Times New Roman"/>
                <a:sym typeface="Times New Roman"/>
              </a:rPr>
              <a:t>Each text chunk was converted into a high-dimensional vector representation using OpenAI Embeddings. These embeddings were then stored &amp; indexed in a local </a:t>
            </a:r>
            <a:r>
              <a:rPr lang="en-US" sz="2800" dirty="0" err="1">
                <a:solidFill>
                  <a:schemeClr val="dk1"/>
                </a:solidFill>
                <a:latin typeface="Times New Roman"/>
                <a:ea typeface="Times New Roman"/>
                <a:cs typeface="Times New Roman"/>
                <a:sym typeface="Times New Roman"/>
              </a:rPr>
              <a:t>ChromaDB</a:t>
            </a:r>
            <a:r>
              <a:rPr lang="en-US" sz="2800" dirty="0">
                <a:solidFill>
                  <a:schemeClr val="dk1"/>
                </a:solidFill>
                <a:latin typeface="Times New Roman"/>
                <a:ea typeface="Times New Roman"/>
                <a:cs typeface="Times New Roman"/>
                <a:sym typeface="Times New Roman"/>
              </a:rPr>
              <a:t> vector store, enabling efficient similarity search.</a:t>
            </a:r>
            <a:endParaRPr sz="2800" dirty="0"/>
          </a:p>
          <a:p>
            <a:pPr marL="0" marR="0" lvl="0" indent="0" algn="just" rtl="0">
              <a:lnSpc>
                <a:spcPct val="90000"/>
              </a:lnSpc>
              <a:spcBef>
                <a:spcPts val="1250"/>
              </a:spcBef>
              <a:spcAft>
                <a:spcPts val="0"/>
              </a:spcAft>
              <a:buNone/>
            </a:pPr>
            <a:r>
              <a:rPr lang="en-US" sz="2800" b="1" dirty="0">
                <a:solidFill>
                  <a:schemeClr val="dk1"/>
                </a:solidFill>
                <a:latin typeface="Times New Roman"/>
                <a:ea typeface="Times New Roman"/>
                <a:cs typeface="Times New Roman"/>
                <a:sym typeface="Times New Roman"/>
              </a:rPr>
              <a:t>2. Multi-Agent System with LangGraph: </a:t>
            </a:r>
            <a:r>
              <a:rPr lang="en-US" sz="2800" dirty="0">
                <a:solidFill>
                  <a:schemeClr val="dk1"/>
                </a:solidFill>
                <a:latin typeface="Times New Roman"/>
                <a:ea typeface="Times New Roman"/>
                <a:cs typeface="Times New Roman"/>
                <a:sym typeface="Times New Roman"/>
              </a:rPr>
              <a:t>The core of our system is a dual-agent architecture implemented using the LangGraph framework, which allows for cyclical &amp; conditional logic flows. This structure divides the task into two distinct roles:</a:t>
            </a:r>
            <a:endParaRPr sz="2800" dirty="0"/>
          </a:p>
        </p:txBody>
      </p:sp>
      <p:pic>
        <p:nvPicPr>
          <p:cNvPr id="3" name="Picture 2">
            <a:extLst>
              <a:ext uri="{FF2B5EF4-FFF2-40B4-BE49-F238E27FC236}">
                <a16:creationId xmlns:a16="http://schemas.microsoft.com/office/drawing/2014/main" id="{C347E57B-8926-B9A0-4720-5D941EC9FED2}"/>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574687"/>
            <a:ext cx="7386640" cy="4985259"/>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Custom 28">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1274</Words>
  <Application>Microsoft Office PowerPoint</Application>
  <PresentationFormat>Custom</PresentationFormat>
  <Paragraphs>51</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Ethan Shulda;www.postersession.com</dc:creator>
  <cp:lastModifiedBy>Sifat Haque Zidan</cp:lastModifiedBy>
  <cp:revision>6</cp:revision>
  <dcterms:created xsi:type="dcterms:W3CDTF">2008-12-04T00:20:37Z</dcterms:created>
  <dcterms:modified xsi:type="dcterms:W3CDTF">2025-08-12T12:55:07Z</dcterms:modified>
</cp:coreProperties>
</file>