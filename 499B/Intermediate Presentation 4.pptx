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Maven Pro" charset="1" panose="00000500000000000000"/>
      <p:regular r:id="rId23"/>
    </p:embeddedFont>
    <p:embeddedFont>
      <p:font typeface="Poppins" charset="1" panose="00000500000000000000"/>
      <p:regular r:id="rId24"/>
    </p:embeddedFont>
    <p:embeddedFont>
      <p:font typeface="TT Bluescreens Bold Italics" charset="1" panose="02000806040000090004"/>
      <p:regular r:id="rId25"/>
    </p:embeddedFont>
    <p:embeddedFont>
      <p:font typeface="Heading Now 61-68 Bold Italics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41923" y="-607464"/>
            <a:ext cx="3575078" cy="3575078"/>
          </a:xfrm>
          <a:custGeom>
            <a:avLst/>
            <a:gdLst/>
            <a:ahLst/>
            <a:cxnLst/>
            <a:rect r="r" b="b" t="t" l="l"/>
            <a:pathLst>
              <a:path h="3575078" w="3575078">
                <a:moveTo>
                  <a:pt x="0" y="0"/>
                </a:moveTo>
                <a:lnTo>
                  <a:pt x="3575077" y="0"/>
                </a:lnTo>
                <a:lnTo>
                  <a:pt x="3575077" y="3575078"/>
                </a:lnTo>
                <a:lnTo>
                  <a:pt x="0" y="357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3024" y="284053"/>
            <a:ext cx="2921953" cy="2921953"/>
          </a:xfrm>
          <a:custGeom>
            <a:avLst/>
            <a:gdLst/>
            <a:ahLst/>
            <a:cxnLst/>
            <a:rect r="r" b="b" t="t" l="l"/>
            <a:pathLst>
              <a:path h="2921953" w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4748" y="3867827"/>
            <a:ext cx="14861670" cy="198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0"/>
              </a:lnSpc>
              <a:spcBef>
                <a:spcPct val="0"/>
              </a:spcBef>
            </a:pPr>
            <a:r>
              <a:rPr lang="en-US" b="true" sz="5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MULTI-AGENT RAG SYSTEM FOR LEGAL INFORMATION RETRIEVAL IN BANGLADESH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05997" y="6341621"/>
            <a:ext cx="8706178" cy="2466782"/>
            <a:chOff x="0" y="0"/>
            <a:chExt cx="11608237" cy="328904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7625"/>
              <a:ext cx="11572662" cy="54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US" sz="29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60443"/>
              <a:ext cx="11572662" cy="54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US" sz="29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 MD. SIFAT HAQUE ZIDAN - 2212768042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63737"/>
              <a:ext cx="11572662" cy="512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7"/>
                </a:lnSpc>
              </a:pPr>
              <a:r>
                <a:rPr lang="en-US" sz="2757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75" y="2742307"/>
              <a:ext cx="11572662" cy="54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US" sz="29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063654" y="417351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7083" y="6945431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56369" y="350105"/>
            <a:ext cx="2459933" cy="3096025"/>
          </a:xfrm>
          <a:custGeom>
            <a:avLst/>
            <a:gdLst/>
            <a:ahLst/>
            <a:cxnLst/>
            <a:rect r="r" b="b" t="t" l="l"/>
            <a:pathLst>
              <a:path h="3096025" w="2459933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279520" y="6425273"/>
            <a:ext cx="3288094" cy="3288094"/>
          </a:xfrm>
          <a:custGeom>
            <a:avLst/>
            <a:gdLst/>
            <a:ahLst/>
            <a:cxnLst/>
            <a:rect r="r" b="b" t="t" l="l"/>
            <a:pathLst>
              <a:path h="3288094" w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2733" y="8130835"/>
            <a:ext cx="2352726" cy="2352726"/>
          </a:xfrm>
          <a:custGeom>
            <a:avLst/>
            <a:gdLst/>
            <a:ahLst/>
            <a:cxnLst/>
            <a:rect r="r" b="b" t="t" l="l"/>
            <a:pathLst>
              <a:path h="2352726" w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1753" y="-323579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0243" y="9114546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97835" y="1001845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9935" y="1642881"/>
            <a:ext cx="10082192" cy="819320"/>
            <a:chOff x="0" y="0"/>
            <a:chExt cx="13442923" cy="10924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RESULTS &amp; DISCUSSION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4779" y="1776402"/>
            <a:ext cx="2622804" cy="2957438"/>
          </a:xfrm>
          <a:custGeom>
            <a:avLst/>
            <a:gdLst/>
            <a:ahLst/>
            <a:cxnLst/>
            <a:rect r="r" b="b" t="t" l="l"/>
            <a:pathLst>
              <a:path h="2957438" w="2622804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11975" y="2531991"/>
            <a:ext cx="2801515" cy="1711471"/>
          </a:xfrm>
          <a:custGeom>
            <a:avLst/>
            <a:gdLst/>
            <a:ahLst/>
            <a:cxnLst/>
            <a:rect r="r" b="b" t="t" l="l"/>
            <a:pathLst>
              <a:path h="1711471" w="2801515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15395" y="3292477"/>
            <a:ext cx="9311273" cy="407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Multi-Agent RAG system successfully deployed for Bangladeshi legal queries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Evaluated using DeepEval framework &amp; expert human review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Outperforms GPT-4o-mini and Gemm</a:t>
            </a: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a-3B on accuracy, relevance, and faithfulness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2733" y="8130835"/>
            <a:ext cx="2352726" cy="2352726"/>
          </a:xfrm>
          <a:custGeom>
            <a:avLst/>
            <a:gdLst/>
            <a:ahLst/>
            <a:cxnLst/>
            <a:rect r="r" b="b" t="t" l="l"/>
            <a:pathLst>
              <a:path h="2352726" w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1753" y="-323579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0243" y="9114546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97835" y="1001845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492282" y="739506"/>
            <a:ext cx="10082192" cy="1410973"/>
            <a:chOff x="0" y="0"/>
            <a:chExt cx="13442923" cy="188129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881297"/>
              <a:chOff x="0" y="0"/>
              <a:chExt cx="3370336" cy="47166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471668"/>
              </a:xfrm>
              <a:custGeom>
                <a:avLst/>
                <a:gdLst/>
                <a:ahLst/>
                <a:cxnLst/>
                <a:rect r="r" b="b" t="t" l="l"/>
                <a:pathLst>
                  <a:path h="471668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471668"/>
                    </a:lnTo>
                    <a:lnTo>
                      <a:pt x="0" y="47166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519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1559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 OF CHATBOT EXAMPLE INTERACTION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72931" y="2052541"/>
            <a:ext cx="2622804" cy="2957438"/>
          </a:xfrm>
          <a:custGeom>
            <a:avLst/>
            <a:gdLst/>
            <a:ahLst/>
            <a:cxnLst/>
            <a:rect r="r" b="b" t="t" l="l"/>
            <a:pathLst>
              <a:path h="2957438" w="2622804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48799" y="1676256"/>
            <a:ext cx="2801515" cy="1711471"/>
          </a:xfrm>
          <a:custGeom>
            <a:avLst/>
            <a:gdLst/>
            <a:ahLst/>
            <a:cxnLst/>
            <a:rect r="r" b="b" t="t" l="l"/>
            <a:pathLst>
              <a:path h="1711471" w="2801515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78922" y="2531991"/>
            <a:ext cx="10708911" cy="7415539"/>
          </a:xfrm>
          <a:custGeom>
            <a:avLst/>
            <a:gdLst/>
            <a:ahLst/>
            <a:cxnLst/>
            <a:rect r="r" b="b" t="t" l="l"/>
            <a:pathLst>
              <a:path h="7415539" w="10708911">
                <a:moveTo>
                  <a:pt x="0" y="0"/>
                </a:moveTo>
                <a:lnTo>
                  <a:pt x="10708911" y="0"/>
                </a:lnTo>
                <a:lnTo>
                  <a:pt x="10708911" y="7415540"/>
                </a:lnTo>
                <a:lnTo>
                  <a:pt x="0" y="74155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69437" y="1805292"/>
            <a:ext cx="4549126" cy="107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b="true" sz="94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Evaluation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3049" y="3918614"/>
            <a:ext cx="12995821" cy="241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558" indent="-36727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Evaluation: DeepEval (LLM-as-a-Judge)</a:t>
            </a:r>
          </a:p>
          <a:p>
            <a:pPr algn="l" marL="734558" indent="-36727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Human Evaluation: 2 legal experts (lawyer + law student)</a:t>
            </a:r>
          </a:p>
          <a:p>
            <a:pPr algn="l" marL="734558" indent="-36727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 test queries + 15 custom legal questions</a:t>
            </a:r>
          </a:p>
          <a:p>
            <a:pPr algn="l" marL="734558" indent="-367279" lvl="1">
              <a:lnSpc>
                <a:spcPts val="4763"/>
              </a:lnSpc>
              <a:buFont typeface="Arial"/>
              <a:buChar char="•"/>
            </a:pPr>
            <a:r>
              <a:rPr lang="en-US" sz="34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Compared with Vanilla RAG and ChatGPT-4o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74450" y="1613158"/>
            <a:ext cx="9010494" cy="176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8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Proposed RAG vs. Vanilla RAG (GPT-4o-mini)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4869" y="4049736"/>
            <a:ext cx="9409658" cy="264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9327" indent="-399663" lvl="1">
              <a:lnSpc>
                <a:spcPts val="51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Improvemen</a:t>
            </a:r>
            <a:r>
              <a:rPr lang="en-US" b="true" sz="37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ts across 6 of 7 metrics</a:t>
            </a:r>
          </a:p>
          <a:p>
            <a:pPr algn="ctr" marL="799327" indent="-399663" lvl="1">
              <a:lnSpc>
                <a:spcPts val="51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+10.1% Faithfulness</a:t>
            </a:r>
          </a:p>
          <a:p>
            <a:pPr algn="ctr" marL="799327" indent="-399663" lvl="1">
              <a:lnSpc>
                <a:spcPts val="51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+8.7% Correctness</a:t>
            </a:r>
          </a:p>
          <a:p>
            <a:pPr algn="ctr" marL="799327" indent="-399663" lvl="1">
              <a:lnSpc>
                <a:spcPts val="51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−13.5% Hallucination Rate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20802" y="3378766"/>
            <a:ext cx="10380030" cy="5623319"/>
          </a:xfrm>
          <a:custGeom>
            <a:avLst/>
            <a:gdLst/>
            <a:ahLst/>
            <a:cxnLst/>
            <a:rect r="r" b="b" t="t" l="l"/>
            <a:pathLst>
              <a:path h="5623319" w="10380030">
                <a:moveTo>
                  <a:pt x="0" y="0"/>
                </a:moveTo>
                <a:lnTo>
                  <a:pt x="10380030" y="0"/>
                </a:lnTo>
                <a:lnTo>
                  <a:pt x="10380030" y="5623318"/>
                </a:lnTo>
                <a:lnTo>
                  <a:pt x="0" y="5623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26312" y="2114697"/>
            <a:ext cx="8169010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 chart comparing both models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99810" y="1390921"/>
            <a:ext cx="10996103" cy="199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Proposed RAG vs. Vanilla RAG (Gemma-3B via Ollama)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9017" y="5038725"/>
            <a:ext cx="9837688" cy="256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7737" indent="-388869" lvl="1">
              <a:lnSpc>
                <a:spcPts val="5043"/>
              </a:lnSpc>
              <a:buFont typeface="Arial"/>
              <a:buChar char="•"/>
            </a:pP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+14.4%</a:t>
            </a: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Answer </a:t>
            </a: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Relevancy</a:t>
            </a:r>
          </a:p>
          <a:p>
            <a:pPr algn="ctr" marL="777737" indent="-388869" lvl="1">
              <a:lnSpc>
                <a:spcPts val="5043"/>
              </a:lnSpc>
              <a:buFont typeface="Arial"/>
              <a:buChar char="•"/>
            </a:pP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+4.7% Contextual Recall</a:t>
            </a:r>
          </a:p>
          <a:p>
            <a:pPr algn="ctr" marL="777737" indent="-388869" lvl="1">
              <a:lnSpc>
                <a:spcPts val="5043"/>
              </a:lnSpc>
              <a:buFont typeface="Arial"/>
              <a:buChar char="•"/>
            </a:pP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−5% Hallucination Rate</a:t>
            </a:r>
          </a:p>
          <a:p>
            <a:pPr algn="ctr" marL="777737" indent="-388869" lvl="1">
              <a:lnSpc>
                <a:spcPts val="5043"/>
              </a:lnSpc>
              <a:buFont typeface="Arial"/>
              <a:buChar char="•"/>
            </a:pPr>
            <a:r>
              <a:rPr lang="en-US" b="true" sz="36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Maintains accuracy on local hardware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38858" y="3646254"/>
            <a:ext cx="10810284" cy="5825913"/>
          </a:xfrm>
          <a:custGeom>
            <a:avLst/>
            <a:gdLst/>
            <a:ahLst/>
            <a:cxnLst/>
            <a:rect r="r" b="b" t="t" l="l"/>
            <a:pathLst>
              <a:path h="5825913" w="10810284">
                <a:moveTo>
                  <a:pt x="0" y="0"/>
                </a:moveTo>
                <a:lnTo>
                  <a:pt x="10810284" y="0"/>
                </a:lnTo>
                <a:lnTo>
                  <a:pt x="10810284" y="5825912"/>
                </a:lnTo>
                <a:lnTo>
                  <a:pt x="0" y="58259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168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18082" y="1140660"/>
            <a:ext cx="10251835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Gemma-3B (Local)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58506" y="2610818"/>
            <a:ext cx="9570988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Bar char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showing performance comparison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65412" y="1405385"/>
            <a:ext cx="13157175" cy="6257950"/>
          </a:xfrm>
          <a:custGeom>
            <a:avLst/>
            <a:gdLst/>
            <a:ahLst/>
            <a:cxnLst/>
            <a:rect r="r" b="b" t="t" l="l"/>
            <a:pathLst>
              <a:path h="6257950" w="13157175">
                <a:moveTo>
                  <a:pt x="0" y="0"/>
                </a:moveTo>
                <a:lnTo>
                  <a:pt x="13157176" y="0"/>
                </a:lnTo>
                <a:lnTo>
                  <a:pt x="13157176" y="6257951"/>
                </a:lnTo>
                <a:lnTo>
                  <a:pt x="0" y="62579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786481"/>
            <a:ext cx="16230600" cy="117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comparison of the proposed RAG system using Gemma34b against the Vanilla RAG using Gemma3-4b.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76243" y="2953344"/>
            <a:ext cx="11335513" cy="6960885"/>
          </a:xfrm>
          <a:custGeom>
            <a:avLst/>
            <a:gdLst/>
            <a:ahLst/>
            <a:cxnLst/>
            <a:rect r="r" b="b" t="t" l="l"/>
            <a:pathLst>
              <a:path h="6960885" w="11335513">
                <a:moveTo>
                  <a:pt x="0" y="0"/>
                </a:moveTo>
                <a:lnTo>
                  <a:pt x="11335514" y="0"/>
                </a:lnTo>
                <a:lnTo>
                  <a:pt x="11335514" y="6960885"/>
                </a:lnTo>
                <a:lnTo>
                  <a:pt x="0" y="6960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28929" y="129739"/>
            <a:ext cx="4230142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Human Evaluation: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54414" y="653781"/>
            <a:ext cx="8379172" cy="214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8200" indent="-324100" lvl="1">
              <a:lnSpc>
                <a:spcPts val="4203"/>
              </a:lnSpc>
              <a:spcBef>
                <a:spcPct val="0"/>
              </a:spcBef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</a:t>
            </a: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evaluators rated responses (1–5 scale)</a:t>
            </a:r>
          </a:p>
          <a:p>
            <a:pPr algn="ctr" marL="648200" indent="-324100" lvl="1">
              <a:lnSpc>
                <a:spcPts val="4203"/>
              </a:lnSpc>
              <a:spcBef>
                <a:spcPct val="0"/>
              </a:spcBef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Proposed RAG scored 3.73 &amp; 3.67</a:t>
            </a:r>
          </a:p>
          <a:p>
            <a:pPr algn="ctr" marL="648200" indent="-324100" lvl="1">
              <a:lnSpc>
                <a:spcPts val="4203"/>
              </a:lnSpc>
              <a:spcBef>
                <a:spcPct val="0"/>
              </a:spcBef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ChatGPT-4o scored 3.60 &amp; 3.52</a:t>
            </a:r>
          </a:p>
          <a:p>
            <a:pPr algn="ctr" marL="648200" indent="-324100" lvl="1">
              <a:lnSpc>
                <a:spcPts val="4203"/>
              </a:lnSpc>
              <a:spcBef>
                <a:spcPct val="0"/>
              </a:spcBef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~15% improvement overall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25362" y="2953344"/>
            <a:ext cx="9115453" cy="5267466"/>
          </a:xfrm>
          <a:custGeom>
            <a:avLst/>
            <a:gdLst/>
            <a:ahLst/>
            <a:cxnLst/>
            <a:rect r="r" b="b" t="t" l="l"/>
            <a:pathLst>
              <a:path h="5267466" w="9115453">
                <a:moveTo>
                  <a:pt x="0" y="0"/>
                </a:moveTo>
                <a:lnTo>
                  <a:pt x="9115453" y="0"/>
                </a:lnTo>
                <a:lnTo>
                  <a:pt x="9115453" y="5267466"/>
                </a:lnTo>
                <a:lnTo>
                  <a:pt x="0" y="5267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37494" y="1588280"/>
            <a:ext cx="6491189" cy="5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Legal Expert Evaluation Rubric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76551" y="963358"/>
            <a:ext cx="3396828" cy="2884216"/>
          </a:xfrm>
          <a:custGeom>
            <a:avLst/>
            <a:gdLst/>
            <a:ahLst/>
            <a:cxnLst/>
            <a:rect r="r" b="b" t="t" l="l"/>
            <a:pathLst>
              <a:path h="2884216" w="3396828">
                <a:moveTo>
                  <a:pt x="0" y="0"/>
                </a:moveTo>
                <a:lnTo>
                  <a:pt x="3396828" y="0"/>
                </a:lnTo>
                <a:lnTo>
                  <a:pt x="3396828" y="2884216"/>
                </a:lnTo>
                <a:lnTo>
                  <a:pt x="0" y="28842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549182" y="885825"/>
            <a:ext cx="5189637" cy="86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3"/>
              </a:lnSpc>
              <a:spcBef>
                <a:spcPct val="0"/>
              </a:spcBef>
            </a:pPr>
            <a:r>
              <a:rPr lang="en-US" b="true" sz="48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Expert Feedback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4182" y="3838049"/>
            <a:ext cx="15103376" cy="291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Evaluator 1 (Lawyer):</a:t>
            </a:r>
          </a:p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ChatGPT relied on US laws; Proposed RAG provided Bangladeshi context.</a:t>
            </a:r>
          </a:p>
          <a:p>
            <a:pPr algn="ctr">
              <a:lnSpc>
                <a:spcPts val="4623"/>
              </a:lnSpc>
              <a:spcBef>
                <a:spcPct val="0"/>
              </a:spcBef>
            </a:pPr>
          </a:p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Evaluator 2 (Law Student):</a:t>
            </a:r>
          </a:p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improves accuracy but simplify legal jargon for users.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5291" y="1367049"/>
            <a:ext cx="15057419" cy="7252150"/>
          </a:xfrm>
          <a:custGeom>
            <a:avLst/>
            <a:gdLst/>
            <a:ahLst/>
            <a:cxnLst/>
            <a:rect r="r" b="b" t="t" l="l"/>
            <a:pathLst>
              <a:path h="7252150" w="15057419">
                <a:moveTo>
                  <a:pt x="0" y="0"/>
                </a:moveTo>
                <a:lnTo>
                  <a:pt x="15057418" y="0"/>
                </a:lnTo>
                <a:lnTo>
                  <a:pt x="15057418" y="7252150"/>
                </a:lnTo>
                <a:lnTo>
                  <a:pt x="0" y="7252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10" b="-3085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634565" y="898852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573443" y="2219792"/>
            <a:ext cx="11141114" cy="702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working chatbot was built, tested &amp; validated on both GPT-4o &amp; Gemma3. The evaluation confirms accuracy &amp; relevance.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Multi-agent architecture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+ Rewriting + Relevance Grading 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Proven effective across models (cloud &amp; local)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risk of misinformation in legal advice</a:t>
            </a:r>
          </a:p>
          <a:p>
            <a:pPr algn="l">
              <a:lnSpc>
                <a:spcPts val="50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08683" y="8510359"/>
            <a:ext cx="1979874" cy="1979874"/>
          </a:xfrm>
          <a:custGeom>
            <a:avLst/>
            <a:gdLst/>
            <a:ahLst/>
            <a:cxnLst/>
            <a:rect r="r" b="b" t="t" l="l"/>
            <a:pathLst>
              <a:path h="1979874" w="1979874">
                <a:moveTo>
                  <a:pt x="0" y="0"/>
                </a:moveTo>
                <a:lnTo>
                  <a:pt x="1979874" y="0"/>
                </a:lnTo>
                <a:lnTo>
                  <a:pt x="1979874" y="1979874"/>
                </a:lnTo>
                <a:lnTo>
                  <a:pt x="0" y="1979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7558" y="8331921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2"/>
                </a:lnTo>
                <a:lnTo>
                  <a:pt x="0" y="225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34565" y="898852"/>
            <a:ext cx="11018869" cy="1030616"/>
            <a:chOff x="0" y="0"/>
            <a:chExt cx="14691826" cy="13741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 WORLD IMPACT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44000" y="5436598"/>
            <a:ext cx="7364683" cy="4438329"/>
          </a:xfrm>
          <a:custGeom>
            <a:avLst/>
            <a:gdLst/>
            <a:ahLst/>
            <a:cxnLst/>
            <a:rect r="r" b="b" t="t" l="l"/>
            <a:pathLst>
              <a:path h="4438329" w="7364683">
                <a:moveTo>
                  <a:pt x="0" y="0"/>
                </a:moveTo>
                <a:lnTo>
                  <a:pt x="7364683" y="0"/>
                </a:lnTo>
                <a:lnTo>
                  <a:pt x="7364683" y="4438330"/>
                </a:lnTo>
                <a:lnTo>
                  <a:pt x="0" y="44383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0421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74985" y="5725884"/>
            <a:ext cx="6855753" cy="4149044"/>
          </a:xfrm>
          <a:custGeom>
            <a:avLst/>
            <a:gdLst/>
            <a:ahLst/>
            <a:cxnLst/>
            <a:rect r="r" b="b" t="t" l="l"/>
            <a:pathLst>
              <a:path h="4149044" w="6855753">
                <a:moveTo>
                  <a:pt x="0" y="0"/>
                </a:moveTo>
                <a:lnTo>
                  <a:pt x="6855752" y="0"/>
                </a:lnTo>
                <a:lnTo>
                  <a:pt x="6855752" y="4149044"/>
                </a:lnTo>
                <a:lnTo>
                  <a:pt x="0" y="4149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11716" b="-337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73443" y="2219792"/>
            <a:ext cx="11141114" cy="383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accessible, localized legal information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cost via Ollama local deployment</a:t>
            </a:r>
          </a:p>
          <a:p>
            <a:pPr algn="l" marL="782838" indent="-391419" lvl="1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Demonstrates privacy-safe solution for developing regions</a:t>
            </a:r>
          </a:p>
          <a:p>
            <a:pPr algn="l">
              <a:lnSpc>
                <a:spcPts val="50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3985" y="3514819"/>
            <a:ext cx="15540031" cy="3812596"/>
            <a:chOff x="0" y="0"/>
            <a:chExt cx="20720041" cy="50834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42900"/>
              <a:ext cx="20720041" cy="3706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b="true" sz="16579" i="true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123323"/>
              <a:ext cx="19888281" cy="296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b="true" sz="13278" i="true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DAG218vHoGk</dc:identifier>
  <dcterms:modified xsi:type="dcterms:W3CDTF">2011-08-01T06:04:30Z</dcterms:modified>
  <cp:revision>1</cp:revision>
  <dc:title>Intermediate Presentation 4</dc:title>
</cp:coreProperties>
</file>