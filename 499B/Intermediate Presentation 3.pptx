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Heading Now 61-68 Bold Italics" panose="020B0604020202020204" charset="0"/>
      <p:regular r:id="rId19"/>
    </p:embeddedFont>
    <p:embeddedFont>
      <p:font typeface="Maven Pro" panose="020B0604020202020204" charset="0"/>
      <p:regular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oppins Bold" panose="020B0604020202020204" charset="0"/>
      <p:regular r:id="rId25"/>
      <p:bold r:id="rId26"/>
    </p:embeddedFont>
    <p:embeddedFont>
      <p:font typeface="TT Bluescreens" panose="020B0604020202020204" charset="0"/>
      <p:regular r:id="rId27"/>
    </p:embeddedFont>
    <p:embeddedFont>
      <p:font typeface="TT Bluescreens Bold" panose="020B0604020202020204" charset="0"/>
      <p:regular r:id="rId28"/>
    </p:embeddedFont>
    <p:embeddedFont>
      <p:font typeface="TT Bluescreens Bold Italics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E11C99-51C1-48D6-9A67-3535BEBBDA6C}" v="14" dt="2025-10-25T23:38:44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119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0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8.svg"/><Relationship Id="rId5" Type="http://schemas.openxmlformats.org/officeDocument/2006/relationships/image" Target="../media/image4.sv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0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8.svg"/><Relationship Id="rId5" Type="http://schemas.openxmlformats.org/officeDocument/2006/relationships/image" Target="../media/image4.sv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27.png"/><Relationship Id="rId17" Type="http://schemas.openxmlformats.org/officeDocument/2006/relationships/image" Target="../media/image32.svg"/><Relationship Id="rId2" Type="http://schemas.openxmlformats.org/officeDocument/2006/relationships/image" Target="../media/image1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5" Type="http://schemas.openxmlformats.org/officeDocument/2006/relationships/image" Target="../media/image30.svg"/><Relationship Id="rId10" Type="http://schemas.openxmlformats.org/officeDocument/2006/relationships/image" Target="../media/image21.png"/><Relationship Id="rId19" Type="http://schemas.openxmlformats.org/officeDocument/2006/relationships/image" Target="../media/image34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17097" y="6905253"/>
            <a:ext cx="4146846" cy="4146846"/>
          </a:xfrm>
          <a:custGeom>
            <a:avLst/>
            <a:gdLst/>
            <a:ahLst/>
            <a:cxnLst/>
            <a:rect l="l" t="t" r="r" b="b"/>
            <a:pathLst>
              <a:path w="4146846" h="4146846">
                <a:moveTo>
                  <a:pt x="0" y="0"/>
                </a:moveTo>
                <a:lnTo>
                  <a:pt x="4146846" y="0"/>
                </a:lnTo>
                <a:lnTo>
                  <a:pt x="4146846" y="4146846"/>
                </a:lnTo>
                <a:lnTo>
                  <a:pt x="0" y="4146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777330" y="-997654"/>
            <a:ext cx="4203660" cy="4203660"/>
          </a:xfrm>
          <a:custGeom>
            <a:avLst/>
            <a:gdLst/>
            <a:ahLst/>
            <a:cxnLst/>
            <a:rect l="l" t="t" r="r" b="b"/>
            <a:pathLst>
              <a:path w="4203660" h="4203660">
                <a:moveTo>
                  <a:pt x="0" y="0"/>
                </a:moveTo>
                <a:lnTo>
                  <a:pt x="4203660" y="0"/>
                </a:lnTo>
                <a:lnTo>
                  <a:pt x="4203660" y="4203659"/>
                </a:lnTo>
                <a:lnTo>
                  <a:pt x="0" y="4203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700000">
            <a:off x="16572282" y="2286577"/>
            <a:ext cx="4983320" cy="4983320"/>
          </a:xfrm>
          <a:custGeom>
            <a:avLst/>
            <a:gdLst/>
            <a:ahLst/>
            <a:cxnLst/>
            <a:rect l="l" t="t" r="r" b="b"/>
            <a:pathLst>
              <a:path w="4983320" h="4983320">
                <a:moveTo>
                  <a:pt x="0" y="0"/>
                </a:moveTo>
                <a:lnTo>
                  <a:pt x="4983321" y="0"/>
                </a:lnTo>
                <a:lnTo>
                  <a:pt x="4983321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41923" y="-607464"/>
            <a:ext cx="3575078" cy="3575078"/>
          </a:xfrm>
          <a:custGeom>
            <a:avLst/>
            <a:gdLst/>
            <a:ahLst/>
            <a:cxnLst/>
            <a:rect l="l" t="t" r="r" b="b"/>
            <a:pathLst>
              <a:path w="3575078" h="3575078">
                <a:moveTo>
                  <a:pt x="0" y="0"/>
                </a:moveTo>
                <a:lnTo>
                  <a:pt x="3575077" y="0"/>
                </a:lnTo>
                <a:lnTo>
                  <a:pt x="3575077" y="3575078"/>
                </a:lnTo>
                <a:lnTo>
                  <a:pt x="0" y="3575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 flipH="1" flipV="1">
            <a:off x="-3268990" y="2930197"/>
            <a:ext cx="4983320" cy="4983320"/>
          </a:xfrm>
          <a:custGeom>
            <a:avLst/>
            <a:gdLst/>
            <a:ahLst/>
            <a:cxnLst/>
            <a:rect l="l" t="t" r="r" b="b"/>
            <a:pathLst>
              <a:path w="4983320" h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657501" y="-1718612"/>
            <a:ext cx="2686201" cy="2656897"/>
          </a:xfrm>
          <a:custGeom>
            <a:avLst/>
            <a:gdLst/>
            <a:ahLst/>
            <a:cxnLst/>
            <a:rect l="l" t="t" r="r" b="b"/>
            <a:pathLst>
              <a:path w="2686201" h="2656897">
                <a:moveTo>
                  <a:pt x="0" y="0"/>
                </a:moveTo>
                <a:lnTo>
                  <a:pt x="2686201" y="0"/>
                </a:lnTo>
                <a:lnTo>
                  <a:pt x="2686201" y="2656897"/>
                </a:lnTo>
                <a:lnTo>
                  <a:pt x="0" y="2656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228479" y="9239037"/>
            <a:ext cx="2119043" cy="2095926"/>
          </a:xfrm>
          <a:custGeom>
            <a:avLst/>
            <a:gdLst/>
            <a:ahLst/>
            <a:cxnLst/>
            <a:rect l="l" t="t" r="r" b="b"/>
            <a:pathLst>
              <a:path w="2119043" h="2095926">
                <a:moveTo>
                  <a:pt x="0" y="0"/>
                </a:moveTo>
                <a:lnTo>
                  <a:pt x="2119042" y="0"/>
                </a:lnTo>
                <a:lnTo>
                  <a:pt x="2119042" y="2095926"/>
                </a:lnTo>
                <a:lnTo>
                  <a:pt x="0" y="20959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24084" y="1314448"/>
            <a:ext cx="1911810" cy="232893"/>
          </a:xfrm>
          <a:custGeom>
            <a:avLst/>
            <a:gdLst/>
            <a:ahLst/>
            <a:cxnLst/>
            <a:rect l="l" t="t" r="r" b="b"/>
            <a:pathLst>
              <a:path w="1911810" h="232893">
                <a:moveTo>
                  <a:pt x="0" y="0"/>
                </a:moveTo>
                <a:lnTo>
                  <a:pt x="1911810" y="0"/>
                </a:lnTo>
                <a:lnTo>
                  <a:pt x="1911810" y="232893"/>
                </a:lnTo>
                <a:lnTo>
                  <a:pt x="0" y="232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061055" y="8576182"/>
            <a:ext cx="1911810" cy="232893"/>
          </a:xfrm>
          <a:custGeom>
            <a:avLst/>
            <a:gdLst/>
            <a:ahLst/>
            <a:cxnLst/>
            <a:rect l="l" t="t" r="r" b="b"/>
            <a:pathLst>
              <a:path w="1911810" h="232893">
                <a:moveTo>
                  <a:pt x="0" y="0"/>
                </a:moveTo>
                <a:lnTo>
                  <a:pt x="1911810" y="0"/>
                </a:lnTo>
                <a:lnTo>
                  <a:pt x="1911810" y="232893"/>
                </a:lnTo>
                <a:lnTo>
                  <a:pt x="0" y="232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683024" y="284053"/>
            <a:ext cx="2921953" cy="2921953"/>
          </a:xfrm>
          <a:custGeom>
            <a:avLst/>
            <a:gdLst/>
            <a:ahLst/>
            <a:cxnLst/>
            <a:rect l="l" t="t" r="r" b="b"/>
            <a:pathLst>
              <a:path w="2921953" h="2921953">
                <a:moveTo>
                  <a:pt x="0" y="0"/>
                </a:moveTo>
                <a:lnTo>
                  <a:pt x="2921952" y="0"/>
                </a:lnTo>
                <a:lnTo>
                  <a:pt x="2921952" y="2921952"/>
                </a:lnTo>
                <a:lnTo>
                  <a:pt x="0" y="29219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934748" y="3867827"/>
            <a:ext cx="14861670" cy="1983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0"/>
              </a:lnSpc>
              <a:spcBef>
                <a:spcPct val="0"/>
              </a:spcBef>
            </a:pPr>
            <a:r>
              <a:rPr lang="en-US" sz="556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 MULTI-AGENT RAG SYSTEM FOR LEGAL INFORMATION RETRIEVAL IN BANGLADESH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805997" y="6341621"/>
            <a:ext cx="8706178" cy="2406971"/>
            <a:chOff x="0" y="0"/>
            <a:chExt cx="11608237" cy="3209295"/>
          </a:xfrm>
        </p:grpSpPr>
        <p:sp>
          <p:nvSpPr>
            <p:cNvPr id="14" name="TextBox 14"/>
            <p:cNvSpPr txBox="1"/>
            <p:nvPr/>
          </p:nvSpPr>
          <p:spPr>
            <a:xfrm>
              <a:off x="0" y="38100"/>
              <a:ext cx="11572662" cy="5344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8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Presented by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29075"/>
              <a:ext cx="11572662" cy="5344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8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 MD. SIFAT HAQUE ZIDAN - 2212768042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820051"/>
              <a:ext cx="11572662" cy="4982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4"/>
                </a:lnSpc>
              </a:pPr>
              <a:r>
                <a:rPr lang="en-US" sz="2644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ABDULLAH AL RAIYAN - 2212712042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575" y="2674877"/>
              <a:ext cx="11572662" cy="5344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8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RAHIL MEHNAZ - 2121843042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2063654" y="417351"/>
            <a:ext cx="3473014" cy="2961533"/>
          </a:xfrm>
          <a:custGeom>
            <a:avLst/>
            <a:gdLst/>
            <a:ahLst/>
            <a:cxnLst/>
            <a:rect l="l" t="t" r="r" b="b"/>
            <a:pathLst>
              <a:path w="3473014" h="2961533">
                <a:moveTo>
                  <a:pt x="0" y="0"/>
                </a:moveTo>
                <a:lnTo>
                  <a:pt x="3473014" y="0"/>
                </a:lnTo>
                <a:lnTo>
                  <a:pt x="3473014" y="2961533"/>
                </a:lnTo>
                <a:lnTo>
                  <a:pt x="0" y="29615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37083" y="6945431"/>
            <a:ext cx="3172777" cy="2823772"/>
          </a:xfrm>
          <a:custGeom>
            <a:avLst/>
            <a:gdLst/>
            <a:ahLst/>
            <a:cxnLst/>
            <a:rect l="l" t="t" r="r" b="b"/>
            <a:pathLst>
              <a:path w="3172777" h="2823772">
                <a:moveTo>
                  <a:pt x="0" y="0"/>
                </a:moveTo>
                <a:lnTo>
                  <a:pt x="3172778" y="0"/>
                </a:lnTo>
                <a:lnTo>
                  <a:pt x="3172778" y="2823772"/>
                </a:lnTo>
                <a:lnTo>
                  <a:pt x="0" y="28237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556369" y="350105"/>
            <a:ext cx="2459933" cy="3096025"/>
          </a:xfrm>
          <a:custGeom>
            <a:avLst/>
            <a:gdLst/>
            <a:ahLst/>
            <a:cxnLst/>
            <a:rect l="l" t="t" r="r" b="b"/>
            <a:pathLst>
              <a:path w="2459933" h="3096025">
                <a:moveTo>
                  <a:pt x="0" y="0"/>
                </a:moveTo>
                <a:lnTo>
                  <a:pt x="2459933" y="0"/>
                </a:lnTo>
                <a:lnTo>
                  <a:pt x="2459933" y="3096025"/>
                </a:lnTo>
                <a:lnTo>
                  <a:pt x="0" y="3096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279520" y="6425273"/>
            <a:ext cx="3288094" cy="3288094"/>
          </a:xfrm>
          <a:custGeom>
            <a:avLst/>
            <a:gdLst/>
            <a:ahLst/>
            <a:cxnLst/>
            <a:rect l="l" t="t" r="r" b="b"/>
            <a:pathLst>
              <a:path w="3288094" h="3288094">
                <a:moveTo>
                  <a:pt x="0" y="0"/>
                </a:moveTo>
                <a:lnTo>
                  <a:pt x="3288094" y="0"/>
                </a:lnTo>
                <a:lnTo>
                  <a:pt x="3288094" y="3288094"/>
                </a:lnTo>
                <a:lnTo>
                  <a:pt x="0" y="32880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22293" y="7720315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407596" y="-429062"/>
            <a:ext cx="2749161" cy="2749161"/>
          </a:xfrm>
          <a:custGeom>
            <a:avLst/>
            <a:gdLst/>
            <a:ahLst/>
            <a:cxnLst/>
            <a:rect l="l" t="t" r="r" b="b"/>
            <a:pathLst>
              <a:path w="2749161" h="2749161">
                <a:moveTo>
                  <a:pt x="0" y="0"/>
                </a:moveTo>
                <a:lnTo>
                  <a:pt x="2749161" y="0"/>
                </a:lnTo>
                <a:lnTo>
                  <a:pt x="2749161" y="2749160"/>
                </a:lnTo>
                <a:lnTo>
                  <a:pt x="0" y="2749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12733" y="8130835"/>
            <a:ext cx="2352726" cy="2352726"/>
          </a:xfrm>
          <a:custGeom>
            <a:avLst/>
            <a:gdLst/>
            <a:ahLst/>
            <a:cxnLst/>
            <a:rect l="l" t="t" r="r" b="b"/>
            <a:pathLst>
              <a:path w="2352726" h="2352726">
                <a:moveTo>
                  <a:pt x="0" y="0"/>
                </a:moveTo>
                <a:lnTo>
                  <a:pt x="2352726" y="0"/>
                </a:lnTo>
                <a:lnTo>
                  <a:pt x="2352726" y="2352727"/>
                </a:lnTo>
                <a:lnTo>
                  <a:pt x="0" y="2352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251753" y="-323579"/>
            <a:ext cx="2376120" cy="2376120"/>
          </a:xfrm>
          <a:custGeom>
            <a:avLst/>
            <a:gdLst/>
            <a:ahLst/>
            <a:cxnLst/>
            <a:rect l="l" t="t" r="r" b="b"/>
            <a:pathLst>
              <a:path w="2376120" h="2376120">
                <a:moveTo>
                  <a:pt x="0" y="0"/>
                </a:moveTo>
                <a:lnTo>
                  <a:pt x="2376120" y="0"/>
                </a:lnTo>
                <a:lnTo>
                  <a:pt x="2376120" y="2376120"/>
                </a:lnTo>
                <a:lnTo>
                  <a:pt x="0" y="2376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7251704" y="5478917"/>
            <a:ext cx="2983766" cy="2983766"/>
          </a:xfrm>
          <a:custGeom>
            <a:avLst/>
            <a:gdLst/>
            <a:ahLst/>
            <a:cxnLst/>
            <a:rect l="l" t="t" r="r" b="b"/>
            <a:pathLst>
              <a:path w="2983766" h="2983766">
                <a:moveTo>
                  <a:pt x="0" y="0"/>
                </a:moveTo>
                <a:lnTo>
                  <a:pt x="2983766" y="0"/>
                </a:lnTo>
                <a:lnTo>
                  <a:pt x="2983766" y="2983765"/>
                </a:lnTo>
                <a:lnTo>
                  <a:pt x="0" y="2983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2342844" y="1846750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970243" y="9114546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297835" y="1001845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4"/>
                </a:lnTo>
                <a:lnTo>
                  <a:pt x="0" y="155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5313334" y="1642881"/>
            <a:ext cx="8745636" cy="819320"/>
            <a:chOff x="0" y="0"/>
            <a:chExt cx="11660848" cy="109242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1660848" cy="1092427"/>
              <a:chOff x="0" y="0"/>
              <a:chExt cx="2923544" cy="27388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923544" cy="273887"/>
              </a:xfrm>
              <a:custGeom>
                <a:avLst/>
                <a:gdLst/>
                <a:ahLst/>
                <a:cxnLst/>
                <a:rect l="l" t="t" r="r" b="b"/>
                <a:pathLst>
                  <a:path w="2923544" h="273887">
                    <a:moveTo>
                      <a:pt x="0" y="0"/>
                    </a:moveTo>
                    <a:lnTo>
                      <a:pt x="2923544" y="0"/>
                    </a:lnTo>
                    <a:lnTo>
                      <a:pt x="2923544" y="273887"/>
                    </a:lnTo>
                    <a:lnTo>
                      <a:pt x="0" y="27388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2923544" cy="3215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3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54958" y="113151"/>
              <a:ext cx="10950933" cy="7708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81"/>
                </a:lnSpc>
                <a:spcBef>
                  <a:spcPct val="0"/>
                </a:spcBef>
              </a:pPr>
              <a:r>
                <a:rPr lang="en-US" sz="3343" b="1">
                  <a:solidFill>
                    <a:srgbClr val="EB9AC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0UR PROJECT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574779" y="1776402"/>
            <a:ext cx="2622804" cy="2957438"/>
          </a:xfrm>
          <a:custGeom>
            <a:avLst/>
            <a:gdLst/>
            <a:ahLst/>
            <a:cxnLst/>
            <a:rect l="l" t="t" r="r" b="b"/>
            <a:pathLst>
              <a:path w="2622804" h="2957438">
                <a:moveTo>
                  <a:pt x="0" y="0"/>
                </a:moveTo>
                <a:lnTo>
                  <a:pt x="2622804" y="0"/>
                </a:lnTo>
                <a:lnTo>
                  <a:pt x="2622804" y="2957438"/>
                </a:lnTo>
                <a:lnTo>
                  <a:pt x="0" y="29574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911975" y="608627"/>
            <a:ext cx="2801515" cy="1711471"/>
          </a:xfrm>
          <a:custGeom>
            <a:avLst/>
            <a:gdLst/>
            <a:ahLst/>
            <a:cxnLst/>
            <a:rect l="l" t="t" r="r" b="b"/>
            <a:pathLst>
              <a:path w="2801515" h="1711471">
                <a:moveTo>
                  <a:pt x="0" y="0"/>
                </a:moveTo>
                <a:lnTo>
                  <a:pt x="2801515" y="0"/>
                </a:lnTo>
                <a:lnTo>
                  <a:pt x="2801515" y="1711471"/>
                </a:lnTo>
                <a:lnTo>
                  <a:pt x="0" y="17114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197583" y="3473605"/>
            <a:ext cx="10977138" cy="349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5746" lvl="1" indent="-357873" algn="l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Multi-Agent RAG chatbot for Bangladeshi legal information</a:t>
            </a:r>
          </a:p>
          <a:p>
            <a:pPr marL="715746" lvl="1" indent="-357873" algn="l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Built using LangChain + LangGraph for reasoning</a:t>
            </a:r>
          </a:p>
          <a:p>
            <a:pPr marL="715746" lvl="1" indent="-357873" algn="l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Supports local (Ollama) deployment</a:t>
            </a:r>
          </a:p>
          <a:p>
            <a:pPr marL="715746" lvl="1" indent="-357873" algn="l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Legally accurate responses</a:t>
            </a:r>
          </a:p>
        </p:txBody>
      </p:sp>
    </p:spTree>
  </p:cSld>
  <p:clrMapOvr>
    <a:masterClrMapping/>
  </p:clrMapOvr>
  <p:transition>
    <p:cover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22293" y="7720315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407596" y="-429062"/>
            <a:ext cx="2961054" cy="2961054"/>
          </a:xfrm>
          <a:custGeom>
            <a:avLst/>
            <a:gdLst/>
            <a:ahLst/>
            <a:cxnLst/>
            <a:rect l="l" t="t" r="r" b="b"/>
            <a:pathLst>
              <a:path w="2961054" h="2961054">
                <a:moveTo>
                  <a:pt x="0" y="0"/>
                </a:moveTo>
                <a:lnTo>
                  <a:pt x="2961054" y="0"/>
                </a:lnTo>
                <a:lnTo>
                  <a:pt x="2961054" y="2961053"/>
                </a:lnTo>
                <a:lnTo>
                  <a:pt x="0" y="2961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12733" y="8130835"/>
            <a:ext cx="2352726" cy="2352726"/>
          </a:xfrm>
          <a:custGeom>
            <a:avLst/>
            <a:gdLst/>
            <a:ahLst/>
            <a:cxnLst/>
            <a:rect l="l" t="t" r="r" b="b"/>
            <a:pathLst>
              <a:path w="2352726" h="2352726">
                <a:moveTo>
                  <a:pt x="0" y="0"/>
                </a:moveTo>
                <a:lnTo>
                  <a:pt x="2352726" y="0"/>
                </a:lnTo>
                <a:lnTo>
                  <a:pt x="2352726" y="2352727"/>
                </a:lnTo>
                <a:lnTo>
                  <a:pt x="0" y="2352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251753" y="-323579"/>
            <a:ext cx="2376120" cy="2376120"/>
          </a:xfrm>
          <a:custGeom>
            <a:avLst/>
            <a:gdLst/>
            <a:ahLst/>
            <a:cxnLst/>
            <a:rect l="l" t="t" r="r" b="b"/>
            <a:pathLst>
              <a:path w="2376120" h="2376120">
                <a:moveTo>
                  <a:pt x="0" y="0"/>
                </a:moveTo>
                <a:lnTo>
                  <a:pt x="2376120" y="0"/>
                </a:lnTo>
                <a:lnTo>
                  <a:pt x="2376120" y="2376120"/>
                </a:lnTo>
                <a:lnTo>
                  <a:pt x="0" y="2376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7140404" y="5432815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2342844" y="1846750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970243" y="9114546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297835" y="1001845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4"/>
                </a:lnTo>
                <a:lnTo>
                  <a:pt x="0" y="155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240671" y="1028700"/>
            <a:ext cx="10671304" cy="1410973"/>
            <a:chOff x="0" y="0"/>
            <a:chExt cx="14228406" cy="188129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4228406" cy="1881297"/>
              <a:chOff x="0" y="0"/>
              <a:chExt cx="3567268" cy="47166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567268" cy="471668"/>
              </a:xfrm>
              <a:custGeom>
                <a:avLst/>
                <a:gdLst/>
                <a:ahLst/>
                <a:cxnLst/>
                <a:rect l="l" t="t" r="r" b="b"/>
                <a:pathLst>
                  <a:path w="3567268" h="471668">
                    <a:moveTo>
                      <a:pt x="0" y="0"/>
                    </a:moveTo>
                    <a:lnTo>
                      <a:pt x="3567268" y="0"/>
                    </a:lnTo>
                    <a:lnTo>
                      <a:pt x="3567268" y="471668"/>
                    </a:lnTo>
                    <a:lnTo>
                      <a:pt x="0" y="47166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567268" cy="5192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3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33114" y="113151"/>
              <a:ext cx="13362177" cy="15597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81"/>
                </a:lnSpc>
                <a:spcBef>
                  <a:spcPct val="0"/>
                </a:spcBef>
              </a:pPr>
              <a:r>
                <a:rPr lang="en-US" sz="3343" b="1">
                  <a:solidFill>
                    <a:srgbClr val="EB9AC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MULTI-AGENT ARCHITECTURE (LANGGRAPH FRAMEWORK)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284492" y="1838323"/>
            <a:ext cx="2622804" cy="2957438"/>
          </a:xfrm>
          <a:custGeom>
            <a:avLst/>
            <a:gdLst/>
            <a:ahLst/>
            <a:cxnLst/>
            <a:rect l="l" t="t" r="r" b="b"/>
            <a:pathLst>
              <a:path w="2622804" h="2957438">
                <a:moveTo>
                  <a:pt x="0" y="0"/>
                </a:moveTo>
                <a:lnTo>
                  <a:pt x="2622804" y="0"/>
                </a:lnTo>
                <a:lnTo>
                  <a:pt x="2622804" y="2957438"/>
                </a:lnTo>
                <a:lnTo>
                  <a:pt x="0" y="29574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911975" y="2531991"/>
            <a:ext cx="2801515" cy="1711471"/>
          </a:xfrm>
          <a:custGeom>
            <a:avLst/>
            <a:gdLst/>
            <a:ahLst/>
            <a:cxnLst/>
            <a:rect l="l" t="t" r="r" b="b"/>
            <a:pathLst>
              <a:path w="2801515" h="1711471">
                <a:moveTo>
                  <a:pt x="0" y="0"/>
                </a:moveTo>
                <a:lnTo>
                  <a:pt x="2801515" y="0"/>
                </a:lnTo>
                <a:lnTo>
                  <a:pt x="2801515" y="1711471"/>
                </a:lnTo>
                <a:lnTo>
                  <a:pt x="0" y="17114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759614" y="4700511"/>
            <a:ext cx="12262679" cy="222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1"/>
              </a:lnSpc>
            </a:pPr>
            <a:r>
              <a:rPr lang="en-US" sz="31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2-Agent architecture(built with LangChain):</a:t>
            </a:r>
          </a:p>
          <a:p>
            <a:pPr marL="672567" lvl="1" indent="-336283" algn="l">
              <a:lnSpc>
                <a:spcPts val="4361"/>
              </a:lnSpc>
              <a:buFont typeface="Arial"/>
              <a:buChar char="•"/>
            </a:pPr>
            <a:r>
              <a:rPr lang="en-US" sz="31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Clarification agent to check query clarity &amp; ask follow-up questions</a:t>
            </a:r>
          </a:p>
          <a:p>
            <a:pPr marL="672567" lvl="1" indent="-336283" algn="l">
              <a:lnSpc>
                <a:spcPts val="4361"/>
              </a:lnSpc>
              <a:buFont typeface="Arial"/>
              <a:buChar char="•"/>
            </a:pPr>
            <a:r>
              <a:rPr lang="en-US" sz="31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RAG agent to retrieve from legal corpus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59614" y="6831185"/>
            <a:ext cx="12754421" cy="1173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3"/>
              </a:lnSpc>
            </a:pPr>
            <a:endParaRPr/>
          </a:p>
          <a:p>
            <a:pPr marL="712969" lvl="1" indent="-356484" algn="l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Enables dynamic state transitions based on query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75973" y="8377649"/>
            <a:ext cx="2112584" cy="2112584"/>
          </a:xfrm>
          <a:custGeom>
            <a:avLst/>
            <a:gdLst/>
            <a:ahLst/>
            <a:cxnLst/>
            <a:rect l="l" t="t" r="r" b="b"/>
            <a:pathLst>
              <a:path w="2112584" h="2112584">
                <a:moveTo>
                  <a:pt x="0" y="0"/>
                </a:moveTo>
                <a:lnTo>
                  <a:pt x="2112584" y="0"/>
                </a:lnTo>
                <a:lnTo>
                  <a:pt x="2112584" y="2112584"/>
                </a:lnTo>
                <a:lnTo>
                  <a:pt x="0" y="2112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2557618" cy="2557618"/>
          </a:xfrm>
          <a:custGeom>
            <a:avLst/>
            <a:gdLst/>
            <a:ahLst/>
            <a:cxnLst/>
            <a:rect l="l" t="t" r="r" b="b"/>
            <a:pathLst>
              <a:path w="2557618" h="2557618">
                <a:moveTo>
                  <a:pt x="0" y="0"/>
                </a:moveTo>
                <a:lnTo>
                  <a:pt x="2557618" y="0"/>
                </a:lnTo>
                <a:lnTo>
                  <a:pt x="2557618" y="2557618"/>
                </a:lnTo>
                <a:lnTo>
                  <a:pt x="0" y="255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39387" y="8541062"/>
            <a:ext cx="1830038" cy="1830038"/>
          </a:xfrm>
          <a:custGeom>
            <a:avLst/>
            <a:gdLst/>
            <a:ahLst/>
            <a:cxnLst/>
            <a:rect l="l" t="t" r="r" b="b"/>
            <a:pathLst>
              <a:path w="1830038" h="1830038">
                <a:moveTo>
                  <a:pt x="0" y="0"/>
                </a:moveTo>
                <a:lnTo>
                  <a:pt x="1830037" y="0"/>
                </a:lnTo>
                <a:lnTo>
                  <a:pt x="1830037" y="1830038"/>
                </a:lnTo>
                <a:lnTo>
                  <a:pt x="0" y="1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059133" cy="2059133"/>
          </a:xfrm>
          <a:custGeom>
            <a:avLst/>
            <a:gdLst/>
            <a:ahLst/>
            <a:cxnLst/>
            <a:rect l="l" t="t" r="r" b="b"/>
            <a:pathLst>
              <a:path w="2059133" h="2059133">
                <a:moveTo>
                  <a:pt x="0" y="0"/>
                </a:moveTo>
                <a:lnTo>
                  <a:pt x="2059133" y="0"/>
                </a:lnTo>
                <a:lnTo>
                  <a:pt x="2059133" y="2059133"/>
                </a:lnTo>
                <a:lnTo>
                  <a:pt x="0" y="2059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6750015" y="5360938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2342844" y="1718050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880206" y="5436203"/>
            <a:ext cx="10521286" cy="4350079"/>
          </a:xfrm>
          <a:custGeom>
            <a:avLst/>
            <a:gdLst/>
            <a:ahLst/>
            <a:cxnLst/>
            <a:rect l="l" t="t" r="r" b="b"/>
            <a:pathLst>
              <a:path w="10527591" h="4944501">
                <a:moveTo>
                  <a:pt x="0" y="0"/>
                </a:moveTo>
                <a:lnTo>
                  <a:pt x="10527590" y="0"/>
                </a:lnTo>
                <a:lnTo>
                  <a:pt x="10527590" y="4944501"/>
                </a:lnTo>
                <a:lnTo>
                  <a:pt x="0" y="49445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241833" y="799890"/>
            <a:ext cx="7804334" cy="1057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9200" b="1" i="1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Clarification Agent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17207" y="1717661"/>
            <a:ext cx="8453586" cy="2916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969" lvl="1" indent="-356484" algn="ctr">
              <a:lnSpc>
                <a:spcPts val="4623"/>
              </a:lnSpc>
              <a:buAutoNum type="arabicPeriod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Receive user query</a:t>
            </a:r>
          </a:p>
          <a:p>
            <a:pPr marL="712969" lvl="1" indent="-356484" algn="ctr">
              <a:lnSpc>
                <a:spcPts val="4623"/>
              </a:lnSpc>
              <a:buAutoNum type="arabicPeriod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Assess clarity (assessment LLM)</a:t>
            </a:r>
          </a:p>
          <a:p>
            <a:pPr marL="712969" lvl="1" indent="-356484" algn="ctr">
              <a:lnSpc>
                <a:spcPts val="4623"/>
              </a:lnSpc>
              <a:buAutoNum type="arabicPeriod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Generate clarifying question if vague</a:t>
            </a:r>
          </a:p>
          <a:p>
            <a:pPr marL="712969" lvl="1" indent="-356484" algn="ctr">
              <a:lnSpc>
                <a:spcPts val="4623"/>
              </a:lnSpc>
              <a:buAutoNum type="arabicPeriod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Reassess refined input</a:t>
            </a:r>
          </a:p>
          <a:p>
            <a:pPr marL="712969" lvl="1" indent="-356484" algn="ctr">
              <a:lnSpc>
                <a:spcPts val="4623"/>
              </a:lnSpc>
              <a:buAutoNum type="arabicPeriod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Forward to RAG Agent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483918" y="9276398"/>
            <a:ext cx="277178" cy="374332"/>
            <a:chOff x="0" y="0"/>
            <a:chExt cx="369570" cy="499110"/>
          </a:xfrm>
        </p:grpSpPr>
        <p:sp>
          <p:nvSpPr>
            <p:cNvPr id="18" name="Freeform 18"/>
            <p:cNvSpPr/>
            <p:nvPr/>
          </p:nvSpPr>
          <p:spPr>
            <a:xfrm>
              <a:off x="48260" y="49530"/>
              <a:ext cx="285750" cy="406400"/>
            </a:xfrm>
            <a:custGeom>
              <a:avLst/>
              <a:gdLst/>
              <a:ahLst/>
              <a:cxnLst/>
              <a:rect l="l" t="t" r="r" b="b"/>
              <a:pathLst>
                <a:path w="285750" h="406400">
                  <a:moveTo>
                    <a:pt x="139700" y="113030"/>
                  </a:moveTo>
                  <a:cubicBezTo>
                    <a:pt x="130810" y="231140"/>
                    <a:pt x="119380" y="234950"/>
                    <a:pt x="111760" y="234950"/>
                  </a:cubicBezTo>
                  <a:cubicBezTo>
                    <a:pt x="104140" y="234950"/>
                    <a:pt x="96520" y="229870"/>
                    <a:pt x="92710" y="220980"/>
                  </a:cubicBezTo>
                  <a:cubicBezTo>
                    <a:pt x="81280" y="201930"/>
                    <a:pt x="77470" y="120650"/>
                    <a:pt x="90170" y="99060"/>
                  </a:cubicBezTo>
                  <a:cubicBezTo>
                    <a:pt x="96520" y="86360"/>
                    <a:pt x="115570" y="80010"/>
                    <a:pt x="123190" y="81280"/>
                  </a:cubicBezTo>
                  <a:cubicBezTo>
                    <a:pt x="130810" y="82550"/>
                    <a:pt x="135890" y="90170"/>
                    <a:pt x="139700" y="99060"/>
                  </a:cubicBezTo>
                  <a:cubicBezTo>
                    <a:pt x="144780" y="113030"/>
                    <a:pt x="128270" y="149860"/>
                    <a:pt x="137160" y="166370"/>
                  </a:cubicBezTo>
                  <a:cubicBezTo>
                    <a:pt x="144780" y="181610"/>
                    <a:pt x="170180" y="180340"/>
                    <a:pt x="181610" y="196850"/>
                  </a:cubicBezTo>
                  <a:cubicBezTo>
                    <a:pt x="196850" y="215900"/>
                    <a:pt x="215900" y="265430"/>
                    <a:pt x="209550" y="279400"/>
                  </a:cubicBezTo>
                  <a:cubicBezTo>
                    <a:pt x="205740" y="288290"/>
                    <a:pt x="186690" y="284480"/>
                    <a:pt x="184150" y="290830"/>
                  </a:cubicBezTo>
                  <a:cubicBezTo>
                    <a:pt x="181610" y="300990"/>
                    <a:pt x="210820" y="331470"/>
                    <a:pt x="207010" y="339090"/>
                  </a:cubicBezTo>
                  <a:cubicBezTo>
                    <a:pt x="203200" y="345440"/>
                    <a:pt x="180340" y="346710"/>
                    <a:pt x="172720" y="342900"/>
                  </a:cubicBezTo>
                  <a:cubicBezTo>
                    <a:pt x="166370" y="337820"/>
                    <a:pt x="163830" y="311150"/>
                    <a:pt x="166370" y="309880"/>
                  </a:cubicBezTo>
                  <a:cubicBezTo>
                    <a:pt x="168910" y="307340"/>
                    <a:pt x="194310" y="331470"/>
                    <a:pt x="193040" y="339090"/>
                  </a:cubicBezTo>
                  <a:cubicBezTo>
                    <a:pt x="191770" y="345440"/>
                    <a:pt x="180340" y="351790"/>
                    <a:pt x="172720" y="351790"/>
                  </a:cubicBezTo>
                  <a:cubicBezTo>
                    <a:pt x="166370" y="353060"/>
                    <a:pt x="156210" y="349250"/>
                    <a:pt x="151130" y="342900"/>
                  </a:cubicBezTo>
                  <a:cubicBezTo>
                    <a:pt x="147320" y="336550"/>
                    <a:pt x="143510" y="317500"/>
                    <a:pt x="148590" y="314960"/>
                  </a:cubicBezTo>
                  <a:cubicBezTo>
                    <a:pt x="156210" y="309880"/>
                    <a:pt x="210820" y="335280"/>
                    <a:pt x="210820" y="341630"/>
                  </a:cubicBezTo>
                  <a:cubicBezTo>
                    <a:pt x="210820" y="345440"/>
                    <a:pt x="184150" y="354330"/>
                    <a:pt x="173990" y="349250"/>
                  </a:cubicBezTo>
                  <a:cubicBezTo>
                    <a:pt x="157480" y="341630"/>
                    <a:pt x="146050" y="304800"/>
                    <a:pt x="138430" y="275590"/>
                  </a:cubicBezTo>
                  <a:cubicBezTo>
                    <a:pt x="129540" y="237490"/>
                    <a:pt x="125730" y="165100"/>
                    <a:pt x="133350" y="138430"/>
                  </a:cubicBezTo>
                  <a:cubicBezTo>
                    <a:pt x="135890" y="125730"/>
                    <a:pt x="140970" y="116840"/>
                    <a:pt x="148590" y="114300"/>
                  </a:cubicBezTo>
                  <a:cubicBezTo>
                    <a:pt x="157480" y="111760"/>
                    <a:pt x="176530" y="119380"/>
                    <a:pt x="182880" y="130810"/>
                  </a:cubicBezTo>
                  <a:cubicBezTo>
                    <a:pt x="193040" y="148590"/>
                    <a:pt x="189230" y="204470"/>
                    <a:pt x="177800" y="226060"/>
                  </a:cubicBezTo>
                  <a:cubicBezTo>
                    <a:pt x="170180" y="241300"/>
                    <a:pt x="153670" y="252730"/>
                    <a:pt x="142240" y="255270"/>
                  </a:cubicBezTo>
                  <a:cubicBezTo>
                    <a:pt x="133350" y="257810"/>
                    <a:pt x="119380" y="254000"/>
                    <a:pt x="114300" y="248920"/>
                  </a:cubicBezTo>
                  <a:cubicBezTo>
                    <a:pt x="109220" y="245110"/>
                    <a:pt x="105410" y="237490"/>
                    <a:pt x="107950" y="232410"/>
                  </a:cubicBezTo>
                  <a:cubicBezTo>
                    <a:pt x="110490" y="224790"/>
                    <a:pt x="146050" y="212090"/>
                    <a:pt x="147320" y="213360"/>
                  </a:cubicBezTo>
                  <a:cubicBezTo>
                    <a:pt x="149860" y="215900"/>
                    <a:pt x="133350" y="238760"/>
                    <a:pt x="125730" y="238760"/>
                  </a:cubicBezTo>
                  <a:cubicBezTo>
                    <a:pt x="116840" y="240030"/>
                    <a:pt x="95250" y="223520"/>
                    <a:pt x="96520" y="213360"/>
                  </a:cubicBezTo>
                  <a:cubicBezTo>
                    <a:pt x="100330" y="195580"/>
                    <a:pt x="208280" y="143510"/>
                    <a:pt x="233680" y="148590"/>
                  </a:cubicBezTo>
                  <a:cubicBezTo>
                    <a:pt x="245110" y="151130"/>
                    <a:pt x="250190" y="160020"/>
                    <a:pt x="255270" y="171450"/>
                  </a:cubicBezTo>
                  <a:cubicBezTo>
                    <a:pt x="266700" y="194310"/>
                    <a:pt x="276860" y="262890"/>
                    <a:pt x="267970" y="284480"/>
                  </a:cubicBezTo>
                  <a:cubicBezTo>
                    <a:pt x="264160" y="297180"/>
                    <a:pt x="252730" y="308610"/>
                    <a:pt x="245110" y="308610"/>
                  </a:cubicBezTo>
                  <a:cubicBezTo>
                    <a:pt x="236220" y="308610"/>
                    <a:pt x="224790" y="300990"/>
                    <a:pt x="218440" y="288290"/>
                  </a:cubicBezTo>
                  <a:cubicBezTo>
                    <a:pt x="203200" y="257810"/>
                    <a:pt x="207010" y="127000"/>
                    <a:pt x="220980" y="97790"/>
                  </a:cubicBezTo>
                  <a:cubicBezTo>
                    <a:pt x="226060" y="86360"/>
                    <a:pt x="233680" y="80010"/>
                    <a:pt x="242570" y="78740"/>
                  </a:cubicBezTo>
                  <a:cubicBezTo>
                    <a:pt x="250190" y="78740"/>
                    <a:pt x="261620" y="82550"/>
                    <a:pt x="267970" y="92710"/>
                  </a:cubicBezTo>
                  <a:cubicBezTo>
                    <a:pt x="283210" y="118110"/>
                    <a:pt x="285750" y="237490"/>
                    <a:pt x="269240" y="276860"/>
                  </a:cubicBezTo>
                  <a:cubicBezTo>
                    <a:pt x="260350" y="302260"/>
                    <a:pt x="240030" y="322580"/>
                    <a:pt x="222250" y="327660"/>
                  </a:cubicBezTo>
                  <a:cubicBezTo>
                    <a:pt x="207010" y="332740"/>
                    <a:pt x="185420" y="325120"/>
                    <a:pt x="172720" y="316230"/>
                  </a:cubicBezTo>
                  <a:cubicBezTo>
                    <a:pt x="160020" y="307340"/>
                    <a:pt x="152400" y="295910"/>
                    <a:pt x="146050" y="276860"/>
                  </a:cubicBezTo>
                  <a:cubicBezTo>
                    <a:pt x="134620" y="238760"/>
                    <a:pt x="142240" y="83820"/>
                    <a:pt x="140970" y="83820"/>
                  </a:cubicBezTo>
                  <a:cubicBezTo>
                    <a:pt x="140970" y="83820"/>
                    <a:pt x="147320" y="161290"/>
                    <a:pt x="140970" y="191770"/>
                  </a:cubicBezTo>
                  <a:cubicBezTo>
                    <a:pt x="135890" y="217170"/>
                    <a:pt x="125730" y="238760"/>
                    <a:pt x="113030" y="256540"/>
                  </a:cubicBezTo>
                  <a:cubicBezTo>
                    <a:pt x="102870" y="273050"/>
                    <a:pt x="80010" y="283210"/>
                    <a:pt x="76200" y="295910"/>
                  </a:cubicBezTo>
                  <a:cubicBezTo>
                    <a:pt x="73660" y="307340"/>
                    <a:pt x="88900" y="323850"/>
                    <a:pt x="85090" y="330200"/>
                  </a:cubicBezTo>
                  <a:cubicBezTo>
                    <a:pt x="80010" y="337820"/>
                    <a:pt x="59690" y="341630"/>
                    <a:pt x="52070" y="337820"/>
                  </a:cubicBezTo>
                  <a:cubicBezTo>
                    <a:pt x="44450" y="334010"/>
                    <a:pt x="39370" y="322580"/>
                    <a:pt x="39370" y="311150"/>
                  </a:cubicBezTo>
                  <a:cubicBezTo>
                    <a:pt x="39370" y="290830"/>
                    <a:pt x="67310" y="241300"/>
                    <a:pt x="83820" y="220980"/>
                  </a:cubicBezTo>
                  <a:cubicBezTo>
                    <a:pt x="96520" y="207010"/>
                    <a:pt x="109220" y="198120"/>
                    <a:pt x="123190" y="191770"/>
                  </a:cubicBezTo>
                  <a:cubicBezTo>
                    <a:pt x="135890" y="186690"/>
                    <a:pt x="153670" y="193040"/>
                    <a:pt x="162560" y="185420"/>
                  </a:cubicBezTo>
                  <a:cubicBezTo>
                    <a:pt x="171450" y="179070"/>
                    <a:pt x="179070" y="161290"/>
                    <a:pt x="177800" y="151130"/>
                  </a:cubicBezTo>
                  <a:cubicBezTo>
                    <a:pt x="175260" y="139700"/>
                    <a:pt x="151130" y="128270"/>
                    <a:pt x="149860" y="120650"/>
                  </a:cubicBezTo>
                  <a:cubicBezTo>
                    <a:pt x="148590" y="115570"/>
                    <a:pt x="151130" y="113030"/>
                    <a:pt x="154940" y="109220"/>
                  </a:cubicBezTo>
                  <a:cubicBezTo>
                    <a:pt x="158750" y="105410"/>
                    <a:pt x="168910" y="99060"/>
                    <a:pt x="176530" y="100330"/>
                  </a:cubicBezTo>
                  <a:cubicBezTo>
                    <a:pt x="182880" y="100330"/>
                    <a:pt x="193040" y="104140"/>
                    <a:pt x="196850" y="111760"/>
                  </a:cubicBezTo>
                  <a:cubicBezTo>
                    <a:pt x="201930" y="124460"/>
                    <a:pt x="193040" y="157480"/>
                    <a:pt x="185420" y="180340"/>
                  </a:cubicBezTo>
                  <a:cubicBezTo>
                    <a:pt x="177800" y="207010"/>
                    <a:pt x="154940" y="232410"/>
                    <a:pt x="147320" y="262890"/>
                  </a:cubicBezTo>
                  <a:cubicBezTo>
                    <a:pt x="138430" y="297180"/>
                    <a:pt x="148590" y="358140"/>
                    <a:pt x="139700" y="378460"/>
                  </a:cubicBezTo>
                  <a:cubicBezTo>
                    <a:pt x="135890" y="387350"/>
                    <a:pt x="130810" y="393700"/>
                    <a:pt x="123190" y="394970"/>
                  </a:cubicBezTo>
                  <a:cubicBezTo>
                    <a:pt x="116840" y="397510"/>
                    <a:pt x="105410" y="397510"/>
                    <a:pt x="100330" y="392430"/>
                  </a:cubicBezTo>
                  <a:cubicBezTo>
                    <a:pt x="90170" y="382270"/>
                    <a:pt x="87630" y="349250"/>
                    <a:pt x="90170" y="322580"/>
                  </a:cubicBezTo>
                  <a:cubicBezTo>
                    <a:pt x="91440" y="285750"/>
                    <a:pt x="106680" y="223520"/>
                    <a:pt x="127000" y="189230"/>
                  </a:cubicBezTo>
                  <a:cubicBezTo>
                    <a:pt x="146050" y="160020"/>
                    <a:pt x="184150" y="143510"/>
                    <a:pt x="199390" y="121920"/>
                  </a:cubicBezTo>
                  <a:cubicBezTo>
                    <a:pt x="210820" y="106680"/>
                    <a:pt x="210820" y="82550"/>
                    <a:pt x="220980" y="77470"/>
                  </a:cubicBezTo>
                  <a:cubicBezTo>
                    <a:pt x="229870" y="73660"/>
                    <a:pt x="248920" y="77470"/>
                    <a:pt x="254000" y="85090"/>
                  </a:cubicBezTo>
                  <a:cubicBezTo>
                    <a:pt x="259080" y="91440"/>
                    <a:pt x="248920" y="118110"/>
                    <a:pt x="250190" y="118110"/>
                  </a:cubicBezTo>
                  <a:cubicBezTo>
                    <a:pt x="251460" y="118110"/>
                    <a:pt x="257810" y="92710"/>
                    <a:pt x="260350" y="93980"/>
                  </a:cubicBezTo>
                  <a:cubicBezTo>
                    <a:pt x="264160" y="93980"/>
                    <a:pt x="270510" y="118110"/>
                    <a:pt x="267970" y="137160"/>
                  </a:cubicBezTo>
                  <a:cubicBezTo>
                    <a:pt x="259080" y="180340"/>
                    <a:pt x="130810" y="303530"/>
                    <a:pt x="144780" y="335280"/>
                  </a:cubicBezTo>
                  <a:cubicBezTo>
                    <a:pt x="154940" y="356870"/>
                    <a:pt x="238760" y="336550"/>
                    <a:pt x="256540" y="351790"/>
                  </a:cubicBezTo>
                  <a:cubicBezTo>
                    <a:pt x="265430" y="359410"/>
                    <a:pt x="269240" y="375920"/>
                    <a:pt x="266700" y="383540"/>
                  </a:cubicBezTo>
                  <a:cubicBezTo>
                    <a:pt x="264160" y="391160"/>
                    <a:pt x="247650" y="401320"/>
                    <a:pt x="242570" y="398780"/>
                  </a:cubicBezTo>
                  <a:cubicBezTo>
                    <a:pt x="234950" y="396240"/>
                    <a:pt x="237490" y="378460"/>
                    <a:pt x="228600" y="363220"/>
                  </a:cubicBezTo>
                  <a:cubicBezTo>
                    <a:pt x="207010" y="327660"/>
                    <a:pt x="114300" y="248920"/>
                    <a:pt x="80010" y="204470"/>
                  </a:cubicBezTo>
                  <a:cubicBezTo>
                    <a:pt x="59690" y="176530"/>
                    <a:pt x="48260" y="160020"/>
                    <a:pt x="36830" y="133350"/>
                  </a:cubicBezTo>
                  <a:cubicBezTo>
                    <a:pt x="21590" y="101600"/>
                    <a:pt x="0" y="48260"/>
                    <a:pt x="2540" y="26670"/>
                  </a:cubicBezTo>
                  <a:cubicBezTo>
                    <a:pt x="3810" y="16510"/>
                    <a:pt x="7620" y="8890"/>
                    <a:pt x="13970" y="5080"/>
                  </a:cubicBezTo>
                  <a:cubicBezTo>
                    <a:pt x="19050" y="1270"/>
                    <a:pt x="30480" y="0"/>
                    <a:pt x="36830" y="2540"/>
                  </a:cubicBezTo>
                  <a:cubicBezTo>
                    <a:pt x="44450" y="6350"/>
                    <a:pt x="52070" y="13970"/>
                    <a:pt x="52070" y="21590"/>
                  </a:cubicBezTo>
                  <a:cubicBezTo>
                    <a:pt x="53340" y="29210"/>
                    <a:pt x="45720" y="44450"/>
                    <a:pt x="39370" y="49530"/>
                  </a:cubicBezTo>
                  <a:cubicBezTo>
                    <a:pt x="33020" y="53340"/>
                    <a:pt x="21590" y="53340"/>
                    <a:pt x="15240" y="49530"/>
                  </a:cubicBezTo>
                  <a:cubicBezTo>
                    <a:pt x="8890" y="44450"/>
                    <a:pt x="1270" y="29210"/>
                    <a:pt x="2540" y="20320"/>
                  </a:cubicBezTo>
                  <a:cubicBezTo>
                    <a:pt x="5080" y="12700"/>
                    <a:pt x="19050" y="2540"/>
                    <a:pt x="26670" y="1270"/>
                  </a:cubicBezTo>
                  <a:cubicBezTo>
                    <a:pt x="34290" y="0"/>
                    <a:pt x="40640" y="3810"/>
                    <a:pt x="48260" y="11430"/>
                  </a:cubicBezTo>
                  <a:cubicBezTo>
                    <a:pt x="68580" y="33020"/>
                    <a:pt x="86360" y="116840"/>
                    <a:pt x="118110" y="170180"/>
                  </a:cubicBezTo>
                  <a:cubicBezTo>
                    <a:pt x="156210" y="233680"/>
                    <a:pt x="265430" y="327660"/>
                    <a:pt x="267970" y="365760"/>
                  </a:cubicBezTo>
                  <a:cubicBezTo>
                    <a:pt x="267970" y="381000"/>
                    <a:pt x="259080" y="392430"/>
                    <a:pt x="247650" y="398780"/>
                  </a:cubicBezTo>
                  <a:cubicBezTo>
                    <a:pt x="232410" y="406400"/>
                    <a:pt x="193040" y="397510"/>
                    <a:pt x="171450" y="393700"/>
                  </a:cubicBezTo>
                  <a:cubicBezTo>
                    <a:pt x="154940" y="389890"/>
                    <a:pt x="139700" y="387350"/>
                    <a:pt x="128270" y="379730"/>
                  </a:cubicBezTo>
                  <a:cubicBezTo>
                    <a:pt x="116840" y="372110"/>
                    <a:pt x="106680" y="361950"/>
                    <a:pt x="104140" y="349250"/>
                  </a:cubicBezTo>
                  <a:cubicBezTo>
                    <a:pt x="100330" y="332740"/>
                    <a:pt x="106680" y="309880"/>
                    <a:pt x="116840" y="284480"/>
                  </a:cubicBezTo>
                  <a:cubicBezTo>
                    <a:pt x="134620" y="241300"/>
                    <a:pt x="210820" y="158750"/>
                    <a:pt x="219710" y="121920"/>
                  </a:cubicBezTo>
                  <a:cubicBezTo>
                    <a:pt x="223520" y="104140"/>
                    <a:pt x="210820" y="88900"/>
                    <a:pt x="215900" y="81280"/>
                  </a:cubicBezTo>
                  <a:cubicBezTo>
                    <a:pt x="219710" y="74930"/>
                    <a:pt x="232410" y="72390"/>
                    <a:pt x="238760" y="74930"/>
                  </a:cubicBezTo>
                  <a:cubicBezTo>
                    <a:pt x="246380" y="76200"/>
                    <a:pt x="256540" y="86360"/>
                    <a:pt x="257810" y="95250"/>
                  </a:cubicBezTo>
                  <a:cubicBezTo>
                    <a:pt x="261620" y="110490"/>
                    <a:pt x="247650" y="139700"/>
                    <a:pt x="234950" y="157480"/>
                  </a:cubicBezTo>
                  <a:cubicBezTo>
                    <a:pt x="220980" y="176530"/>
                    <a:pt x="189230" y="180340"/>
                    <a:pt x="172720" y="205740"/>
                  </a:cubicBezTo>
                  <a:cubicBezTo>
                    <a:pt x="149860" y="245110"/>
                    <a:pt x="160020" y="360680"/>
                    <a:pt x="137160" y="383540"/>
                  </a:cubicBezTo>
                  <a:cubicBezTo>
                    <a:pt x="127000" y="393700"/>
                    <a:pt x="107950" y="396240"/>
                    <a:pt x="100330" y="392430"/>
                  </a:cubicBezTo>
                  <a:cubicBezTo>
                    <a:pt x="93980" y="388620"/>
                    <a:pt x="91440" y="381000"/>
                    <a:pt x="90170" y="370840"/>
                  </a:cubicBezTo>
                  <a:cubicBezTo>
                    <a:pt x="85090" y="346710"/>
                    <a:pt x="88900" y="290830"/>
                    <a:pt x="99060" y="250190"/>
                  </a:cubicBezTo>
                  <a:cubicBezTo>
                    <a:pt x="107950" y="205740"/>
                    <a:pt x="130810" y="135890"/>
                    <a:pt x="151130" y="114300"/>
                  </a:cubicBezTo>
                  <a:cubicBezTo>
                    <a:pt x="161290" y="104140"/>
                    <a:pt x="173990" y="97790"/>
                    <a:pt x="181610" y="100330"/>
                  </a:cubicBezTo>
                  <a:cubicBezTo>
                    <a:pt x="190500" y="102870"/>
                    <a:pt x="193040" y="125730"/>
                    <a:pt x="199390" y="129540"/>
                  </a:cubicBezTo>
                  <a:cubicBezTo>
                    <a:pt x="204470" y="132080"/>
                    <a:pt x="212090" y="127000"/>
                    <a:pt x="215900" y="130810"/>
                  </a:cubicBezTo>
                  <a:cubicBezTo>
                    <a:pt x="222250" y="138430"/>
                    <a:pt x="218440" y="172720"/>
                    <a:pt x="212090" y="190500"/>
                  </a:cubicBezTo>
                  <a:cubicBezTo>
                    <a:pt x="207010" y="204470"/>
                    <a:pt x="196850" y="218440"/>
                    <a:pt x="184150" y="227330"/>
                  </a:cubicBezTo>
                  <a:cubicBezTo>
                    <a:pt x="170180" y="236220"/>
                    <a:pt x="143510" y="229870"/>
                    <a:pt x="127000" y="242570"/>
                  </a:cubicBezTo>
                  <a:cubicBezTo>
                    <a:pt x="105410" y="260350"/>
                    <a:pt x="99060" y="325120"/>
                    <a:pt x="80010" y="335280"/>
                  </a:cubicBezTo>
                  <a:cubicBezTo>
                    <a:pt x="68580" y="340360"/>
                    <a:pt x="50800" y="336550"/>
                    <a:pt x="43180" y="328930"/>
                  </a:cubicBezTo>
                  <a:cubicBezTo>
                    <a:pt x="34290" y="322580"/>
                    <a:pt x="30480" y="308610"/>
                    <a:pt x="33020" y="293370"/>
                  </a:cubicBezTo>
                  <a:cubicBezTo>
                    <a:pt x="35560" y="266700"/>
                    <a:pt x="78740" y="227330"/>
                    <a:pt x="91440" y="189230"/>
                  </a:cubicBezTo>
                  <a:cubicBezTo>
                    <a:pt x="104140" y="148590"/>
                    <a:pt x="91440" y="76200"/>
                    <a:pt x="104140" y="54610"/>
                  </a:cubicBezTo>
                  <a:cubicBezTo>
                    <a:pt x="110490" y="44450"/>
                    <a:pt x="118110" y="38100"/>
                    <a:pt x="125730" y="39370"/>
                  </a:cubicBezTo>
                  <a:cubicBezTo>
                    <a:pt x="140970" y="40640"/>
                    <a:pt x="172720" y="77470"/>
                    <a:pt x="184150" y="107950"/>
                  </a:cubicBezTo>
                  <a:cubicBezTo>
                    <a:pt x="199390" y="144780"/>
                    <a:pt x="177800" y="231140"/>
                    <a:pt x="191770" y="255270"/>
                  </a:cubicBezTo>
                  <a:cubicBezTo>
                    <a:pt x="199390" y="265430"/>
                    <a:pt x="214630" y="274320"/>
                    <a:pt x="220980" y="270510"/>
                  </a:cubicBezTo>
                  <a:cubicBezTo>
                    <a:pt x="236220" y="261620"/>
                    <a:pt x="208280" y="125730"/>
                    <a:pt x="220980" y="97790"/>
                  </a:cubicBezTo>
                  <a:cubicBezTo>
                    <a:pt x="226060" y="86360"/>
                    <a:pt x="233680" y="80010"/>
                    <a:pt x="242570" y="78740"/>
                  </a:cubicBezTo>
                  <a:cubicBezTo>
                    <a:pt x="250190" y="78740"/>
                    <a:pt x="261620" y="82550"/>
                    <a:pt x="267970" y="92710"/>
                  </a:cubicBezTo>
                  <a:cubicBezTo>
                    <a:pt x="283210" y="119380"/>
                    <a:pt x="279400" y="252730"/>
                    <a:pt x="267970" y="284480"/>
                  </a:cubicBezTo>
                  <a:cubicBezTo>
                    <a:pt x="264160" y="297180"/>
                    <a:pt x="257810" y="304800"/>
                    <a:pt x="250190" y="307340"/>
                  </a:cubicBezTo>
                  <a:cubicBezTo>
                    <a:pt x="242570" y="309880"/>
                    <a:pt x="229870" y="307340"/>
                    <a:pt x="223520" y="298450"/>
                  </a:cubicBezTo>
                  <a:cubicBezTo>
                    <a:pt x="209550" y="283210"/>
                    <a:pt x="217170" y="196850"/>
                    <a:pt x="205740" y="194310"/>
                  </a:cubicBezTo>
                  <a:cubicBezTo>
                    <a:pt x="198120" y="191770"/>
                    <a:pt x="187960" y="226060"/>
                    <a:pt x="177800" y="227330"/>
                  </a:cubicBezTo>
                  <a:cubicBezTo>
                    <a:pt x="168910" y="229870"/>
                    <a:pt x="156210" y="212090"/>
                    <a:pt x="147320" y="213360"/>
                  </a:cubicBezTo>
                  <a:cubicBezTo>
                    <a:pt x="139700" y="215900"/>
                    <a:pt x="133350" y="238760"/>
                    <a:pt x="125730" y="238760"/>
                  </a:cubicBezTo>
                  <a:cubicBezTo>
                    <a:pt x="116840" y="240030"/>
                    <a:pt x="95250" y="217170"/>
                    <a:pt x="96520" y="213360"/>
                  </a:cubicBezTo>
                  <a:cubicBezTo>
                    <a:pt x="99060" y="210820"/>
                    <a:pt x="154940" y="222250"/>
                    <a:pt x="158750" y="232410"/>
                  </a:cubicBezTo>
                  <a:cubicBezTo>
                    <a:pt x="161290" y="238760"/>
                    <a:pt x="149860" y="252730"/>
                    <a:pt x="142240" y="255270"/>
                  </a:cubicBezTo>
                  <a:cubicBezTo>
                    <a:pt x="134620" y="259080"/>
                    <a:pt x="119380" y="254000"/>
                    <a:pt x="114300" y="248920"/>
                  </a:cubicBezTo>
                  <a:cubicBezTo>
                    <a:pt x="109220" y="245110"/>
                    <a:pt x="106680" y="237490"/>
                    <a:pt x="107950" y="232410"/>
                  </a:cubicBezTo>
                  <a:cubicBezTo>
                    <a:pt x="110490" y="223520"/>
                    <a:pt x="133350" y="218440"/>
                    <a:pt x="138430" y="205740"/>
                  </a:cubicBezTo>
                  <a:cubicBezTo>
                    <a:pt x="146050" y="189230"/>
                    <a:pt x="128270" y="148590"/>
                    <a:pt x="133350" y="132080"/>
                  </a:cubicBezTo>
                  <a:cubicBezTo>
                    <a:pt x="135890" y="123190"/>
                    <a:pt x="142240" y="115570"/>
                    <a:pt x="148590" y="114300"/>
                  </a:cubicBezTo>
                  <a:cubicBezTo>
                    <a:pt x="157480" y="111760"/>
                    <a:pt x="175260" y="119380"/>
                    <a:pt x="182880" y="130810"/>
                  </a:cubicBezTo>
                  <a:cubicBezTo>
                    <a:pt x="196850" y="152400"/>
                    <a:pt x="182880" y="226060"/>
                    <a:pt x="187960" y="264160"/>
                  </a:cubicBezTo>
                  <a:cubicBezTo>
                    <a:pt x="193040" y="294640"/>
                    <a:pt x="217170" y="327660"/>
                    <a:pt x="210820" y="341630"/>
                  </a:cubicBezTo>
                  <a:cubicBezTo>
                    <a:pt x="205740" y="350520"/>
                    <a:pt x="186690" y="356870"/>
                    <a:pt x="179070" y="353060"/>
                  </a:cubicBezTo>
                  <a:cubicBezTo>
                    <a:pt x="171450" y="349250"/>
                    <a:pt x="163830" y="318770"/>
                    <a:pt x="166370" y="316230"/>
                  </a:cubicBezTo>
                  <a:cubicBezTo>
                    <a:pt x="168910" y="314960"/>
                    <a:pt x="193040" y="332740"/>
                    <a:pt x="193040" y="339090"/>
                  </a:cubicBezTo>
                  <a:cubicBezTo>
                    <a:pt x="193040" y="344170"/>
                    <a:pt x="180340" y="351790"/>
                    <a:pt x="172720" y="351790"/>
                  </a:cubicBezTo>
                  <a:cubicBezTo>
                    <a:pt x="166370" y="353060"/>
                    <a:pt x="156210" y="349250"/>
                    <a:pt x="151130" y="342900"/>
                  </a:cubicBezTo>
                  <a:cubicBezTo>
                    <a:pt x="147320" y="336550"/>
                    <a:pt x="143510" y="318770"/>
                    <a:pt x="148590" y="314960"/>
                  </a:cubicBezTo>
                  <a:cubicBezTo>
                    <a:pt x="156210" y="308610"/>
                    <a:pt x="210820" y="328930"/>
                    <a:pt x="210820" y="334010"/>
                  </a:cubicBezTo>
                  <a:cubicBezTo>
                    <a:pt x="210820" y="337820"/>
                    <a:pt x="185420" y="349250"/>
                    <a:pt x="179070" y="345440"/>
                  </a:cubicBezTo>
                  <a:cubicBezTo>
                    <a:pt x="170180" y="341630"/>
                    <a:pt x="170180" y="309880"/>
                    <a:pt x="166370" y="309880"/>
                  </a:cubicBezTo>
                  <a:cubicBezTo>
                    <a:pt x="162560" y="308610"/>
                    <a:pt x="156210" y="328930"/>
                    <a:pt x="154940" y="327660"/>
                  </a:cubicBezTo>
                  <a:cubicBezTo>
                    <a:pt x="153670" y="327660"/>
                    <a:pt x="163830" y="298450"/>
                    <a:pt x="162560" y="281940"/>
                  </a:cubicBezTo>
                  <a:cubicBezTo>
                    <a:pt x="161290" y="265430"/>
                    <a:pt x="157480" y="247650"/>
                    <a:pt x="147320" y="231140"/>
                  </a:cubicBezTo>
                  <a:cubicBezTo>
                    <a:pt x="135890" y="213360"/>
                    <a:pt x="102870" y="201930"/>
                    <a:pt x="92710" y="180340"/>
                  </a:cubicBezTo>
                  <a:cubicBezTo>
                    <a:pt x="82550" y="157480"/>
                    <a:pt x="83820" y="109220"/>
                    <a:pt x="92710" y="92710"/>
                  </a:cubicBezTo>
                  <a:cubicBezTo>
                    <a:pt x="96520" y="85090"/>
                    <a:pt x="104140" y="80010"/>
                    <a:pt x="111760" y="80010"/>
                  </a:cubicBezTo>
                  <a:cubicBezTo>
                    <a:pt x="118110" y="78740"/>
                    <a:pt x="128270" y="80010"/>
                    <a:pt x="133350" y="87630"/>
                  </a:cubicBezTo>
                  <a:cubicBezTo>
                    <a:pt x="146050" y="105410"/>
                    <a:pt x="148590" y="193040"/>
                    <a:pt x="139700" y="215900"/>
                  </a:cubicBezTo>
                  <a:cubicBezTo>
                    <a:pt x="134620" y="226060"/>
                    <a:pt x="125730" y="234950"/>
                    <a:pt x="118110" y="234950"/>
                  </a:cubicBezTo>
                  <a:cubicBezTo>
                    <a:pt x="109220" y="234950"/>
                    <a:pt x="95250" y="227330"/>
                    <a:pt x="90170" y="215900"/>
                  </a:cubicBezTo>
                  <a:cubicBezTo>
                    <a:pt x="78740" y="194310"/>
                    <a:pt x="81280" y="120650"/>
                    <a:pt x="92710" y="101600"/>
                  </a:cubicBezTo>
                  <a:cubicBezTo>
                    <a:pt x="97790" y="92710"/>
                    <a:pt x="110490" y="86360"/>
                    <a:pt x="118110" y="88900"/>
                  </a:cubicBezTo>
                  <a:cubicBezTo>
                    <a:pt x="125730" y="90170"/>
                    <a:pt x="139700" y="113030"/>
                    <a:pt x="139700" y="11303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75973" y="8377649"/>
            <a:ext cx="2112584" cy="2112584"/>
          </a:xfrm>
          <a:custGeom>
            <a:avLst/>
            <a:gdLst/>
            <a:ahLst/>
            <a:cxnLst/>
            <a:rect l="l" t="t" r="r" b="b"/>
            <a:pathLst>
              <a:path w="2112584" h="2112584">
                <a:moveTo>
                  <a:pt x="0" y="0"/>
                </a:moveTo>
                <a:lnTo>
                  <a:pt x="2112584" y="0"/>
                </a:lnTo>
                <a:lnTo>
                  <a:pt x="2112584" y="2112584"/>
                </a:lnTo>
                <a:lnTo>
                  <a:pt x="0" y="2112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2557618" cy="2557618"/>
          </a:xfrm>
          <a:custGeom>
            <a:avLst/>
            <a:gdLst/>
            <a:ahLst/>
            <a:cxnLst/>
            <a:rect l="l" t="t" r="r" b="b"/>
            <a:pathLst>
              <a:path w="2557618" h="2557618">
                <a:moveTo>
                  <a:pt x="0" y="0"/>
                </a:moveTo>
                <a:lnTo>
                  <a:pt x="2557618" y="0"/>
                </a:lnTo>
                <a:lnTo>
                  <a:pt x="2557618" y="2557618"/>
                </a:lnTo>
                <a:lnTo>
                  <a:pt x="0" y="255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39387" y="8541062"/>
            <a:ext cx="1830038" cy="1830038"/>
          </a:xfrm>
          <a:custGeom>
            <a:avLst/>
            <a:gdLst/>
            <a:ahLst/>
            <a:cxnLst/>
            <a:rect l="l" t="t" r="r" b="b"/>
            <a:pathLst>
              <a:path w="1830038" h="1830038">
                <a:moveTo>
                  <a:pt x="0" y="0"/>
                </a:moveTo>
                <a:lnTo>
                  <a:pt x="1830037" y="0"/>
                </a:lnTo>
                <a:lnTo>
                  <a:pt x="1830037" y="1830038"/>
                </a:lnTo>
                <a:lnTo>
                  <a:pt x="0" y="1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059133" cy="2059133"/>
          </a:xfrm>
          <a:custGeom>
            <a:avLst/>
            <a:gdLst/>
            <a:ahLst/>
            <a:cxnLst/>
            <a:rect l="l" t="t" r="r" b="b"/>
            <a:pathLst>
              <a:path w="2059133" h="2059133">
                <a:moveTo>
                  <a:pt x="0" y="0"/>
                </a:moveTo>
                <a:lnTo>
                  <a:pt x="2059133" y="0"/>
                </a:lnTo>
                <a:lnTo>
                  <a:pt x="2059133" y="2059133"/>
                </a:lnTo>
                <a:lnTo>
                  <a:pt x="0" y="2059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6750015" y="5360938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2342844" y="1718050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928464" y="5725429"/>
            <a:ext cx="10431072" cy="2815634"/>
          </a:xfrm>
          <a:custGeom>
            <a:avLst/>
            <a:gdLst/>
            <a:ahLst/>
            <a:cxnLst/>
            <a:rect l="l" t="t" r="r" b="b"/>
            <a:pathLst>
              <a:path w="10431072" h="2815634">
                <a:moveTo>
                  <a:pt x="0" y="0"/>
                </a:moveTo>
                <a:lnTo>
                  <a:pt x="10431072" y="0"/>
                </a:lnTo>
                <a:lnTo>
                  <a:pt x="10431072" y="2815633"/>
                </a:lnTo>
                <a:lnTo>
                  <a:pt x="0" y="28156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241833" y="877668"/>
            <a:ext cx="7804334" cy="1057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9200" b="1" i="1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RAG AGENT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23491" y="4799677"/>
            <a:ext cx="4437162" cy="592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sz="330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RAG Agent Workflow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14705" y="2075486"/>
            <a:ext cx="15254734" cy="233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969" lvl="1" indent="-356484" algn="l">
              <a:lnSpc>
                <a:spcPts val="4623"/>
              </a:lnSpc>
              <a:buAutoNum type="arabicPeriod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Vector-based retrieval using ChromaDB</a:t>
            </a:r>
          </a:p>
          <a:p>
            <a:pPr marL="712969" lvl="1" indent="-356484" algn="l">
              <a:lnSpc>
                <a:spcPts val="4623"/>
              </a:lnSpc>
              <a:buAutoNum type="arabicPeriod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Relevance grading using structured LLM</a:t>
            </a:r>
          </a:p>
          <a:p>
            <a:pPr marL="712969" lvl="1" indent="-356484" algn="l">
              <a:lnSpc>
                <a:spcPts val="4623"/>
              </a:lnSpc>
              <a:buAutoNum type="arabicPeriod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Conditional web search via TavilySearchResults</a:t>
            </a:r>
          </a:p>
          <a:p>
            <a:pPr marL="712969" lvl="1" indent="-356484" algn="l">
              <a:lnSpc>
                <a:spcPts val="4623"/>
              </a:lnSpc>
              <a:buAutoNum type="arabicPeriod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Answer synthesis (GPT-4o-mini / Gemma-3B) with factual grounding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45076" y="8032451"/>
            <a:ext cx="2651372" cy="2651372"/>
          </a:xfrm>
          <a:custGeom>
            <a:avLst/>
            <a:gdLst/>
            <a:ahLst/>
            <a:cxnLst/>
            <a:rect l="l" t="t" r="r" b="b"/>
            <a:pathLst>
              <a:path w="2651372" h="2651372">
                <a:moveTo>
                  <a:pt x="0" y="0"/>
                </a:moveTo>
                <a:lnTo>
                  <a:pt x="2651373" y="0"/>
                </a:lnTo>
                <a:lnTo>
                  <a:pt x="2651373" y="2651372"/>
                </a:lnTo>
                <a:lnTo>
                  <a:pt x="0" y="2651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2176984" cy="2176984"/>
          </a:xfrm>
          <a:custGeom>
            <a:avLst/>
            <a:gdLst/>
            <a:ahLst/>
            <a:cxnLst/>
            <a:rect l="l" t="t" r="r" b="b"/>
            <a:pathLst>
              <a:path w="2176984" h="2176984">
                <a:moveTo>
                  <a:pt x="0" y="0"/>
                </a:moveTo>
                <a:lnTo>
                  <a:pt x="2176984" y="0"/>
                </a:lnTo>
                <a:lnTo>
                  <a:pt x="2176984" y="2176984"/>
                </a:lnTo>
                <a:lnTo>
                  <a:pt x="0" y="217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347594" y="8454100"/>
            <a:ext cx="2036132" cy="2036132"/>
          </a:xfrm>
          <a:custGeom>
            <a:avLst/>
            <a:gdLst/>
            <a:ahLst/>
            <a:cxnLst/>
            <a:rect l="l" t="t" r="r" b="b"/>
            <a:pathLst>
              <a:path w="2036132" h="2036132">
                <a:moveTo>
                  <a:pt x="0" y="0"/>
                </a:moveTo>
                <a:lnTo>
                  <a:pt x="2036132" y="0"/>
                </a:lnTo>
                <a:lnTo>
                  <a:pt x="2036132" y="2036133"/>
                </a:lnTo>
                <a:lnTo>
                  <a:pt x="0" y="2036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1744392" cy="1744392"/>
          </a:xfrm>
          <a:custGeom>
            <a:avLst/>
            <a:gdLst/>
            <a:ahLst/>
            <a:cxnLst/>
            <a:rect l="l" t="t" r="r" b="b"/>
            <a:pathLst>
              <a:path w="1744392" h="1744392">
                <a:moveTo>
                  <a:pt x="0" y="0"/>
                </a:moveTo>
                <a:lnTo>
                  <a:pt x="1744392" y="0"/>
                </a:lnTo>
                <a:lnTo>
                  <a:pt x="1744392" y="1744392"/>
                </a:lnTo>
                <a:lnTo>
                  <a:pt x="0" y="1744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100000">
            <a:off x="-2342844" y="1718050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649553" y="9667224"/>
            <a:ext cx="1448709" cy="1432905"/>
          </a:xfrm>
          <a:custGeom>
            <a:avLst/>
            <a:gdLst/>
            <a:ahLst/>
            <a:cxnLst/>
            <a:rect l="l" t="t" r="r" b="b"/>
            <a:pathLst>
              <a:path w="1448709" h="1432905">
                <a:moveTo>
                  <a:pt x="0" y="0"/>
                </a:moveTo>
                <a:lnTo>
                  <a:pt x="1448710" y="0"/>
                </a:lnTo>
                <a:lnTo>
                  <a:pt x="1448710" y="1432905"/>
                </a:lnTo>
                <a:lnTo>
                  <a:pt x="0" y="1432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389275" y="1140660"/>
            <a:ext cx="6765090" cy="1057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9200" b="1" i="1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Query Rewriting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84340" y="3036704"/>
            <a:ext cx="14974960" cy="1173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969" lvl="1" indent="-356484" algn="ctr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Dedicated Rewriter LLM reformulates user input</a:t>
            </a:r>
          </a:p>
          <a:p>
            <a:pPr marL="712969" lvl="1" indent="-356484" algn="ctr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Retains intent, adds legal terminology, improves retrieval accuracy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94113" y="4528763"/>
            <a:ext cx="14972006" cy="2852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80"/>
              </a:lnSpc>
              <a:spcBef>
                <a:spcPct val="0"/>
              </a:spcBef>
            </a:pPr>
            <a:r>
              <a:rPr lang="en-US" sz="8200" b="1" i="1" dirty="0">
                <a:solidFill>
                  <a:srgbClr val="000000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Goal: Bridge the gap between natural and legal language.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7315" y="7824627"/>
            <a:ext cx="16602239" cy="151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  <a:spcBef>
                <a:spcPct val="0"/>
              </a:spcBef>
            </a:pPr>
            <a:r>
              <a:rPr lang="en-US" sz="4300" b="1" i="1">
                <a:solidFill>
                  <a:srgbClr val="3F75BA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 For example, a user query like "How can I get a divorce?" may be rewritten as "What are the legal provisions for divorce under Bangladeshi family law?"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45076" y="8032451"/>
            <a:ext cx="2651372" cy="2651372"/>
          </a:xfrm>
          <a:custGeom>
            <a:avLst/>
            <a:gdLst/>
            <a:ahLst/>
            <a:cxnLst/>
            <a:rect l="l" t="t" r="r" b="b"/>
            <a:pathLst>
              <a:path w="2651372" h="2651372">
                <a:moveTo>
                  <a:pt x="0" y="0"/>
                </a:moveTo>
                <a:lnTo>
                  <a:pt x="2651373" y="0"/>
                </a:lnTo>
                <a:lnTo>
                  <a:pt x="2651373" y="2651372"/>
                </a:lnTo>
                <a:lnTo>
                  <a:pt x="0" y="2651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2176984" cy="2176984"/>
          </a:xfrm>
          <a:custGeom>
            <a:avLst/>
            <a:gdLst/>
            <a:ahLst/>
            <a:cxnLst/>
            <a:rect l="l" t="t" r="r" b="b"/>
            <a:pathLst>
              <a:path w="2176984" h="2176984">
                <a:moveTo>
                  <a:pt x="0" y="0"/>
                </a:moveTo>
                <a:lnTo>
                  <a:pt x="2176984" y="0"/>
                </a:lnTo>
                <a:lnTo>
                  <a:pt x="2176984" y="2176984"/>
                </a:lnTo>
                <a:lnTo>
                  <a:pt x="0" y="217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347594" y="8454100"/>
            <a:ext cx="2036132" cy="2036132"/>
          </a:xfrm>
          <a:custGeom>
            <a:avLst/>
            <a:gdLst/>
            <a:ahLst/>
            <a:cxnLst/>
            <a:rect l="l" t="t" r="r" b="b"/>
            <a:pathLst>
              <a:path w="2036132" h="2036132">
                <a:moveTo>
                  <a:pt x="0" y="0"/>
                </a:moveTo>
                <a:lnTo>
                  <a:pt x="2036132" y="0"/>
                </a:lnTo>
                <a:lnTo>
                  <a:pt x="2036132" y="2036133"/>
                </a:lnTo>
                <a:lnTo>
                  <a:pt x="0" y="2036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1744392" cy="1744392"/>
          </a:xfrm>
          <a:custGeom>
            <a:avLst/>
            <a:gdLst/>
            <a:ahLst/>
            <a:cxnLst/>
            <a:rect l="l" t="t" r="r" b="b"/>
            <a:pathLst>
              <a:path w="1744392" h="1744392">
                <a:moveTo>
                  <a:pt x="0" y="0"/>
                </a:moveTo>
                <a:lnTo>
                  <a:pt x="1744392" y="0"/>
                </a:lnTo>
                <a:lnTo>
                  <a:pt x="1744392" y="1744392"/>
                </a:lnTo>
                <a:lnTo>
                  <a:pt x="0" y="1744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100000">
            <a:off x="-2342844" y="1718050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649553" y="9667224"/>
            <a:ext cx="1448709" cy="1432905"/>
          </a:xfrm>
          <a:custGeom>
            <a:avLst/>
            <a:gdLst/>
            <a:ahLst/>
            <a:cxnLst/>
            <a:rect l="l" t="t" r="r" b="b"/>
            <a:pathLst>
              <a:path w="1448709" h="1432905">
                <a:moveTo>
                  <a:pt x="0" y="0"/>
                </a:moveTo>
                <a:lnTo>
                  <a:pt x="1448710" y="0"/>
                </a:lnTo>
                <a:lnTo>
                  <a:pt x="1448710" y="1432905"/>
                </a:lnTo>
                <a:lnTo>
                  <a:pt x="0" y="1432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761455" y="1841070"/>
            <a:ext cx="6765090" cy="199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9200" b="1" i="1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Conditional Web Search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49613" y="4811031"/>
            <a:ext cx="11388775" cy="1754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969" lvl="1" indent="-356484" algn="ctr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corpus is sufficient → use internal data</a:t>
            </a:r>
          </a:p>
          <a:p>
            <a:pPr marL="712969" lvl="1" indent="-356484" algn="ctr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not → trigger real-time web search (Tavily API)</a:t>
            </a:r>
          </a:p>
          <a:p>
            <a:pPr marL="712969" lvl="1" indent="-356484" algn="ctr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Implemented using should_search() in LangGraph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45076" y="8032451"/>
            <a:ext cx="2651372" cy="2651372"/>
          </a:xfrm>
          <a:custGeom>
            <a:avLst/>
            <a:gdLst/>
            <a:ahLst/>
            <a:cxnLst/>
            <a:rect l="l" t="t" r="r" b="b"/>
            <a:pathLst>
              <a:path w="2651372" h="2651372">
                <a:moveTo>
                  <a:pt x="0" y="0"/>
                </a:moveTo>
                <a:lnTo>
                  <a:pt x="2651373" y="0"/>
                </a:lnTo>
                <a:lnTo>
                  <a:pt x="2651373" y="2651372"/>
                </a:lnTo>
                <a:lnTo>
                  <a:pt x="0" y="2651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2176984" cy="2176984"/>
          </a:xfrm>
          <a:custGeom>
            <a:avLst/>
            <a:gdLst/>
            <a:ahLst/>
            <a:cxnLst/>
            <a:rect l="l" t="t" r="r" b="b"/>
            <a:pathLst>
              <a:path w="2176984" h="2176984">
                <a:moveTo>
                  <a:pt x="0" y="0"/>
                </a:moveTo>
                <a:lnTo>
                  <a:pt x="2176984" y="0"/>
                </a:lnTo>
                <a:lnTo>
                  <a:pt x="2176984" y="2176984"/>
                </a:lnTo>
                <a:lnTo>
                  <a:pt x="0" y="217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347594" y="8454100"/>
            <a:ext cx="2036132" cy="2036132"/>
          </a:xfrm>
          <a:custGeom>
            <a:avLst/>
            <a:gdLst/>
            <a:ahLst/>
            <a:cxnLst/>
            <a:rect l="l" t="t" r="r" b="b"/>
            <a:pathLst>
              <a:path w="2036132" h="2036132">
                <a:moveTo>
                  <a:pt x="0" y="0"/>
                </a:moveTo>
                <a:lnTo>
                  <a:pt x="2036132" y="0"/>
                </a:lnTo>
                <a:lnTo>
                  <a:pt x="2036132" y="2036133"/>
                </a:lnTo>
                <a:lnTo>
                  <a:pt x="0" y="2036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1744392" cy="1744392"/>
          </a:xfrm>
          <a:custGeom>
            <a:avLst/>
            <a:gdLst/>
            <a:ahLst/>
            <a:cxnLst/>
            <a:rect l="l" t="t" r="r" b="b"/>
            <a:pathLst>
              <a:path w="1744392" h="1744392">
                <a:moveTo>
                  <a:pt x="0" y="0"/>
                </a:moveTo>
                <a:lnTo>
                  <a:pt x="1744392" y="0"/>
                </a:lnTo>
                <a:lnTo>
                  <a:pt x="1744392" y="1744392"/>
                </a:lnTo>
                <a:lnTo>
                  <a:pt x="0" y="1744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100000">
            <a:off x="-2342844" y="1718050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649553" y="9667224"/>
            <a:ext cx="1448709" cy="1432905"/>
          </a:xfrm>
          <a:custGeom>
            <a:avLst/>
            <a:gdLst/>
            <a:ahLst/>
            <a:cxnLst/>
            <a:rect l="l" t="t" r="r" b="b"/>
            <a:pathLst>
              <a:path w="1448709" h="1432905">
                <a:moveTo>
                  <a:pt x="0" y="0"/>
                </a:moveTo>
                <a:lnTo>
                  <a:pt x="1448710" y="0"/>
                </a:lnTo>
                <a:lnTo>
                  <a:pt x="1448710" y="1432905"/>
                </a:lnTo>
                <a:lnTo>
                  <a:pt x="0" y="1432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949599" y="3584446"/>
            <a:ext cx="13063691" cy="3968096"/>
          </a:xfrm>
          <a:custGeom>
            <a:avLst/>
            <a:gdLst/>
            <a:ahLst/>
            <a:cxnLst/>
            <a:rect l="l" t="t" r="r" b="b"/>
            <a:pathLst>
              <a:path w="13063691" h="3968096">
                <a:moveTo>
                  <a:pt x="0" y="0"/>
                </a:moveTo>
                <a:lnTo>
                  <a:pt x="13063691" y="0"/>
                </a:lnTo>
                <a:lnTo>
                  <a:pt x="13063691" y="3968096"/>
                </a:lnTo>
                <a:lnTo>
                  <a:pt x="0" y="39680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761455" y="671191"/>
            <a:ext cx="6765090" cy="1057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9200" b="1" i="1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The Agents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92505" y="2457442"/>
            <a:ext cx="6056412" cy="592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969" lvl="1" indent="-356484" algn="ctr">
              <a:lnSpc>
                <a:spcPts val="4623"/>
              </a:lnSpc>
              <a:buFont typeface="Arial"/>
              <a:buChar char="•"/>
            </a:pPr>
            <a:r>
              <a:rPr lang="en-US" sz="330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Detailed Agent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05856" y="8607532"/>
            <a:ext cx="1882701" cy="1882701"/>
          </a:xfrm>
          <a:custGeom>
            <a:avLst/>
            <a:gdLst/>
            <a:ahLst/>
            <a:cxnLst/>
            <a:rect l="l" t="t" r="r" b="b"/>
            <a:pathLst>
              <a:path w="1882701" h="1882701">
                <a:moveTo>
                  <a:pt x="0" y="0"/>
                </a:moveTo>
                <a:lnTo>
                  <a:pt x="1882701" y="0"/>
                </a:lnTo>
                <a:lnTo>
                  <a:pt x="1882701" y="1882701"/>
                </a:lnTo>
                <a:lnTo>
                  <a:pt x="0" y="1882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2268610" cy="2268610"/>
          </a:xfrm>
          <a:custGeom>
            <a:avLst/>
            <a:gdLst/>
            <a:ahLst/>
            <a:cxnLst/>
            <a:rect l="l" t="t" r="r" b="b"/>
            <a:pathLst>
              <a:path w="2268610" h="2268610">
                <a:moveTo>
                  <a:pt x="0" y="0"/>
                </a:moveTo>
                <a:lnTo>
                  <a:pt x="2268610" y="0"/>
                </a:lnTo>
                <a:lnTo>
                  <a:pt x="2268610" y="2268610"/>
                </a:lnTo>
                <a:lnTo>
                  <a:pt x="0" y="2268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21240" y="8822916"/>
            <a:ext cx="1548184" cy="1548184"/>
          </a:xfrm>
          <a:custGeom>
            <a:avLst/>
            <a:gdLst/>
            <a:ahLst/>
            <a:cxnLst/>
            <a:rect l="l" t="t" r="r" b="b"/>
            <a:pathLst>
              <a:path w="1548184" h="1548184">
                <a:moveTo>
                  <a:pt x="0" y="0"/>
                </a:moveTo>
                <a:lnTo>
                  <a:pt x="1548184" y="0"/>
                </a:lnTo>
                <a:lnTo>
                  <a:pt x="1548184" y="1548184"/>
                </a:lnTo>
                <a:lnTo>
                  <a:pt x="0" y="1548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1782995" cy="1782995"/>
          </a:xfrm>
          <a:custGeom>
            <a:avLst/>
            <a:gdLst/>
            <a:ahLst/>
            <a:cxnLst/>
            <a:rect l="l" t="t" r="r" b="b"/>
            <a:pathLst>
              <a:path w="1782995" h="1782995">
                <a:moveTo>
                  <a:pt x="0" y="0"/>
                </a:moveTo>
                <a:lnTo>
                  <a:pt x="1782996" y="0"/>
                </a:lnTo>
                <a:lnTo>
                  <a:pt x="1782996" y="1782995"/>
                </a:lnTo>
                <a:lnTo>
                  <a:pt x="0" y="1782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7178576" y="5538453"/>
            <a:ext cx="2720938" cy="2720938"/>
          </a:xfrm>
          <a:custGeom>
            <a:avLst/>
            <a:gdLst/>
            <a:ahLst/>
            <a:cxnLst/>
            <a:rect l="l" t="t" r="r" b="b"/>
            <a:pathLst>
              <a:path w="2720938" h="2720938">
                <a:moveTo>
                  <a:pt x="0" y="0"/>
                </a:moveTo>
                <a:lnTo>
                  <a:pt x="2720938" y="0"/>
                </a:lnTo>
                <a:lnTo>
                  <a:pt x="2720938" y="2720939"/>
                </a:lnTo>
                <a:lnTo>
                  <a:pt x="0" y="272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1947332" y="1924527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083522" y="819281"/>
            <a:ext cx="8142303" cy="700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3"/>
              </a:lnSpc>
              <a:spcBef>
                <a:spcPct val="0"/>
              </a:spcBef>
            </a:pPr>
            <a:r>
              <a:rPr lang="en-US" sz="390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LLMs &amp; Tools Used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32324" y="2380560"/>
            <a:ext cx="12256145" cy="407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3"/>
              </a:lnSpc>
            </a:pPr>
            <a:r>
              <a:rPr lang="en-US" sz="330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Language Models:</a:t>
            </a:r>
          </a:p>
          <a:p>
            <a:pPr marL="712969" lvl="1" indent="-356484" algn="l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GPT-4o-mini ( reasoning &amp; fluency)</a:t>
            </a:r>
          </a:p>
          <a:p>
            <a:pPr marL="712969" lvl="1" indent="-356484" algn="l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Gemma-3B (via Ollama) – local, private, cost-effective</a:t>
            </a:r>
          </a:p>
          <a:p>
            <a:pPr algn="l">
              <a:lnSpc>
                <a:spcPts val="4623"/>
              </a:lnSpc>
            </a:pPr>
            <a:r>
              <a:rPr lang="en-US" sz="330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LangChain Tools:</a:t>
            </a:r>
          </a:p>
          <a:p>
            <a:pPr marL="712969" lvl="1" indent="-356484" algn="l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retrieval_tool → vector search</a:t>
            </a:r>
          </a:p>
          <a:p>
            <a:pPr marL="712969" lvl="1" indent="-356484" algn="l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search_tool → real-time web retrieval</a:t>
            </a:r>
          </a:p>
          <a:p>
            <a:pPr marL="712969" lvl="1" indent="-356484" algn="l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answer_tool → structured legal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05856" y="8607532"/>
            <a:ext cx="1882701" cy="1882701"/>
          </a:xfrm>
          <a:custGeom>
            <a:avLst/>
            <a:gdLst/>
            <a:ahLst/>
            <a:cxnLst/>
            <a:rect l="l" t="t" r="r" b="b"/>
            <a:pathLst>
              <a:path w="1882701" h="1882701">
                <a:moveTo>
                  <a:pt x="0" y="0"/>
                </a:moveTo>
                <a:lnTo>
                  <a:pt x="1882701" y="0"/>
                </a:lnTo>
                <a:lnTo>
                  <a:pt x="1882701" y="1882701"/>
                </a:lnTo>
                <a:lnTo>
                  <a:pt x="0" y="1882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2268610" cy="2268610"/>
          </a:xfrm>
          <a:custGeom>
            <a:avLst/>
            <a:gdLst/>
            <a:ahLst/>
            <a:cxnLst/>
            <a:rect l="l" t="t" r="r" b="b"/>
            <a:pathLst>
              <a:path w="2268610" h="2268610">
                <a:moveTo>
                  <a:pt x="0" y="0"/>
                </a:moveTo>
                <a:lnTo>
                  <a:pt x="2268610" y="0"/>
                </a:lnTo>
                <a:lnTo>
                  <a:pt x="2268610" y="2268610"/>
                </a:lnTo>
                <a:lnTo>
                  <a:pt x="0" y="2268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21240" y="8822916"/>
            <a:ext cx="1548184" cy="1548184"/>
          </a:xfrm>
          <a:custGeom>
            <a:avLst/>
            <a:gdLst/>
            <a:ahLst/>
            <a:cxnLst/>
            <a:rect l="l" t="t" r="r" b="b"/>
            <a:pathLst>
              <a:path w="1548184" h="1548184">
                <a:moveTo>
                  <a:pt x="0" y="0"/>
                </a:moveTo>
                <a:lnTo>
                  <a:pt x="1548184" y="0"/>
                </a:lnTo>
                <a:lnTo>
                  <a:pt x="1548184" y="1548184"/>
                </a:lnTo>
                <a:lnTo>
                  <a:pt x="0" y="1548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1782995" cy="1782995"/>
          </a:xfrm>
          <a:custGeom>
            <a:avLst/>
            <a:gdLst/>
            <a:ahLst/>
            <a:cxnLst/>
            <a:rect l="l" t="t" r="r" b="b"/>
            <a:pathLst>
              <a:path w="1782995" h="1782995">
                <a:moveTo>
                  <a:pt x="0" y="0"/>
                </a:moveTo>
                <a:lnTo>
                  <a:pt x="1782996" y="0"/>
                </a:lnTo>
                <a:lnTo>
                  <a:pt x="1782996" y="1782995"/>
                </a:lnTo>
                <a:lnTo>
                  <a:pt x="0" y="1782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7178576" y="5538453"/>
            <a:ext cx="2720938" cy="2720938"/>
          </a:xfrm>
          <a:custGeom>
            <a:avLst/>
            <a:gdLst/>
            <a:ahLst/>
            <a:cxnLst/>
            <a:rect l="l" t="t" r="r" b="b"/>
            <a:pathLst>
              <a:path w="2720938" h="2720938">
                <a:moveTo>
                  <a:pt x="0" y="0"/>
                </a:moveTo>
                <a:lnTo>
                  <a:pt x="2720938" y="0"/>
                </a:lnTo>
                <a:lnTo>
                  <a:pt x="2720938" y="2720939"/>
                </a:lnTo>
                <a:lnTo>
                  <a:pt x="0" y="272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1947332" y="1924527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154674" y="2284400"/>
            <a:ext cx="8285524" cy="5737430"/>
          </a:xfrm>
          <a:custGeom>
            <a:avLst/>
            <a:gdLst/>
            <a:ahLst/>
            <a:cxnLst/>
            <a:rect l="l" t="t" r="r" b="b"/>
            <a:pathLst>
              <a:path w="8285524" h="5737430">
                <a:moveTo>
                  <a:pt x="0" y="0"/>
                </a:moveTo>
                <a:lnTo>
                  <a:pt x="8285524" y="0"/>
                </a:lnTo>
                <a:lnTo>
                  <a:pt x="8285524" y="5737430"/>
                </a:lnTo>
                <a:lnTo>
                  <a:pt x="0" y="573743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083522" y="762131"/>
            <a:ext cx="8142303" cy="1069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3"/>
              </a:lnSpc>
              <a:spcBef>
                <a:spcPct val="0"/>
              </a:spcBef>
            </a:pPr>
            <a:r>
              <a:rPr lang="en-US" sz="5902" b="1">
                <a:solidFill>
                  <a:srgbClr val="7B5EA8"/>
                </a:solidFill>
                <a:latin typeface="Poppins Bold"/>
                <a:ea typeface="Poppins Bold"/>
                <a:cs typeface="Poppins Bold"/>
                <a:sym typeface="Poppins Bold"/>
              </a:rPr>
              <a:t>User Interface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493517"/>
            <a:ext cx="7991029" cy="3497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969" lvl="1" indent="-356484" algn="l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Built with Streamlit:</a:t>
            </a:r>
          </a:p>
          <a:p>
            <a:pPr marL="712969" lvl="1" indent="-356484" algn="l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Legal query input box</a:t>
            </a:r>
          </a:p>
          <a:p>
            <a:pPr marL="712969" lvl="1" indent="-356484" algn="l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Clarification dialogue section</a:t>
            </a:r>
          </a:p>
          <a:p>
            <a:pPr marL="712969" lvl="1" indent="-356484" algn="l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Final answer with references</a:t>
            </a:r>
          </a:p>
          <a:p>
            <a:pPr marL="712969" lvl="1" indent="-356484" algn="l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Supports both online and local use</a:t>
            </a:r>
          </a:p>
          <a:p>
            <a:pPr algn="l">
              <a:lnSpc>
                <a:spcPts val="4623"/>
              </a:lnSpc>
            </a:pPr>
            <a:endParaRPr lang="en-US" sz="33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2587" y="7414263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18901" y="7920577"/>
            <a:ext cx="2450523" cy="2450523"/>
          </a:xfrm>
          <a:custGeom>
            <a:avLst/>
            <a:gdLst/>
            <a:ahLst/>
            <a:cxnLst/>
            <a:rect l="l" t="t" r="r" b="b"/>
            <a:pathLst>
              <a:path w="2450523" h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651689" cy="2651689"/>
          </a:xfrm>
          <a:custGeom>
            <a:avLst/>
            <a:gdLst/>
            <a:ahLst/>
            <a:cxnLst/>
            <a:rect l="l" t="t" r="r" b="b"/>
            <a:pathLst>
              <a:path w="2651689" h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6750015" y="5360938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1664239" y="1924527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930429" y="866775"/>
            <a:ext cx="6427143" cy="993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3"/>
              </a:lnSpc>
              <a:spcBef>
                <a:spcPct val="0"/>
              </a:spcBef>
            </a:pPr>
            <a:r>
              <a:rPr lang="en-US" sz="5502" b="1">
                <a:solidFill>
                  <a:srgbClr val="B65294"/>
                </a:solidFill>
                <a:latin typeface="Poppins Bold"/>
                <a:ea typeface="Poppins Bold"/>
                <a:cs typeface="Poppins Bold"/>
                <a:sym typeface="Poppins Bold"/>
              </a:rPr>
              <a:t>Local deployment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08032" y="4797505"/>
            <a:ext cx="4656427" cy="371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 i="1">
                <a:solidFill>
                  <a:srgbClr val="000000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Advantages:</a:t>
            </a:r>
          </a:p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 i="1">
                <a:solidFill>
                  <a:srgbClr val="000000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Low cost</a:t>
            </a:r>
          </a:p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 i="1">
                <a:solidFill>
                  <a:srgbClr val="000000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Privacy preserving</a:t>
            </a:r>
          </a:p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 i="1">
                <a:solidFill>
                  <a:srgbClr val="000000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Offline accessibility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36392" y="2497539"/>
            <a:ext cx="11015216" cy="150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sz="8000" b="1" i="1" dirty="0">
                <a:solidFill>
                  <a:srgbClr val="000000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Local models: Gemma-3B via Ollama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75973" y="8377649"/>
            <a:ext cx="2112584" cy="2112584"/>
          </a:xfrm>
          <a:custGeom>
            <a:avLst/>
            <a:gdLst/>
            <a:ahLst/>
            <a:cxnLst/>
            <a:rect l="l" t="t" r="r" b="b"/>
            <a:pathLst>
              <a:path w="2112584" h="2112584">
                <a:moveTo>
                  <a:pt x="0" y="0"/>
                </a:moveTo>
                <a:lnTo>
                  <a:pt x="2112584" y="0"/>
                </a:lnTo>
                <a:lnTo>
                  <a:pt x="2112584" y="2112584"/>
                </a:lnTo>
                <a:lnTo>
                  <a:pt x="0" y="2112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2557618" cy="2557618"/>
          </a:xfrm>
          <a:custGeom>
            <a:avLst/>
            <a:gdLst/>
            <a:ahLst/>
            <a:cxnLst/>
            <a:rect l="l" t="t" r="r" b="b"/>
            <a:pathLst>
              <a:path w="2557618" h="2557618">
                <a:moveTo>
                  <a:pt x="0" y="0"/>
                </a:moveTo>
                <a:lnTo>
                  <a:pt x="2557618" y="0"/>
                </a:lnTo>
                <a:lnTo>
                  <a:pt x="2557618" y="2557618"/>
                </a:lnTo>
                <a:lnTo>
                  <a:pt x="0" y="255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57558" y="8759234"/>
            <a:ext cx="1611866" cy="1611866"/>
          </a:xfrm>
          <a:custGeom>
            <a:avLst/>
            <a:gdLst/>
            <a:ahLst/>
            <a:cxnLst/>
            <a:rect l="l" t="t" r="r" b="b"/>
            <a:pathLst>
              <a:path w="1611866" h="1611866">
                <a:moveTo>
                  <a:pt x="0" y="0"/>
                </a:moveTo>
                <a:lnTo>
                  <a:pt x="1611866" y="0"/>
                </a:lnTo>
                <a:lnTo>
                  <a:pt x="1611866" y="1611866"/>
                </a:lnTo>
                <a:lnTo>
                  <a:pt x="0" y="1611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059133" cy="2059133"/>
          </a:xfrm>
          <a:custGeom>
            <a:avLst/>
            <a:gdLst/>
            <a:ahLst/>
            <a:cxnLst/>
            <a:rect l="l" t="t" r="r" b="b"/>
            <a:pathLst>
              <a:path w="2059133" h="2059133">
                <a:moveTo>
                  <a:pt x="0" y="0"/>
                </a:moveTo>
                <a:lnTo>
                  <a:pt x="2059133" y="0"/>
                </a:lnTo>
                <a:lnTo>
                  <a:pt x="2059133" y="2059133"/>
                </a:lnTo>
                <a:lnTo>
                  <a:pt x="0" y="2059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6750015" y="5360938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2342844" y="1718050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406947" y="1579383"/>
            <a:ext cx="5921584" cy="8312993"/>
          </a:xfrm>
          <a:custGeom>
            <a:avLst/>
            <a:gdLst/>
            <a:ahLst/>
            <a:cxnLst/>
            <a:rect l="l" t="t" r="r" b="b"/>
            <a:pathLst>
              <a:path w="5921584" h="8312993">
                <a:moveTo>
                  <a:pt x="0" y="0"/>
                </a:moveTo>
                <a:lnTo>
                  <a:pt x="5921584" y="0"/>
                </a:lnTo>
                <a:lnTo>
                  <a:pt x="5921584" y="8312993"/>
                </a:lnTo>
                <a:lnTo>
                  <a:pt x="0" y="831299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82907" t="-3783" r="-83749" b="-3061"/>
            </a:stretch>
          </a:blipFill>
        </p:spPr>
      </p:sp>
      <p:sp>
        <p:nvSpPr>
          <p:cNvPr id="15" name="Freeform 15"/>
          <p:cNvSpPr/>
          <p:nvPr/>
        </p:nvSpPr>
        <p:spPr>
          <a:xfrm rot="-10800000" flipH="1">
            <a:off x="10106912" y="4881395"/>
            <a:ext cx="1340715" cy="834595"/>
          </a:xfrm>
          <a:custGeom>
            <a:avLst/>
            <a:gdLst/>
            <a:ahLst/>
            <a:cxnLst/>
            <a:rect l="l" t="t" r="r" b="b"/>
            <a:pathLst>
              <a:path w="1340715" h="834595">
                <a:moveTo>
                  <a:pt x="1340714" y="0"/>
                </a:moveTo>
                <a:lnTo>
                  <a:pt x="0" y="0"/>
                </a:lnTo>
                <a:lnTo>
                  <a:pt x="0" y="834595"/>
                </a:lnTo>
                <a:lnTo>
                  <a:pt x="1340714" y="834595"/>
                </a:lnTo>
                <a:lnTo>
                  <a:pt x="1340714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3980870">
            <a:off x="6654044" y="5370381"/>
            <a:ext cx="822134" cy="1899889"/>
          </a:xfrm>
          <a:custGeom>
            <a:avLst/>
            <a:gdLst/>
            <a:ahLst/>
            <a:cxnLst/>
            <a:rect l="l" t="t" r="r" b="b"/>
            <a:pathLst>
              <a:path w="822134" h="1899889">
                <a:moveTo>
                  <a:pt x="0" y="0"/>
                </a:moveTo>
                <a:lnTo>
                  <a:pt x="822134" y="0"/>
                </a:lnTo>
                <a:lnTo>
                  <a:pt x="822134" y="1899888"/>
                </a:lnTo>
                <a:lnTo>
                  <a:pt x="0" y="18998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133768">
            <a:off x="10245917" y="9343447"/>
            <a:ext cx="2082614" cy="588339"/>
          </a:xfrm>
          <a:custGeom>
            <a:avLst/>
            <a:gdLst/>
            <a:ahLst/>
            <a:cxnLst/>
            <a:rect l="l" t="t" r="r" b="b"/>
            <a:pathLst>
              <a:path w="2082614" h="588339">
                <a:moveTo>
                  <a:pt x="0" y="0"/>
                </a:moveTo>
                <a:lnTo>
                  <a:pt x="2082614" y="0"/>
                </a:lnTo>
                <a:lnTo>
                  <a:pt x="2082614" y="588338"/>
                </a:lnTo>
                <a:lnTo>
                  <a:pt x="0" y="58833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382457" y="541719"/>
            <a:ext cx="5811443" cy="1047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9000" b="1" i="1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System Workflow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05277" y="1936768"/>
            <a:ext cx="6148199" cy="424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sz="2402" b="1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Query received by Clarification Agent</a:t>
            </a:r>
          </a:p>
        </p:txBody>
      </p:sp>
      <p:sp>
        <p:nvSpPr>
          <p:cNvPr id="20" name="Freeform 20"/>
          <p:cNvSpPr/>
          <p:nvPr/>
        </p:nvSpPr>
        <p:spPr>
          <a:xfrm rot="-3311345">
            <a:off x="6053311" y="1768663"/>
            <a:ext cx="1017056" cy="3040114"/>
          </a:xfrm>
          <a:custGeom>
            <a:avLst/>
            <a:gdLst/>
            <a:ahLst/>
            <a:cxnLst/>
            <a:rect l="l" t="t" r="r" b="b"/>
            <a:pathLst>
              <a:path w="1017056" h="3040114">
                <a:moveTo>
                  <a:pt x="0" y="0"/>
                </a:moveTo>
                <a:lnTo>
                  <a:pt x="1017056" y="0"/>
                </a:lnTo>
                <a:lnTo>
                  <a:pt x="1017056" y="3040114"/>
                </a:lnTo>
                <a:lnTo>
                  <a:pt x="0" y="304011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770397" y="5669205"/>
            <a:ext cx="7167232" cy="424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sz="2402" b="1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Relevant documents retrieved from vector DB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8041" y="6653207"/>
            <a:ext cx="7943638" cy="424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sz="2402" b="1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Conditional web search if corpus is insufficient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00419" y="8690573"/>
            <a:ext cx="5832784" cy="84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sz="2402" b="1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Final answer synthesized using retrieved context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2587" y="7414263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18901" y="7920577"/>
            <a:ext cx="2450523" cy="2450523"/>
          </a:xfrm>
          <a:custGeom>
            <a:avLst/>
            <a:gdLst/>
            <a:ahLst/>
            <a:cxnLst/>
            <a:rect l="l" t="t" r="r" b="b"/>
            <a:pathLst>
              <a:path w="2450523" h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651689" cy="2651689"/>
          </a:xfrm>
          <a:custGeom>
            <a:avLst/>
            <a:gdLst/>
            <a:ahLst/>
            <a:cxnLst/>
            <a:rect l="l" t="t" r="r" b="b"/>
            <a:pathLst>
              <a:path w="2651689" h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6750015" y="5360938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1664239" y="1924527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312714" y="895350"/>
            <a:ext cx="6108502" cy="875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3"/>
              </a:lnSpc>
              <a:spcBef>
                <a:spcPct val="0"/>
              </a:spcBef>
            </a:pPr>
            <a:r>
              <a:rPr lang="en-US" sz="4902" b="1">
                <a:solidFill>
                  <a:srgbClr val="AF7CFD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Pipeline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4031" y="2363469"/>
            <a:ext cx="11527185" cy="278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000000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Automated Evaluation:</a:t>
            </a:r>
          </a:p>
          <a:p>
            <a:pPr marL="1144266" lvl="1" indent="-572133" algn="l">
              <a:lnSpc>
                <a:spcPts val="7419"/>
              </a:lnSpc>
              <a:buFont typeface="Arial"/>
              <a:buChar char="•"/>
            </a:pPr>
            <a:r>
              <a:rPr lang="en-US" sz="5299">
                <a:solidFill>
                  <a:srgbClr val="000000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LLM-as-a-Judge on 20 legal queries</a:t>
            </a:r>
          </a:p>
          <a:p>
            <a:pPr marL="1144266" lvl="1" indent="-572133" algn="l">
              <a:lnSpc>
                <a:spcPts val="7419"/>
              </a:lnSpc>
              <a:buFont typeface="Arial"/>
              <a:buChar char="•"/>
            </a:pPr>
            <a:r>
              <a:rPr lang="en-US" sz="5299">
                <a:solidFill>
                  <a:srgbClr val="000000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Metrics: Relevance, Faithfulness, Precision, Recall, Hallucination Score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52923" y="5544819"/>
            <a:ext cx="9459664" cy="371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000000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Human Expert Review:</a:t>
            </a:r>
          </a:p>
          <a:p>
            <a:pPr marL="1144266" lvl="1" indent="-572133" algn="just">
              <a:lnSpc>
                <a:spcPts val="7419"/>
              </a:lnSpc>
              <a:buFont typeface="Arial"/>
              <a:buChar char="•"/>
            </a:pPr>
            <a:r>
              <a:rPr lang="en-US" sz="5299">
                <a:solidFill>
                  <a:srgbClr val="000000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2 Legal professionals rated responses</a:t>
            </a:r>
          </a:p>
          <a:p>
            <a:pPr marL="1144266" lvl="1" indent="-572133" algn="just">
              <a:lnSpc>
                <a:spcPts val="7419"/>
              </a:lnSpc>
              <a:buFont typeface="Arial"/>
              <a:buChar char="•"/>
            </a:pPr>
            <a:r>
              <a:rPr lang="en-US" sz="5299">
                <a:solidFill>
                  <a:srgbClr val="000000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Compared ChatGPT-4o vs RAG System</a:t>
            </a:r>
          </a:p>
          <a:p>
            <a:pPr marL="1144266" lvl="1" indent="-572133" algn="just">
              <a:lnSpc>
                <a:spcPts val="7419"/>
              </a:lnSpc>
              <a:buFont typeface="Arial"/>
              <a:buChar char="•"/>
            </a:pPr>
            <a:r>
              <a:rPr lang="en-US" sz="5299">
                <a:solidFill>
                  <a:srgbClr val="000000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Results: Higher legal correctness &amp; contextual grounding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16852" y="8218528"/>
            <a:ext cx="2271705" cy="2271705"/>
          </a:xfrm>
          <a:custGeom>
            <a:avLst/>
            <a:gdLst/>
            <a:ahLst/>
            <a:cxnLst/>
            <a:rect l="l" t="t" r="r" b="b"/>
            <a:pathLst>
              <a:path w="2271705" h="2271705">
                <a:moveTo>
                  <a:pt x="0" y="0"/>
                </a:moveTo>
                <a:lnTo>
                  <a:pt x="2271705" y="0"/>
                </a:lnTo>
                <a:lnTo>
                  <a:pt x="2271705" y="2271705"/>
                </a:lnTo>
                <a:lnTo>
                  <a:pt x="0" y="22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2551703" cy="2551703"/>
          </a:xfrm>
          <a:custGeom>
            <a:avLst/>
            <a:gdLst/>
            <a:ahLst/>
            <a:cxnLst/>
            <a:rect l="l" t="t" r="r" b="b"/>
            <a:pathLst>
              <a:path w="2551703" h="2551703">
                <a:moveTo>
                  <a:pt x="0" y="0"/>
                </a:moveTo>
                <a:lnTo>
                  <a:pt x="2551703" y="0"/>
                </a:lnTo>
                <a:lnTo>
                  <a:pt x="2551703" y="2551703"/>
                </a:lnTo>
                <a:lnTo>
                  <a:pt x="0" y="2551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37599" y="8539275"/>
            <a:ext cx="1831825" cy="1831825"/>
          </a:xfrm>
          <a:custGeom>
            <a:avLst/>
            <a:gdLst/>
            <a:ahLst/>
            <a:cxnLst/>
            <a:rect l="l" t="t" r="r" b="b"/>
            <a:pathLst>
              <a:path w="1831825" h="1831825">
                <a:moveTo>
                  <a:pt x="0" y="0"/>
                </a:moveTo>
                <a:lnTo>
                  <a:pt x="1831825" y="0"/>
                </a:lnTo>
                <a:lnTo>
                  <a:pt x="1831825" y="1831825"/>
                </a:lnTo>
                <a:lnTo>
                  <a:pt x="0" y="1831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076723" cy="2076723"/>
          </a:xfrm>
          <a:custGeom>
            <a:avLst/>
            <a:gdLst/>
            <a:ahLst/>
            <a:cxnLst/>
            <a:rect l="l" t="t" r="r" b="b"/>
            <a:pathLst>
              <a:path w="2076723" h="2076723">
                <a:moveTo>
                  <a:pt x="0" y="0"/>
                </a:moveTo>
                <a:lnTo>
                  <a:pt x="2076723" y="0"/>
                </a:lnTo>
                <a:lnTo>
                  <a:pt x="2076723" y="2076722"/>
                </a:lnTo>
                <a:lnTo>
                  <a:pt x="0" y="2076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7112467" y="5511070"/>
            <a:ext cx="2775705" cy="2775705"/>
          </a:xfrm>
          <a:custGeom>
            <a:avLst/>
            <a:gdLst/>
            <a:ahLst/>
            <a:cxnLst/>
            <a:rect l="l" t="t" r="r" b="b"/>
            <a:pathLst>
              <a:path w="2775705" h="2775705">
                <a:moveTo>
                  <a:pt x="0" y="0"/>
                </a:moveTo>
                <a:lnTo>
                  <a:pt x="2775705" y="0"/>
                </a:lnTo>
                <a:lnTo>
                  <a:pt x="2775705" y="2775705"/>
                </a:lnTo>
                <a:lnTo>
                  <a:pt x="0" y="2775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2021298" y="1770208"/>
            <a:ext cx="2968196" cy="2968196"/>
          </a:xfrm>
          <a:custGeom>
            <a:avLst/>
            <a:gdLst/>
            <a:ahLst/>
            <a:cxnLst/>
            <a:rect l="l" t="t" r="r" b="b"/>
            <a:pathLst>
              <a:path w="2968196" h="2968196">
                <a:moveTo>
                  <a:pt x="0" y="0"/>
                </a:moveTo>
                <a:lnTo>
                  <a:pt x="2968196" y="0"/>
                </a:lnTo>
                <a:lnTo>
                  <a:pt x="2968196" y="2968196"/>
                </a:lnTo>
                <a:lnTo>
                  <a:pt x="0" y="296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950572" y="9178297"/>
            <a:ext cx="1318658" cy="160637"/>
          </a:xfrm>
          <a:custGeom>
            <a:avLst/>
            <a:gdLst/>
            <a:ahLst/>
            <a:cxnLst/>
            <a:rect l="l" t="t" r="r" b="b"/>
            <a:pathLst>
              <a:path w="1318658" h="160637">
                <a:moveTo>
                  <a:pt x="0" y="0"/>
                </a:moveTo>
                <a:lnTo>
                  <a:pt x="1318658" y="0"/>
                </a:lnTo>
                <a:lnTo>
                  <a:pt x="1318658" y="160637"/>
                </a:lnTo>
                <a:lnTo>
                  <a:pt x="0" y="160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77854" y="1028700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3" y="0"/>
                </a:lnTo>
                <a:lnTo>
                  <a:pt x="1276943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667523" y="900717"/>
            <a:ext cx="11235396" cy="7264993"/>
          </a:xfrm>
          <a:custGeom>
            <a:avLst/>
            <a:gdLst/>
            <a:ahLst/>
            <a:cxnLst/>
            <a:rect l="l" t="t" r="r" b="b"/>
            <a:pathLst>
              <a:path w="11235396" h="7264993">
                <a:moveTo>
                  <a:pt x="0" y="0"/>
                </a:moveTo>
                <a:lnTo>
                  <a:pt x="11235396" y="0"/>
                </a:lnTo>
                <a:lnTo>
                  <a:pt x="11235396" y="7264992"/>
                </a:lnTo>
                <a:lnTo>
                  <a:pt x="0" y="726499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741157" y="8585901"/>
            <a:ext cx="9055001" cy="592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Comparison chart of GPT-4o vs RAG scores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98730" y="7800406"/>
            <a:ext cx="2689827" cy="2689827"/>
          </a:xfrm>
          <a:custGeom>
            <a:avLst/>
            <a:gdLst/>
            <a:ahLst/>
            <a:cxnLst/>
            <a:rect l="l" t="t" r="r" b="b"/>
            <a:pathLst>
              <a:path w="2689827" h="2689827">
                <a:moveTo>
                  <a:pt x="0" y="0"/>
                </a:moveTo>
                <a:lnTo>
                  <a:pt x="2689827" y="0"/>
                </a:lnTo>
                <a:lnTo>
                  <a:pt x="2689827" y="2689827"/>
                </a:lnTo>
                <a:lnTo>
                  <a:pt x="0" y="268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2845015" cy="2845015"/>
          </a:xfrm>
          <a:custGeom>
            <a:avLst/>
            <a:gdLst/>
            <a:ahLst/>
            <a:cxnLst/>
            <a:rect l="l" t="t" r="r" b="b"/>
            <a:pathLst>
              <a:path w="2845015" h="2845015">
                <a:moveTo>
                  <a:pt x="0" y="0"/>
                </a:moveTo>
                <a:lnTo>
                  <a:pt x="2845015" y="0"/>
                </a:lnTo>
                <a:lnTo>
                  <a:pt x="2845015" y="2845015"/>
                </a:lnTo>
                <a:lnTo>
                  <a:pt x="0" y="284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12961" y="8114637"/>
            <a:ext cx="2256463" cy="2256463"/>
          </a:xfrm>
          <a:custGeom>
            <a:avLst/>
            <a:gdLst/>
            <a:ahLst/>
            <a:cxnLst/>
            <a:rect l="l" t="t" r="r" b="b"/>
            <a:pathLst>
              <a:path w="2256463" h="2256463">
                <a:moveTo>
                  <a:pt x="0" y="0"/>
                </a:moveTo>
                <a:lnTo>
                  <a:pt x="2256463" y="0"/>
                </a:lnTo>
                <a:lnTo>
                  <a:pt x="2256463" y="2256463"/>
                </a:lnTo>
                <a:lnTo>
                  <a:pt x="0" y="2256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422791" cy="2422791"/>
          </a:xfrm>
          <a:custGeom>
            <a:avLst/>
            <a:gdLst/>
            <a:ahLst/>
            <a:cxnLst/>
            <a:rect l="l" t="t" r="r" b="b"/>
            <a:pathLst>
              <a:path w="2422791" h="2422791">
                <a:moveTo>
                  <a:pt x="0" y="0"/>
                </a:moveTo>
                <a:lnTo>
                  <a:pt x="2422791" y="0"/>
                </a:lnTo>
                <a:lnTo>
                  <a:pt x="2422791" y="2422790"/>
                </a:lnTo>
                <a:lnTo>
                  <a:pt x="0" y="242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7133887" y="5519943"/>
            <a:ext cx="2757960" cy="2757960"/>
          </a:xfrm>
          <a:custGeom>
            <a:avLst/>
            <a:gdLst/>
            <a:ahLst/>
            <a:cxnLst/>
            <a:rect l="l" t="t" r="r" b="b"/>
            <a:pathLst>
              <a:path w="2757960" h="2757960">
                <a:moveTo>
                  <a:pt x="0" y="0"/>
                </a:moveTo>
                <a:lnTo>
                  <a:pt x="2757960" y="0"/>
                </a:lnTo>
                <a:lnTo>
                  <a:pt x="2757960" y="2757959"/>
                </a:lnTo>
                <a:lnTo>
                  <a:pt x="0" y="275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2113973" y="1588203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AutoShape 14"/>
          <p:cNvSpPr/>
          <p:nvPr/>
        </p:nvSpPr>
        <p:spPr>
          <a:xfrm>
            <a:off x="7891929" y="9460152"/>
            <a:ext cx="2504141" cy="0"/>
          </a:xfrm>
          <a:prstGeom prst="line">
            <a:avLst/>
          </a:prstGeom>
          <a:ln w="114300" cap="rnd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3618958" y="965173"/>
            <a:ext cx="11050084" cy="1030616"/>
            <a:chOff x="0" y="0"/>
            <a:chExt cx="14733445" cy="137415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4733445" cy="1374154"/>
              <a:chOff x="0" y="0"/>
              <a:chExt cx="3325344" cy="31014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3325344" cy="310147"/>
              </a:xfrm>
              <a:custGeom>
                <a:avLst/>
                <a:gdLst/>
                <a:ahLst/>
                <a:cxnLst/>
                <a:rect l="l" t="t" r="r" b="b"/>
                <a:pathLst>
                  <a:path w="3325344" h="310147">
                    <a:moveTo>
                      <a:pt x="0" y="0"/>
                    </a:moveTo>
                    <a:lnTo>
                      <a:pt x="3325344" y="0"/>
                    </a:lnTo>
                    <a:lnTo>
                      <a:pt x="3325344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solidFill>
                <a:srgbClr val="B65294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3325344" cy="367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48488" y="98148"/>
              <a:ext cx="13836469" cy="1044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sz="451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WORK TIMELINE (GANTT CHART)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3493371" y="2176568"/>
            <a:ext cx="11301259" cy="6356958"/>
          </a:xfrm>
          <a:custGeom>
            <a:avLst/>
            <a:gdLst/>
            <a:ahLst/>
            <a:cxnLst/>
            <a:rect l="l" t="t" r="r" b="b"/>
            <a:pathLst>
              <a:path w="11301259" h="6356958">
                <a:moveTo>
                  <a:pt x="0" y="0"/>
                </a:moveTo>
                <a:lnTo>
                  <a:pt x="11301258" y="0"/>
                </a:lnTo>
                <a:lnTo>
                  <a:pt x="113012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98730" y="7800406"/>
            <a:ext cx="2689827" cy="2689827"/>
          </a:xfrm>
          <a:custGeom>
            <a:avLst/>
            <a:gdLst/>
            <a:ahLst/>
            <a:cxnLst/>
            <a:rect l="l" t="t" r="r" b="b"/>
            <a:pathLst>
              <a:path w="2689827" h="2689827">
                <a:moveTo>
                  <a:pt x="0" y="0"/>
                </a:moveTo>
                <a:lnTo>
                  <a:pt x="2689827" y="0"/>
                </a:lnTo>
                <a:lnTo>
                  <a:pt x="2689827" y="2689827"/>
                </a:lnTo>
                <a:lnTo>
                  <a:pt x="0" y="268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2845015" cy="2845015"/>
          </a:xfrm>
          <a:custGeom>
            <a:avLst/>
            <a:gdLst/>
            <a:ahLst/>
            <a:cxnLst/>
            <a:rect l="l" t="t" r="r" b="b"/>
            <a:pathLst>
              <a:path w="2845015" h="2845015">
                <a:moveTo>
                  <a:pt x="0" y="0"/>
                </a:moveTo>
                <a:lnTo>
                  <a:pt x="2845015" y="0"/>
                </a:lnTo>
                <a:lnTo>
                  <a:pt x="2845015" y="2845015"/>
                </a:lnTo>
                <a:lnTo>
                  <a:pt x="0" y="284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12961" y="8114637"/>
            <a:ext cx="2256463" cy="2256463"/>
          </a:xfrm>
          <a:custGeom>
            <a:avLst/>
            <a:gdLst/>
            <a:ahLst/>
            <a:cxnLst/>
            <a:rect l="l" t="t" r="r" b="b"/>
            <a:pathLst>
              <a:path w="2256463" h="2256463">
                <a:moveTo>
                  <a:pt x="0" y="0"/>
                </a:moveTo>
                <a:lnTo>
                  <a:pt x="2256463" y="0"/>
                </a:lnTo>
                <a:lnTo>
                  <a:pt x="2256463" y="2256463"/>
                </a:lnTo>
                <a:lnTo>
                  <a:pt x="0" y="2256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422791" cy="2422791"/>
          </a:xfrm>
          <a:custGeom>
            <a:avLst/>
            <a:gdLst/>
            <a:ahLst/>
            <a:cxnLst/>
            <a:rect l="l" t="t" r="r" b="b"/>
            <a:pathLst>
              <a:path w="2422791" h="2422791">
                <a:moveTo>
                  <a:pt x="0" y="0"/>
                </a:moveTo>
                <a:lnTo>
                  <a:pt x="2422791" y="0"/>
                </a:lnTo>
                <a:lnTo>
                  <a:pt x="2422791" y="2422790"/>
                </a:lnTo>
                <a:lnTo>
                  <a:pt x="0" y="242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7133887" y="5519943"/>
            <a:ext cx="2757960" cy="2757960"/>
          </a:xfrm>
          <a:custGeom>
            <a:avLst/>
            <a:gdLst/>
            <a:ahLst/>
            <a:cxnLst/>
            <a:rect l="l" t="t" r="r" b="b"/>
            <a:pathLst>
              <a:path w="2757960" h="2757960">
                <a:moveTo>
                  <a:pt x="0" y="0"/>
                </a:moveTo>
                <a:lnTo>
                  <a:pt x="2757960" y="0"/>
                </a:lnTo>
                <a:lnTo>
                  <a:pt x="2757960" y="2757959"/>
                </a:lnTo>
                <a:lnTo>
                  <a:pt x="0" y="275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2113973" y="1588203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AutoShape 14"/>
          <p:cNvSpPr/>
          <p:nvPr/>
        </p:nvSpPr>
        <p:spPr>
          <a:xfrm>
            <a:off x="7891929" y="9460152"/>
            <a:ext cx="2504141" cy="0"/>
          </a:xfrm>
          <a:prstGeom prst="line">
            <a:avLst/>
          </a:prstGeom>
          <a:ln w="114300" cap="rnd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3618958" y="965173"/>
            <a:ext cx="11050084" cy="1030616"/>
            <a:chOff x="0" y="0"/>
            <a:chExt cx="14733445" cy="137415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4733445" cy="1374154"/>
              <a:chOff x="0" y="0"/>
              <a:chExt cx="3325344" cy="31014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3325344" cy="310147"/>
              </a:xfrm>
              <a:custGeom>
                <a:avLst/>
                <a:gdLst/>
                <a:ahLst/>
                <a:cxnLst/>
                <a:rect l="l" t="t" r="r" b="b"/>
                <a:pathLst>
                  <a:path w="3325344" h="310147">
                    <a:moveTo>
                      <a:pt x="0" y="0"/>
                    </a:moveTo>
                    <a:lnTo>
                      <a:pt x="3325344" y="0"/>
                    </a:lnTo>
                    <a:lnTo>
                      <a:pt x="3325344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solidFill>
                <a:srgbClr val="B65294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3325344" cy="367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48488" y="98148"/>
              <a:ext cx="13836469" cy="1044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sz="451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SUMMARY OF KEY ACHIEVEMENTS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845099" y="2804559"/>
            <a:ext cx="15468659" cy="5718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9403" lvl="1" indent="-349701" algn="l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Progressed from understanding basic RAG to building a sophisticated Multi-Agent system.</a:t>
            </a:r>
          </a:p>
          <a:p>
            <a:pPr marL="699403" lvl="1" indent="-349701" algn="l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Successfully customized RAG for the niche domain of Bangladeshi Law.</a:t>
            </a:r>
          </a:p>
          <a:p>
            <a:pPr marL="699403" lvl="1" indent="-349701" algn="l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Explored &amp; implemented Agentic RAG concepts.</a:t>
            </a:r>
          </a:p>
          <a:p>
            <a:pPr marL="699403" lvl="1" indent="-349701" algn="l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Integrated advanced features: Conditional Web Search, Relevance Checking, and Clarification Questions.</a:t>
            </a:r>
          </a:p>
          <a:p>
            <a:pPr marL="699403" lvl="1" indent="-349701" algn="l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Developed a functional Streamlit UI for user interaction.</a:t>
            </a:r>
          </a:p>
          <a:p>
            <a:pPr marL="699403" lvl="1" indent="-349701" algn="l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Helps underserved populations access justice</a:t>
            </a:r>
          </a:p>
          <a:p>
            <a:pPr marL="699403" lvl="1" indent="-349701" algn="l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Cost effective</a:t>
            </a:r>
          </a:p>
          <a:p>
            <a:pPr algn="l">
              <a:lnSpc>
                <a:spcPts val="4535"/>
              </a:lnSpc>
              <a:spcBef>
                <a:spcPct val="0"/>
              </a:spcBef>
            </a:pPr>
            <a:endParaRPr lang="en-US" sz="323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97684" y="5496684"/>
            <a:ext cx="4983320" cy="4983320"/>
          </a:xfrm>
          <a:custGeom>
            <a:avLst/>
            <a:gdLst/>
            <a:ahLst/>
            <a:cxnLst/>
            <a:rect l="l" t="t" r="r" b="b"/>
            <a:pathLst>
              <a:path w="4983320" h="4983320">
                <a:moveTo>
                  <a:pt x="0" y="0"/>
                </a:moveTo>
                <a:lnTo>
                  <a:pt x="4983321" y="0"/>
                </a:lnTo>
                <a:lnTo>
                  <a:pt x="4983321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212305" y="-193005"/>
            <a:ext cx="4983320" cy="4983320"/>
          </a:xfrm>
          <a:custGeom>
            <a:avLst/>
            <a:gdLst/>
            <a:ahLst/>
            <a:cxnLst/>
            <a:rect l="l" t="t" r="r" b="b"/>
            <a:pathLst>
              <a:path w="4983320" h="4983320">
                <a:moveTo>
                  <a:pt x="0" y="0"/>
                </a:moveTo>
                <a:lnTo>
                  <a:pt x="4983320" y="0"/>
                </a:lnTo>
                <a:lnTo>
                  <a:pt x="4983320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64260" y="6763260"/>
            <a:ext cx="3523740" cy="3523740"/>
          </a:xfrm>
          <a:custGeom>
            <a:avLst/>
            <a:gdLst/>
            <a:ahLst/>
            <a:cxnLst/>
            <a:rect l="l" t="t" r="r" b="b"/>
            <a:pathLst>
              <a:path w="3523740" h="3523740">
                <a:moveTo>
                  <a:pt x="0" y="0"/>
                </a:moveTo>
                <a:lnTo>
                  <a:pt x="3523740" y="0"/>
                </a:lnTo>
                <a:lnTo>
                  <a:pt x="3523740" y="3523740"/>
                </a:lnTo>
                <a:lnTo>
                  <a:pt x="0" y="3523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700000">
            <a:off x="15796340" y="2286577"/>
            <a:ext cx="4983320" cy="4983320"/>
          </a:xfrm>
          <a:custGeom>
            <a:avLst/>
            <a:gdLst/>
            <a:ahLst/>
            <a:cxnLst/>
            <a:rect l="l" t="t" r="r" b="b"/>
            <a:pathLst>
              <a:path w="4983320" h="4983320">
                <a:moveTo>
                  <a:pt x="0" y="0"/>
                </a:moveTo>
                <a:lnTo>
                  <a:pt x="4983320" y="0"/>
                </a:lnTo>
                <a:lnTo>
                  <a:pt x="4983320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0" y="0"/>
            <a:ext cx="3671722" cy="3671722"/>
          </a:xfrm>
          <a:custGeom>
            <a:avLst/>
            <a:gdLst/>
            <a:ahLst/>
            <a:cxnLst/>
            <a:rect l="l" t="t" r="r" b="b"/>
            <a:pathLst>
              <a:path w="3671722" h="3671722">
                <a:moveTo>
                  <a:pt x="0" y="0"/>
                </a:moveTo>
                <a:lnTo>
                  <a:pt x="3671722" y="0"/>
                </a:lnTo>
                <a:lnTo>
                  <a:pt x="3671722" y="3671722"/>
                </a:lnTo>
                <a:lnTo>
                  <a:pt x="0" y="3671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2700000" flipH="1" flipV="1">
            <a:off x="-2491660" y="2930197"/>
            <a:ext cx="4983320" cy="4983320"/>
          </a:xfrm>
          <a:custGeom>
            <a:avLst/>
            <a:gdLst/>
            <a:ahLst/>
            <a:cxnLst/>
            <a:rect l="l" t="t" r="r" b="b"/>
            <a:pathLst>
              <a:path w="4983320" h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343100" y="-1328448"/>
            <a:ext cx="2686201" cy="2656897"/>
          </a:xfrm>
          <a:custGeom>
            <a:avLst/>
            <a:gdLst/>
            <a:ahLst/>
            <a:cxnLst/>
            <a:rect l="l" t="t" r="r" b="b"/>
            <a:pathLst>
              <a:path w="2686201" h="2656897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944900" y="8958552"/>
            <a:ext cx="2686201" cy="2656897"/>
          </a:xfrm>
          <a:custGeom>
            <a:avLst/>
            <a:gdLst/>
            <a:ahLst/>
            <a:cxnLst/>
            <a:rect l="l" t="t" r="r" b="b"/>
            <a:pathLst>
              <a:path w="2686201" h="2656897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34599" y="1985023"/>
            <a:ext cx="1911810" cy="232893"/>
          </a:xfrm>
          <a:custGeom>
            <a:avLst/>
            <a:gdLst/>
            <a:ahLst/>
            <a:cxnLst/>
            <a:rect l="l" t="t" r="r" b="b"/>
            <a:pathLst>
              <a:path w="1911810" h="232893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676646" y="8069083"/>
            <a:ext cx="1911810" cy="232893"/>
          </a:xfrm>
          <a:custGeom>
            <a:avLst/>
            <a:gdLst/>
            <a:ahLst/>
            <a:cxnLst/>
            <a:rect l="l" t="t" r="r" b="b"/>
            <a:pathLst>
              <a:path w="1911810" h="232893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8792994"/>
            <a:ext cx="3010803" cy="930612"/>
          </a:xfrm>
          <a:custGeom>
            <a:avLst/>
            <a:gdLst/>
            <a:ahLst/>
            <a:cxnLst/>
            <a:rect l="l" t="t" r="r" b="b"/>
            <a:pathLst>
              <a:path w="3010803" h="930612">
                <a:moveTo>
                  <a:pt x="0" y="0"/>
                </a:moveTo>
                <a:lnTo>
                  <a:pt x="3010803" y="0"/>
                </a:lnTo>
                <a:lnTo>
                  <a:pt x="3010803" y="930612"/>
                </a:lnTo>
                <a:lnTo>
                  <a:pt x="0" y="930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4248497" y="563394"/>
            <a:ext cx="3010803" cy="930612"/>
          </a:xfrm>
          <a:custGeom>
            <a:avLst/>
            <a:gdLst/>
            <a:ahLst/>
            <a:cxnLst/>
            <a:rect l="l" t="t" r="r" b="b"/>
            <a:pathLst>
              <a:path w="3010803" h="930612">
                <a:moveTo>
                  <a:pt x="3010803" y="0"/>
                </a:moveTo>
                <a:lnTo>
                  <a:pt x="0" y="0"/>
                </a:lnTo>
                <a:lnTo>
                  <a:pt x="0" y="930612"/>
                </a:lnTo>
                <a:lnTo>
                  <a:pt x="3010803" y="930612"/>
                </a:lnTo>
                <a:lnTo>
                  <a:pt x="3010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373985" y="3514819"/>
            <a:ext cx="15540031" cy="3812596"/>
            <a:chOff x="0" y="0"/>
            <a:chExt cx="20720041" cy="5083462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342900"/>
              <a:ext cx="20720041" cy="3706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32"/>
                </a:lnSpc>
              </a:pPr>
              <a:r>
                <a:rPr lang="en-US" sz="16579" b="1" i="1" spc="-1160">
                  <a:solidFill>
                    <a:srgbClr val="EB9ACB"/>
                  </a:solidFill>
                  <a:latin typeface="Heading Now 61-68 Bold Italics"/>
                  <a:ea typeface="Heading Now 61-68 Bold Italics"/>
                  <a:cs typeface="Heading Now 61-68 Bold Italics"/>
                  <a:sym typeface="Heading Now 61-68 Bold Italics"/>
                </a:rPr>
                <a:t>THANK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123323"/>
              <a:ext cx="19888281" cy="2960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03"/>
                </a:lnSpc>
              </a:pPr>
              <a:r>
                <a:rPr lang="en-US" sz="13278" b="1" i="1" spc="-929">
                  <a:solidFill>
                    <a:srgbClr val="D395FF"/>
                  </a:solidFill>
                  <a:latin typeface="Heading Now 61-68 Bold Italics"/>
                  <a:ea typeface="Heading Now 61-68 Bold Italics"/>
                  <a:cs typeface="Heading Now 61-68 Bold Italics"/>
                  <a:sym typeface="Heading Now 61-68 Bold Italics"/>
                </a:rPr>
                <a:t>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478</Words>
  <Application>Microsoft Office PowerPoint</Application>
  <PresentationFormat>Custom</PresentationFormat>
  <Paragraphs>84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Poppins</vt:lpstr>
      <vt:lpstr>Calibri</vt:lpstr>
      <vt:lpstr>TT Bluescreens Bold Italics</vt:lpstr>
      <vt:lpstr>TT Bluescreens Bold</vt:lpstr>
      <vt:lpstr>Heading Now 61-68 Bold Italics</vt:lpstr>
      <vt:lpstr>Poppins Bold</vt:lpstr>
      <vt:lpstr>TT Bluescreens</vt:lpstr>
      <vt:lpstr>Maven Pro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Intermediate Presentation 3</dc:title>
  <cp:lastModifiedBy>Sifat Haque Zidan</cp:lastModifiedBy>
  <cp:revision>10</cp:revision>
  <dcterms:created xsi:type="dcterms:W3CDTF">2006-08-16T00:00:00Z</dcterms:created>
  <dcterms:modified xsi:type="dcterms:W3CDTF">2025-10-26T06:58:27Z</dcterms:modified>
  <dc:identifier>DAG2zy00VIQ</dc:identifier>
</cp:coreProperties>
</file>